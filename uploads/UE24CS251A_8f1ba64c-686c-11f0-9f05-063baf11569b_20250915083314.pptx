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25"/>
  </p:notesMasterIdLst>
  <p:sldIdLst>
    <p:sldId id="256" r:id="rId3"/>
    <p:sldId id="257" r:id="rId4"/>
    <p:sldId id="259" r:id="rId5"/>
    <p:sldId id="260" r:id="rId6"/>
    <p:sldId id="261" r:id="rId7"/>
    <p:sldId id="262" r:id="rId8"/>
    <p:sldId id="264" r:id="rId9"/>
    <p:sldId id="266" r:id="rId10"/>
    <p:sldId id="267" r:id="rId11"/>
    <p:sldId id="263" r:id="rId12"/>
    <p:sldId id="276" r:id="rId13"/>
    <p:sldId id="272" r:id="rId14"/>
    <p:sldId id="277" r:id="rId15"/>
    <p:sldId id="274" r:id="rId16"/>
    <p:sldId id="268" r:id="rId17"/>
    <p:sldId id="278" r:id="rId18"/>
    <p:sldId id="279" r:id="rId19"/>
    <p:sldId id="280" r:id="rId20"/>
    <p:sldId id="281" r:id="rId21"/>
    <p:sldId id="283" r:id="rId22"/>
    <p:sldId id="282" r:id="rId23"/>
    <p:sldId id="311" r:id="rId24"/>
  </p:sldIdLst>
  <p:sldSz cx="9144000" cy="6858000" type="screen4x3"/>
  <p:notesSz cx="6858000" cy="9144000"/>
  <p:embeddedFontLst>
    <p:embeddedFont>
      <p:font typeface="Carlito" panose="020B0604020202020204" charset="0"/>
      <p:regular r:id="rId26"/>
      <p:bold r:id="rId27"/>
      <p:italic r:id="rId28"/>
      <p:boldItalic r:id="rId29"/>
    </p:embeddedFont>
    <p:embeddedFont>
      <p:font typeface="Helvetica Neue"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guide id="7"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IidUJyADM1wcBuAvrXiQL7laJ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42" autoAdjust="0"/>
  </p:normalViewPr>
  <p:slideViewPr>
    <p:cSldViewPr snapToGrid="0">
      <p:cViewPr varScale="1">
        <p:scale>
          <a:sx n="50" d="100"/>
          <a:sy n="50" d="100"/>
        </p:scale>
        <p:origin x="1740" y="24"/>
      </p:cViewPr>
      <p:guideLst>
        <p:guide orient="horz" pos="2160"/>
        <p:guide pos="2880"/>
        <p:guide orient="horz" pos="432"/>
        <p:guide orient="horz" pos="864"/>
        <p:guide orient="horz" pos="4017"/>
        <p:guide pos="288"/>
        <p:guide pos="5472"/>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font" Target="fonts/font5.fntdata"/><Relationship Id="rId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1ef01706b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71ef01706b_0_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a:extLst>
            <a:ext uri="{FF2B5EF4-FFF2-40B4-BE49-F238E27FC236}">
              <a16:creationId xmlns:a16="http://schemas.microsoft.com/office/drawing/2014/main" id="{5564F5C7-06FD-7D80-A01E-FA7C02E0AEFC}"/>
            </a:ext>
          </a:extLst>
        </p:cNvPr>
        <p:cNvGrpSpPr/>
        <p:nvPr/>
      </p:nvGrpSpPr>
      <p:grpSpPr>
        <a:xfrm>
          <a:off x="0" y="0"/>
          <a:ext cx="0" cy="0"/>
          <a:chOff x="0" y="0"/>
          <a:chExt cx="0" cy="0"/>
        </a:xfrm>
      </p:grpSpPr>
      <p:sp>
        <p:nvSpPr>
          <p:cNvPr id="385" name="Google Shape;385;p17:notes">
            <a:extLst>
              <a:ext uri="{FF2B5EF4-FFF2-40B4-BE49-F238E27FC236}">
                <a16:creationId xmlns:a16="http://schemas.microsoft.com/office/drawing/2014/main" id="{7B8C76D2-18A8-6EBA-2648-FE385C3E932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17:notes">
            <a:extLst>
              <a:ext uri="{FF2B5EF4-FFF2-40B4-BE49-F238E27FC236}">
                <a16:creationId xmlns:a16="http://schemas.microsoft.com/office/drawing/2014/main" id="{17016020-1E78-4451-9882-612F259F695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6265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Identify first change in 0 /1 for all entries except for condition 0000 and 1111 write first and last element</a:t>
            </a:r>
            <a:endParaRPr/>
          </a:p>
          <a:p>
            <a:pPr marL="0" lvl="0" indent="0" algn="l" rtl="0">
              <a:spcBef>
                <a:spcPts val="0"/>
              </a:spcBef>
              <a:spcAft>
                <a:spcPts val="0"/>
              </a:spcAft>
              <a:buNone/>
            </a:pPr>
            <a:r>
              <a:rPr lang="en-US"/>
              <a:t>Decoding for timing signals</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Helvetica Neue"/>
                <a:ea typeface="Helvetica Neue"/>
                <a:cs typeface="Helvetica Neue"/>
                <a:sym typeface="Helvetica Neue"/>
              </a:rPr>
              <a:t>Johnson counters can be constructed for any number of timing sequences. The </a:t>
            </a:r>
            <a:r>
              <a:rPr lang="en-US" b="1" i="0">
                <a:solidFill>
                  <a:srgbClr val="333333"/>
                </a:solidFill>
                <a:latin typeface="Helvetica Neue"/>
                <a:ea typeface="Helvetica Neue"/>
                <a:cs typeface="Helvetica Neue"/>
                <a:sym typeface="Helvetica Neue"/>
              </a:rPr>
              <a:t>number of flip-flops</a:t>
            </a:r>
            <a:r>
              <a:rPr lang="en-US" b="0" i="0">
                <a:solidFill>
                  <a:srgbClr val="333333"/>
                </a:solidFill>
                <a:latin typeface="Helvetica Neue"/>
                <a:ea typeface="Helvetica Neue"/>
                <a:cs typeface="Helvetica Neue"/>
                <a:sym typeface="Helvetica Neue"/>
              </a:rPr>
              <a:t> needed is </a:t>
            </a:r>
            <a:r>
              <a:rPr lang="en-US" b="1" i="0">
                <a:solidFill>
                  <a:srgbClr val="333333"/>
                </a:solidFill>
                <a:latin typeface="Helvetica Neue"/>
                <a:ea typeface="Helvetica Neue"/>
                <a:cs typeface="Helvetica Neue"/>
                <a:sym typeface="Helvetica Neue"/>
              </a:rPr>
              <a:t>one-half the number of timing signals.</a:t>
            </a:r>
            <a:endParaRPr b="0" i="0">
              <a:solidFill>
                <a:srgbClr val="333333"/>
              </a:solidFill>
              <a:latin typeface="Helvetica Neue"/>
              <a:ea typeface="Helvetica Neue"/>
              <a:cs typeface="Helvetica Neue"/>
              <a:sym typeface="Helvetica Neue"/>
            </a:endParaRPr>
          </a:p>
          <a:p>
            <a:pPr marL="0" lvl="0" indent="-76200" algn="just" rtl="0">
              <a:spcBef>
                <a:spcPts val="0"/>
              </a:spcBef>
              <a:spcAft>
                <a:spcPts val="0"/>
              </a:spcAft>
              <a:buClr>
                <a:srgbClr val="333333"/>
              </a:buClr>
              <a:buSzPts val="1200"/>
              <a:buFont typeface="Arial"/>
              <a:buChar char="•"/>
            </a:pPr>
            <a:br>
              <a:rPr lang="en-US" b="0" i="0">
                <a:solidFill>
                  <a:srgbClr val="333333"/>
                </a:solidFill>
                <a:latin typeface="Helvetica Neue"/>
                <a:ea typeface="Helvetica Neue"/>
                <a:cs typeface="Helvetica Neue"/>
                <a:sym typeface="Helvetica Neue"/>
              </a:rPr>
            </a:br>
            <a:r>
              <a:rPr lang="en-US" b="0" i="0">
                <a:solidFill>
                  <a:srgbClr val="333333"/>
                </a:solidFill>
                <a:latin typeface="Helvetica Neue"/>
                <a:ea typeface="Helvetica Neue"/>
                <a:cs typeface="Helvetica Neue"/>
                <a:sym typeface="Helvetica Neue"/>
              </a:rPr>
              <a:t>The number of decoding gates is equal to the number of timing signals and only two-input gates are needed.</a:t>
            </a:r>
            <a:endParaRPr/>
          </a:p>
          <a:p>
            <a:pPr marL="0" lvl="0" indent="0" algn="l" rtl="0">
              <a:spcBef>
                <a:spcPts val="0"/>
              </a:spcBef>
              <a:spcAft>
                <a:spcPts val="0"/>
              </a:spcAft>
              <a:buNone/>
            </a:pPr>
            <a:endParaRPr/>
          </a:p>
        </p:txBody>
      </p:sp>
      <p:sp>
        <p:nvSpPr>
          <p:cNvPr id="377" name="Google Shape;377;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079669FD-62E2-CE84-DCBF-AC1047CD3198}"/>
            </a:ext>
          </a:extLst>
        </p:cNvPr>
        <p:cNvGrpSpPr/>
        <p:nvPr/>
      </p:nvGrpSpPr>
      <p:grpSpPr>
        <a:xfrm>
          <a:off x="0" y="0"/>
          <a:ext cx="0" cy="0"/>
          <a:chOff x="0" y="0"/>
          <a:chExt cx="0" cy="0"/>
        </a:xfrm>
      </p:grpSpPr>
      <p:sp>
        <p:nvSpPr>
          <p:cNvPr id="375" name="Google Shape;375;p18:notes">
            <a:extLst>
              <a:ext uri="{FF2B5EF4-FFF2-40B4-BE49-F238E27FC236}">
                <a16:creationId xmlns:a16="http://schemas.microsoft.com/office/drawing/2014/main" id="{7D2D5F2D-AC5E-B09A-37D4-E66042180EE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18:notes">
            <a:extLst>
              <a:ext uri="{FF2B5EF4-FFF2-40B4-BE49-F238E27FC236}">
                <a16:creationId xmlns:a16="http://schemas.microsoft.com/office/drawing/2014/main" id="{A576E9CD-1DDC-5804-8A88-C70C3951BD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77" name="Google Shape;377;p18:notes">
            <a:extLst>
              <a:ext uri="{FF2B5EF4-FFF2-40B4-BE49-F238E27FC236}">
                <a16:creationId xmlns:a16="http://schemas.microsoft.com/office/drawing/2014/main" id="{EC03D6A0-C056-8508-9A43-1B02B01B4F0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309463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Number of states = 2* number of flipflops</a:t>
            </a:r>
            <a:endParaRPr dirty="0"/>
          </a:p>
          <a:p>
            <a:pPr marL="0" lvl="0" indent="0" algn="l" rtl="0">
              <a:spcBef>
                <a:spcPts val="0"/>
              </a:spcBef>
              <a:spcAft>
                <a:spcPts val="0"/>
              </a:spcAft>
              <a:buNone/>
            </a:pPr>
            <a:r>
              <a:rPr lang="en-US" b="1" i="0" dirty="0">
                <a:solidFill>
                  <a:srgbClr val="202124"/>
                </a:solidFill>
                <a:latin typeface="Arial"/>
                <a:ea typeface="Arial"/>
                <a:cs typeface="Arial"/>
                <a:sym typeface="Arial"/>
              </a:rPr>
              <a:t>Applications of Ring &amp; Johnson Counters</a:t>
            </a:r>
            <a:endParaRPr b="0" i="0" dirty="0">
              <a:solidFill>
                <a:srgbClr val="202124"/>
              </a:solidFill>
              <a:latin typeface="Arial"/>
              <a:ea typeface="Arial"/>
              <a:cs typeface="Arial"/>
              <a:sym typeface="Arial"/>
            </a:endParaRPr>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Frequency counters.</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As object counters.</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Parallel to serial data conversion logic circuits.</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Analog to digital convertors.</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Digital clocks.</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Digital triangular wave generator.</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Generating staircase voltage.</a:t>
            </a:r>
            <a:endParaRPr dirty="0"/>
          </a:p>
          <a:p>
            <a:pPr marL="0" lvl="0" indent="-76200" algn="l" rtl="0">
              <a:spcBef>
                <a:spcPts val="0"/>
              </a:spcBef>
              <a:spcAft>
                <a:spcPts val="0"/>
              </a:spcAft>
              <a:buClr>
                <a:srgbClr val="202124"/>
              </a:buClr>
              <a:buSzPts val="1200"/>
              <a:buFont typeface="Arial"/>
              <a:buChar char="•"/>
            </a:pPr>
            <a:r>
              <a:rPr lang="en-US" b="0" i="0" dirty="0">
                <a:solidFill>
                  <a:srgbClr val="202124"/>
                </a:solidFill>
                <a:latin typeface="Arial"/>
                <a:ea typeface="Arial"/>
                <a:cs typeface="Arial"/>
                <a:sym typeface="Arial"/>
              </a:rPr>
              <a:t>Frequency divider circuits of the clock signal</a:t>
            </a:r>
            <a:endParaRPr dirty="0"/>
          </a:p>
          <a:p>
            <a:pPr marL="0" lvl="0" indent="0" algn="l" rtl="0">
              <a:spcBef>
                <a:spcPts val="0"/>
              </a:spcBef>
              <a:spcAft>
                <a:spcPts val="0"/>
              </a:spcAft>
              <a:buNone/>
            </a:pPr>
            <a:endParaRPr dirty="0"/>
          </a:p>
        </p:txBody>
      </p:sp>
      <p:sp>
        <p:nvSpPr>
          <p:cNvPr id="302" name="Google Shape;302;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6056E497-B20A-A318-4F45-928932463917}"/>
            </a:ext>
          </a:extLst>
        </p:cNvPr>
        <p:cNvGrpSpPr/>
        <p:nvPr/>
      </p:nvGrpSpPr>
      <p:grpSpPr>
        <a:xfrm>
          <a:off x="0" y="0"/>
          <a:ext cx="0" cy="0"/>
          <a:chOff x="0" y="0"/>
          <a:chExt cx="0" cy="0"/>
        </a:xfrm>
      </p:grpSpPr>
      <p:sp>
        <p:nvSpPr>
          <p:cNvPr id="394" name="Google Shape;394;p19:notes">
            <a:extLst>
              <a:ext uri="{FF2B5EF4-FFF2-40B4-BE49-F238E27FC236}">
                <a16:creationId xmlns:a16="http://schemas.microsoft.com/office/drawing/2014/main" id="{E880BBBE-C429-8748-EB8E-38DB35CD554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a:extLst>
              <a:ext uri="{FF2B5EF4-FFF2-40B4-BE49-F238E27FC236}">
                <a16:creationId xmlns:a16="http://schemas.microsoft.com/office/drawing/2014/main" id="{B4781705-F447-1F2F-598C-8A45A64717E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2661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0CFFEF7D-F62D-EDD5-60FB-DE118A9AF964}"/>
            </a:ext>
          </a:extLst>
        </p:cNvPr>
        <p:cNvGrpSpPr/>
        <p:nvPr/>
      </p:nvGrpSpPr>
      <p:grpSpPr>
        <a:xfrm>
          <a:off x="0" y="0"/>
          <a:ext cx="0" cy="0"/>
          <a:chOff x="0" y="0"/>
          <a:chExt cx="0" cy="0"/>
        </a:xfrm>
      </p:grpSpPr>
      <p:sp>
        <p:nvSpPr>
          <p:cNvPr id="394" name="Google Shape;394;p19:notes">
            <a:extLst>
              <a:ext uri="{FF2B5EF4-FFF2-40B4-BE49-F238E27FC236}">
                <a16:creationId xmlns:a16="http://schemas.microsoft.com/office/drawing/2014/main" id="{42579D49-3134-489D-327E-42386FBB7CF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a:extLst>
              <a:ext uri="{FF2B5EF4-FFF2-40B4-BE49-F238E27FC236}">
                <a16:creationId xmlns:a16="http://schemas.microsoft.com/office/drawing/2014/main" id="{6562FE90-D9CC-BFCA-6610-7EEDA013867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6272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DF2A7FFD-34E1-AB3F-8334-FF5EF3CDDD46}"/>
            </a:ext>
          </a:extLst>
        </p:cNvPr>
        <p:cNvGrpSpPr/>
        <p:nvPr/>
      </p:nvGrpSpPr>
      <p:grpSpPr>
        <a:xfrm>
          <a:off x="0" y="0"/>
          <a:ext cx="0" cy="0"/>
          <a:chOff x="0" y="0"/>
          <a:chExt cx="0" cy="0"/>
        </a:xfrm>
      </p:grpSpPr>
      <p:sp>
        <p:nvSpPr>
          <p:cNvPr id="394" name="Google Shape;394;p19:notes">
            <a:extLst>
              <a:ext uri="{FF2B5EF4-FFF2-40B4-BE49-F238E27FC236}">
                <a16:creationId xmlns:a16="http://schemas.microsoft.com/office/drawing/2014/main" id="{9E9C7D3B-56E9-3D62-DC93-49FC5B31940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a:extLst>
              <a:ext uri="{FF2B5EF4-FFF2-40B4-BE49-F238E27FC236}">
                <a16:creationId xmlns:a16="http://schemas.microsoft.com/office/drawing/2014/main" id="{C4C484DB-FEE6-9322-3AE4-6C628C18311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0303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7FC36766-588F-1586-EA8B-C2FBADB4025A}"/>
            </a:ext>
          </a:extLst>
        </p:cNvPr>
        <p:cNvGrpSpPr/>
        <p:nvPr/>
      </p:nvGrpSpPr>
      <p:grpSpPr>
        <a:xfrm>
          <a:off x="0" y="0"/>
          <a:ext cx="0" cy="0"/>
          <a:chOff x="0" y="0"/>
          <a:chExt cx="0" cy="0"/>
        </a:xfrm>
      </p:grpSpPr>
      <p:sp>
        <p:nvSpPr>
          <p:cNvPr id="394" name="Google Shape;394;p19:notes">
            <a:extLst>
              <a:ext uri="{FF2B5EF4-FFF2-40B4-BE49-F238E27FC236}">
                <a16:creationId xmlns:a16="http://schemas.microsoft.com/office/drawing/2014/main" id="{70EED9FC-2FBD-A361-D583-3C0A67951CF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a:extLst>
              <a:ext uri="{FF2B5EF4-FFF2-40B4-BE49-F238E27FC236}">
                <a16:creationId xmlns:a16="http://schemas.microsoft.com/office/drawing/2014/main" id="{6A3153E6-07C4-03FA-9CF8-6E87A866241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9791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7814EEC7-60CA-C03E-2F8F-586BB2D17896}"/>
            </a:ext>
          </a:extLst>
        </p:cNvPr>
        <p:cNvGrpSpPr/>
        <p:nvPr/>
      </p:nvGrpSpPr>
      <p:grpSpPr>
        <a:xfrm>
          <a:off x="0" y="0"/>
          <a:ext cx="0" cy="0"/>
          <a:chOff x="0" y="0"/>
          <a:chExt cx="0" cy="0"/>
        </a:xfrm>
      </p:grpSpPr>
      <p:sp>
        <p:nvSpPr>
          <p:cNvPr id="394" name="Google Shape;394;p19:notes">
            <a:extLst>
              <a:ext uri="{FF2B5EF4-FFF2-40B4-BE49-F238E27FC236}">
                <a16:creationId xmlns:a16="http://schemas.microsoft.com/office/drawing/2014/main" id="{7817D001-29F4-659C-7BED-0D5A5D97C9C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a:extLst>
              <a:ext uri="{FF2B5EF4-FFF2-40B4-BE49-F238E27FC236}">
                <a16:creationId xmlns:a16="http://schemas.microsoft.com/office/drawing/2014/main" id="{CFFEC0D7-B039-561E-C687-404F33D193D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660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2A11C74A-97CF-F515-A2B1-F86B431E9EDD}"/>
            </a:ext>
          </a:extLst>
        </p:cNvPr>
        <p:cNvGrpSpPr/>
        <p:nvPr/>
      </p:nvGrpSpPr>
      <p:grpSpPr>
        <a:xfrm>
          <a:off x="0" y="0"/>
          <a:ext cx="0" cy="0"/>
          <a:chOff x="0" y="0"/>
          <a:chExt cx="0" cy="0"/>
        </a:xfrm>
      </p:grpSpPr>
      <p:sp>
        <p:nvSpPr>
          <p:cNvPr id="394" name="Google Shape;394;p19:notes">
            <a:extLst>
              <a:ext uri="{FF2B5EF4-FFF2-40B4-BE49-F238E27FC236}">
                <a16:creationId xmlns:a16="http://schemas.microsoft.com/office/drawing/2014/main" id="{5B83884F-BF1B-7675-30C5-A213B1B4EE2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9:notes">
            <a:extLst>
              <a:ext uri="{FF2B5EF4-FFF2-40B4-BE49-F238E27FC236}">
                <a16:creationId xmlns:a16="http://schemas.microsoft.com/office/drawing/2014/main" id="{0DD70A1F-145C-C6E5-50A9-07BE1EF8FD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3407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6be1280c7e_0_1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g36be1280c7e_0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Figure + Caption">
  <p:cSld name="Figure + Caption">
    <p:spTree>
      <p:nvGrpSpPr>
        <p:cNvPr id="1" name="Shape 17"/>
        <p:cNvGrpSpPr/>
        <p:nvPr/>
      </p:nvGrpSpPr>
      <p:grpSpPr>
        <a:xfrm>
          <a:off x="0" y="0"/>
          <a:ext cx="0" cy="0"/>
          <a:chOff x="0" y="0"/>
          <a:chExt cx="0" cy="0"/>
        </a:xfrm>
      </p:grpSpPr>
      <p:sp>
        <p:nvSpPr>
          <p:cNvPr id="18" name="Google Shape;18;p22"/>
          <p:cNvSpPr txBox="1">
            <a:spLocks noGrp="1"/>
          </p:cNvSpPr>
          <p:nvPr>
            <p:ph type="title"/>
          </p:nvPr>
        </p:nvSpPr>
        <p:spPr>
          <a:xfrm>
            <a:off x="457200" y="228600"/>
            <a:ext cx="8229600" cy="1066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007FA3"/>
              </a:buClr>
              <a:buSzPts val="3400"/>
              <a:buFont typeface="Times New Roman"/>
              <a:buNone/>
              <a:defRPr sz="3400">
                <a:solidFill>
                  <a:srgbClr val="007FA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2"/>
          <p:cNvSpPr txBox="1">
            <a:spLocks noGrp="1"/>
          </p:cNvSpPr>
          <p:nvPr>
            <p:ph type="body" idx="1"/>
          </p:nvPr>
        </p:nvSpPr>
        <p:spPr>
          <a:xfrm>
            <a:off x="457200" y="5368160"/>
            <a:ext cx="8229600" cy="916856"/>
          </a:xfrm>
          <a:prstGeom prst="rect">
            <a:avLst/>
          </a:prstGeom>
          <a:noFill/>
          <a:ln>
            <a:noFill/>
          </a:ln>
        </p:spPr>
        <p:txBody>
          <a:bodyPr spcFirstLastPara="1" wrap="square" lIns="0" tIns="0" rIns="0" bIns="0" anchor="b" anchorCtr="0">
            <a:noAutofit/>
          </a:bodyPr>
          <a:lstStyle>
            <a:lvl1pPr marL="457200" lvl="0" indent="-228600" algn="l">
              <a:spcBef>
                <a:spcPts val="0"/>
              </a:spcBef>
              <a:spcAft>
                <a:spcPts val="0"/>
              </a:spcAft>
              <a:buSzPts val="800"/>
              <a:buNone/>
              <a:defRPr sz="800"/>
            </a:lvl1pPr>
            <a:lvl2pPr marL="914400" lvl="1" indent="-228600" algn="l">
              <a:spcBef>
                <a:spcPts val="0"/>
              </a:spcBef>
              <a:spcAft>
                <a:spcPts val="0"/>
              </a:spcAft>
              <a:buSzPts val="1600"/>
              <a:buNone/>
              <a:defRPr sz="1600"/>
            </a:lvl2pPr>
            <a:lvl3pPr marL="1371600" lvl="2" indent="-228600" algn="l">
              <a:spcBef>
                <a:spcPts val="0"/>
              </a:spcBef>
              <a:spcAft>
                <a:spcPts val="0"/>
              </a:spcAft>
              <a:buSzPts val="1600"/>
              <a:buNone/>
              <a:defRPr sz="1600"/>
            </a:lvl3pPr>
            <a:lvl4pPr marL="1828800" lvl="3" indent="-228600" algn="l">
              <a:spcBef>
                <a:spcPts val="0"/>
              </a:spcBef>
              <a:spcAft>
                <a:spcPts val="0"/>
              </a:spcAft>
              <a:buSzPts val="1600"/>
              <a:buNone/>
              <a:defRPr sz="1600"/>
            </a:lvl4pPr>
            <a:lvl5pPr marL="2286000" lvl="4" indent="-228600" algn="l">
              <a:spcBef>
                <a:spcPts val="0"/>
              </a:spcBef>
              <a:spcAft>
                <a:spcPts val="0"/>
              </a:spcAft>
              <a:buSzPts val="1600"/>
              <a:buNone/>
              <a:defRPr sz="1600"/>
            </a:lvl5pPr>
            <a:lvl6pPr marL="2743200" lvl="5" indent="-228600" algn="l">
              <a:spcBef>
                <a:spcPts val="0"/>
              </a:spcBef>
              <a:spcAft>
                <a:spcPts val="0"/>
              </a:spcAft>
              <a:buSzPts val="1600"/>
              <a:buNone/>
              <a:defRPr sz="1600"/>
            </a:lvl6pPr>
            <a:lvl7pPr marL="3200400" lvl="6" indent="-228600" algn="l">
              <a:spcBef>
                <a:spcPts val="0"/>
              </a:spcBef>
              <a:spcAft>
                <a:spcPts val="0"/>
              </a:spcAft>
              <a:buSzPts val="1600"/>
              <a:buNone/>
              <a:defRPr sz="1600"/>
            </a:lvl7pPr>
            <a:lvl8pPr marL="3657600" lvl="7" indent="-228600" algn="l">
              <a:spcBef>
                <a:spcPts val="0"/>
              </a:spcBef>
              <a:spcAft>
                <a:spcPts val="0"/>
              </a:spcAft>
              <a:buSzPts val="1600"/>
              <a:buNone/>
              <a:defRPr sz="1600"/>
            </a:lvl8pPr>
            <a:lvl9pPr marL="4114800" lvl="8" indent="-228600" algn="l">
              <a:spcBef>
                <a:spcPts val="0"/>
              </a:spcBef>
              <a:spcAft>
                <a:spcPts val="0"/>
              </a:spcAft>
              <a:buSzPts val="1600"/>
              <a:buNone/>
              <a:defRPr sz="1600"/>
            </a:lvl9pPr>
          </a:lstStyle>
          <a:p>
            <a:endParaRPr/>
          </a:p>
        </p:txBody>
      </p:sp>
      <p:sp>
        <p:nvSpPr>
          <p:cNvPr id="20" name="Google Shape;20;p22"/>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2"/>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2"/>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3" name="Google Shape;23;p22" descr="Pearson Logo"/>
          <p:cNvPicPr preferRelativeResize="0"/>
          <p:nvPr/>
        </p:nvPicPr>
        <p:blipFill rotWithShape="1">
          <a:blip r:embed="rId2">
            <a:alphaModFix/>
          </a:blip>
          <a:srcRect/>
          <a:stretch/>
        </p:blipFill>
        <p:spPr>
          <a:xfrm>
            <a:off x="500410" y="6376789"/>
            <a:ext cx="918000" cy="279915"/>
          </a:xfrm>
          <a:prstGeom prst="rect">
            <a:avLst/>
          </a:prstGeom>
          <a:noFill/>
          <a:ln>
            <a:noFill/>
          </a:ln>
        </p:spPr>
      </p:pic>
      <p:sp>
        <p:nvSpPr>
          <p:cNvPr id="24" name="Google Shape;24;p22"/>
          <p:cNvSpPr txBox="1"/>
          <p:nvPr/>
        </p:nvSpPr>
        <p:spPr>
          <a:xfrm>
            <a:off x="1600200" y="6429345"/>
            <a:ext cx="7162800" cy="20005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700"/>
              <a:buFont typeface="Arial"/>
              <a:buNone/>
            </a:pPr>
            <a:r>
              <a:rPr lang="en-US" sz="700" b="1" i="0" u="none" strike="noStrike" cap="none">
                <a:solidFill>
                  <a:schemeClr val="dk1"/>
                </a:solidFill>
                <a:latin typeface="Arial"/>
                <a:ea typeface="Arial"/>
                <a:cs typeface="Arial"/>
                <a:sym typeface="Arial"/>
              </a:rPr>
              <a:t>Copyright © 2018 Pearson India Education Services Pvt. Ltd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spTree>
      <p:nvGrpSpPr>
        <p:cNvPr id="1" name="Shape 25"/>
        <p:cNvGrpSpPr/>
        <p:nvPr/>
      </p:nvGrpSpPr>
      <p:grpSpPr>
        <a:xfrm>
          <a:off x="0" y="0"/>
          <a:ext cx="0" cy="0"/>
          <a:chOff x="0" y="0"/>
          <a:chExt cx="0" cy="0"/>
        </a:xfrm>
      </p:grpSpPr>
      <p:sp>
        <p:nvSpPr>
          <p:cNvPr id="26" name="Google Shape;26;p23"/>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3"/>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lvl="0" indent="-330200" algn="l">
              <a:spcBef>
                <a:spcPts val="1500"/>
              </a:spcBef>
              <a:spcAft>
                <a:spcPts val="0"/>
              </a:spcAft>
              <a:buClr>
                <a:srgbClr val="007FA3"/>
              </a:buClr>
              <a:buSzPts val="1600"/>
              <a:buChar char="•"/>
              <a:defRPr/>
            </a:lvl1pPr>
            <a:lvl2pPr marL="914400" lvl="1" indent="-330200" algn="l">
              <a:spcBef>
                <a:spcPts val="600"/>
              </a:spcBef>
              <a:spcAft>
                <a:spcPts val="0"/>
              </a:spcAft>
              <a:buClr>
                <a:srgbClr val="007FA3"/>
              </a:buClr>
              <a:buSzPts val="1600"/>
              <a:buChar char="–"/>
              <a:defRPr/>
            </a:lvl2pPr>
            <a:lvl3pPr marL="1371600" lvl="2" indent="-330200" algn="l">
              <a:spcBef>
                <a:spcPts val="600"/>
              </a:spcBef>
              <a:spcAft>
                <a:spcPts val="0"/>
              </a:spcAft>
              <a:buClr>
                <a:srgbClr val="007FA3"/>
              </a:buClr>
              <a:buSzPts val="1600"/>
              <a:buChar char="▪"/>
              <a:defRPr/>
            </a:lvl3pPr>
            <a:lvl4pPr marL="1828800" lvl="3" indent="-330200" algn="l">
              <a:spcBef>
                <a:spcPts val="600"/>
              </a:spcBef>
              <a:spcAft>
                <a:spcPts val="0"/>
              </a:spcAft>
              <a:buClr>
                <a:srgbClr val="007FA3"/>
              </a:buClr>
              <a:buSzPts val="1600"/>
              <a:buChar char="–"/>
              <a:defRPr/>
            </a:lvl4pPr>
            <a:lvl5pPr marL="2286000" lvl="4" indent="-330200" algn="l">
              <a:spcBef>
                <a:spcPts val="600"/>
              </a:spcBef>
              <a:spcAft>
                <a:spcPts val="0"/>
              </a:spcAft>
              <a:buClr>
                <a:srgbClr val="007FA3"/>
              </a:buClr>
              <a:buSzPts val="1600"/>
              <a:buChar char="•"/>
              <a:defRPr/>
            </a:lvl5pPr>
            <a:lvl6pPr marL="2743200" lvl="5" indent="-330200" algn="l">
              <a:spcBef>
                <a:spcPts val="300"/>
              </a:spcBef>
              <a:spcAft>
                <a:spcPts val="0"/>
              </a:spcAft>
              <a:buClr>
                <a:srgbClr val="007FA3"/>
              </a:buClr>
              <a:buSzPts val="1600"/>
              <a:buChar char="•"/>
              <a:defRPr/>
            </a:lvl6pPr>
            <a:lvl7pPr marL="3200400" lvl="6" indent="-330200" algn="l">
              <a:spcBef>
                <a:spcPts val="300"/>
              </a:spcBef>
              <a:spcAft>
                <a:spcPts val="0"/>
              </a:spcAft>
              <a:buClr>
                <a:srgbClr val="007FA3"/>
              </a:buClr>
              <a:buSzPts val="1600"/>
              <a:buChar char="•"/>
              <a:defRPr/>
            </a:lvl7pPr>
            <a:lvl8pPr marL="3657600" lvl="7" indent="-330200" algn="l">
              <a:spcBef>
                <a:spcPts val="300"/>
              </a:spcBef>
              <a:spcAft>
                <a:spcPts val="0"/>
              </a:spcAft>
              <a:buClr>
                <a:srgbClr val="007FA3"/>
              </a:buClr>
              <a:buSzPts val="1600"/>
              <a:buChar char="•"/>
              <a:defRPr/>
            </a:lvl8pPr>
            <a:lvl9pPr marL="4114800" lvl="8" indent="-330200" algn="l">
              <a:spcBef>
                <a:spcPts val="300"/>
              </a:spcBef>
              <a:spcAft>
                <a:spcPts val="0"/>
              </a:spcAft>
              <a:buClr>
                <a:srgbClr val="007FA3"/>
              </a:buClr>
              <a:buSzPts val="1600"/>
              <a:buChar char="•"/>
              <a:defRPr/>
            </a:lvl9pPr>
          </a:lstStyle>
          <a:p>
            <a:endParaRPr/>
          </a:p>
        </p:txBody>
      </p:sp>
      <p:sp>
        <p:nvSpPr>
          <p:cNvPr id="28" name="Google Shape;28;p23"/>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3"/>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1"/>
        <p:cNvGrpSpPr/>
        <p:nvPr/>
      </p:nvGrpSpPr>
      <p:grpSpPr>
        <a:xfrm>
          <a:off x="0" y="0"/>
          <a:ext cx="0" cy="0"/>
          <a:chOff x="0" y="0"/>
          <a:chExt cx="0" cy="0"/>
        </a:xfrm>
      </p:grpSpPr>
      <p:sp>
        <p:nvSpPr>
          <p:cNvPr id="32" name="Google Shape;32;p24"/>
          <p:cNvSpPr/>
          <p:nvPr/>
        </p:nvSpPr>
        <p:spPr>
          <a:xfrm>
            <a:off x="0" y="0"/>
            <a:ext cx="9144000" cy="388620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 name="Google Shape;33;p24"/>
          <p:cNvSpPr txBox="1">
            <a:spLocks noGrp="1"/>
          </p:cNvSpPr>
          <p:nvPr>
            <p:ph type="ctrTitle"/>
          </p:nvPr>
        </p:nvSpPr>
        <p:spPr>
          <a:xfrm>
            <a:off x="685800" y="762000"/>
            <a:ext cx="7772400" cy="283845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Times New Roma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4"/>
          <p:cNvSpPr txBox="1">
            <a:spLocks noGrp="1"/>
          </p:cNvSpPr>
          <p:nvPr>
            <p:ph type="subTitle" idx="1"/>
          </p:nvPr>
        </p:nvSpPr>
        <p:spPr>
          <a:xfrm>
            <a:off x="674687" y="3962400"/>
            <a:ext cx="7794626" cy="17526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800"/>
              <a:buNone/>
              <a:defRPr sz="1800">
                <a:solidFill>
                  <a:schemeClr val="dk1"/>
                </a:solidFill>
              </a:defRPr>
            </a:lvl1pPr>
            <a:lvl2pPr lvl="1" algn="ctr">
              <a:spcBef>
                <a:spcPts val="600"/>
              </a:spcBef>
              <a:spcAft>
                <a:spcPts val="0"/>
              </a:spcAft>
              <a:buSzPts val="1600"/>
              <a:buNone/>
              <a:defRPr>
                <a:solidFill>
                  <a:srgbClr val="888888"/>
                </a:solidFill>
              </a:defRPr>
            </a:lvl2pPr>
            <a:lvl3pPr lvl="2" algn="ctr">
              <a:spcBef>
                <a:spcPts val="600"/>
              </a:spcBef>
              <a:spcAft>
                <a:spcPts val="0"/>
              </a:spcAft>
              <a:buSzPts val="1600"/>
              <a:buNone/>
              <a:defRPr>
                <a:solidFill>
                  <a:srgbClr val="888888"/>
                </a:solidFill>
              </a:defRPr>
            </a:lvl3pPr>
            <a:lvl4pPr lvl="3" algn="ctr">
              <a:spcBef>
                <a:spcPts val="600"/>
              </a:spcBef>
              <a:spcAft>
                <a:spcPts val="0"/>
              </a:spcAft>
              <a:buSzPts val="1600"/>
              <a:buNone/>
              <a:defRPr>
                <a:solidFill>
                  <a:srgbClr val="888888"/>
                </a:solidFill>
              </a:defRPr>
            </a:lvl4pPr>
            <a:lvl5pPr lvl="4" algn="ctr">
              <a:spcBef>
                <a:spcPts val="600"/>
              </a:spcBef>
              <a:spcAft>
                <a:spcPts val="0"/>
              </a:spcAft>
              <a:buSzPts val="1600"/>
              <a:buNone/>
              <a:defRPr>
                <a:solidFill>
                  <a:srgbClr val="888888"/>
                </a:solidFill>
              </a:defRPr>
            </a:lvl5pPr>
            <a:lvl6pPr lvl="5" algn="ctr">
              <a:spcBef>
                <a:spcPts val="300"/>
              </a:spcBef>
              <a:spcAft>
                <a:spcPts val="0"/>
              </a:spcAft>
              <a:buSzPts val="1600"/>
              <a:buNone/>
              <a:defRPr>
                <a:solidFill>
                  <a:srgbClr val="888888"/>
                </a:solidFill>
              </a:defRPr>
            </a:lvl6pPr>
            <a:lvl7pPr lvl="6" algn="ctr">
              <a:spcBef>
                <a:spcPts val="300"/>
              </a:spcBef>
              <a:spcAft>
                <a:spcPts val="0"/>
              </a:spcAft>
              <a:buSzPts val="1600"/>
              <a:buNone/>
              <a:defRPr>
                <a:solidFill>
                  <a:srgbClr val="888888"/>
                </a:solidFill>
              </a:defRPr>
            </a:lvl7pPr>
            <a:lvl8pPr lvl="7" algn="ctr">
              <a:spcBef>
                <a:spcPts val="300"/>
              </a:spcBef>
              <a:spcAft>
                <a:spcPts val="0"/>
              </a:spcAft>
              <a:buSzPts val="1600"/>
              <a:buNone/>
              <a:defRPr>
                <a:solidFill>
                  <a:srgbClr val="888888"/>
                </a:solidFill>
              </a:defRPr>
            </a:lvl8pPr>
            <a:lvl9pPr lvl="8" algn="ctr">
              <a:spcBef>
                <a:spcPts val="300"/>
              </a:spcBef>
              <a:spcAft>
                <a:spcPts val="0"/>
              </a:spcAft>
              <a:buSzPts val="1600"/>
              <a:buNone/>
              <a:defRPr>
                <a:solidFill>
                  <a:srgbClr val="888888"/>
                </a:solidFill>
              </a:defRPr>
            </a:lvl9pPr>
          </a:lstStyle>
          <a:p>
            <a:endParaRPr/>
          </a:p>
        </p:txBody>
      </p:sp>
      <p:sp>
        <p:nvSpPr>
          <p:cNvPr id="35" name="Google Shape;35;p24"/>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4"/>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4"/>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p24"/>
          <p:cNvSpPr txBox="1"/>
          <p:nvPr/>
        </p:nvSpPr>
        <p:spPr>
          <a:xfrm>
            <a:off x="1600200" y="6429345"/>
            <a:ext cx="7162800" cy="20005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700"/>
              <a:buFont typeface="Arial"/>
              <a:buNone/>
            </a:pPr>
            <a:r>
              <a:rPr lang="en-US" sz="700" b="1">
                <a:solidFill>
                  <a:schemeClr val="dk1"/>
                </a:solidFill>
                <a:latin typeface="Arial"/>
                <a:ea typeface="Arial"/>
                <a:cs typeface="Arial"/>
                <a:sym typeface="Arial"/>
              </a:rPr>
              <a:t>Copyright © 2018 Pearson India Education Services Pvt. Ltd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hapter Opener">
  <p:cSld name="Chapter Opener">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457200" y="215372"/>
            <a:ext cx="8229600" cy="62282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5"/>
          <p:cNvSpPr txBox="1">
            <a:spLocks noGrp="1"/>
          </p:cNvSpPr>
          <p:nvPr>
            <p:ph type="body" idx="1"/>
          </p:nvPr>
        </p:nvSpPr>
        <p:spPr>
          <a:xfrm>
            <a:off x="457200" y="816430"/>
            <a:ext cx="8229600" cy="47897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2000"/>
              <a:buNone/>
              <a:defRPr sz="2000">
                <a:solidFill>
                  <a:srgbClr val="007FA3"/>
                </a:solidFill>
              </a:defRPr>
            </a:lvl1pPr>
            <a:lvl2pPr marL="914400" lvl="1" indent="-228600" algn="l">
              <a:spcBef>
                <a:spcPts val="0"/>
              </a:spcBef>
              <a:spcAft>
                <a:spcPts val="0"/>
              </a:spcAft>
              <a:buSzPts val="2400"/>
              <a:buNone/>
              <a:defRPr sz="2400">
                <a:solidFill>
                  <a:schemeClr val="lt1"/>
                </a:solidFill>
              </a:defRPr>
            </a:lvl2pPr>
            <a:lvl3pPr marL="1371600" lvl="2" indent="-228600" algn="l">
              <a:spcBef>
                <a:spcPts val="0"/>
              </a:spcBef>
              <a:spcAft>
                <a:spcPts val="0"/>
              </a:spcAft>
              <a:buSzPts val="2400"/>
              <a:buNone/>
              <a:defRPr sz="2400">
                <a:solidFill>
                  <a:schemeClr val="lt1"/>
                </a:solidFill>
              </a:defRPr>
            </a:lvl3pPr>
            <a:lvl4pPr marL="1828800" lvl="3" indent="-228600" algn="l">
              <a:spcBef>
                <a:spcPts val="0"/>
              </a:spcBef>
              <a:spcAft>
                <a:spcPts val="0"/>
              </a:spcAft>
              <a:buSzPts val="2400"/>
              <a:buNone/>
              <a:defRPr sz="2400">
                <a:solidFill>
                  <a:schemeClr val="lt1"/>
                </a:solidFill>
              </a:defRPr>
            </a:lvl4pPr>
            <a:lvl5pPr marL="2286000" lvl="4" indent="-228600" algn="l">
              <a:spcBef>
                <a:spcPts val="0"/>
              </a:spcBef>
              <a:spcAft>
                <a:spcPts val="0"/>
              </a:spcAft>
              <a:buSzPts val="2400"/>
              <a:buNone/>
              <a:defRPr sz="2400">
                <a:solidFill>
                  <a:schemeClr val="lt1"/>
                </a:solidFill>
              </a:defRPr>
            </a:lvl5pPr>
            <a:lvl6pPr marL="2743200" lvl="5" indent="-228600" algn="l">
              <a:spcBef>
                <a:spcPts val="0"/>
              </a:spcBef>
              <a:spcAft>
                <a:spcPts val="0"/>
              </a:spcAft>
              <a:buSzPts val="2400"/>
              <a:buNone/>
              <a:defRPr sz="2400">
                <a:solidFill>
                  <a:schemeClr val="lt1"/>
                </a:solidFill>
              </a:defRPr>
            </a:lvl6pPr>
            <a:lvl7pPr marL="3200400" lvl="6" indent="-228600" algn="l">
              <a:spcBef>
                <a:spcPts val="0"/>
              </a:spcBef>
              <a:spcAft>
                <a:spcPts val="0"/>
              </a:spcAft>
              <a:buSzPts val="2400"/>
              <a:buNone/>
              <a:defRPr sz="2400">
                <a:solidFill>
                  <a:schemeClr val="lt1"/>
                </a:solidFill>
              </a:defRPr>
            </a:lvl7pPr>
            <a:lvl8pPr marL="3657600" lvl="7" indent="-228600" algn="l">
              <a:spcBef>
                <a:spcPts val="0"/>
              </a:spcBef>
              <a:spcAft>
                <a:spcPts val="0"/>
              </a:spcAft>
              <a:buSzPts val="2400"/>
              <a:buNone/>
              <a:defRPr sz="2400">
                <a:solidFill>
                  <a:schemeClr val="lt1"/>
                </a:solidFill>
              </a:defRPr>
            </a:lvl8pPr>
            <a:lvl9pPr marL="4114800" lvl="8" indent="-228600" algn="l">
              <a:spcBef>
                <a:spcPts val="0"/>
              </a:spcBef>
              <a:spcAft>
                <a:spcPts val="0"/>
              </a:spcAft>
              <a:buSzPts val="2400"/>
              <a:buNone/>
              <a:defRPr sz="2400">
                <a:solidFill>
                  <a:schemeClr val="lt1"/>
                </a:solidFill>
              </a:defRPr>
            </a:lvl9pPr>
          </a:lstStyle>
          <a:p>
            <a:endParaRPr/>
          </a:p>
        </p:txBody>
      </p:sp>
      <p:sp>
        <p:nvSpPr>
          <p:cNvPr id="42" name="Google Shape;42;p25"/>
          <p:cNvSpPr txBox="1">
            <a:spLocks noGrp="1"/>
          </p:cNvSpPr>
          <p:nvPr>
            <p:ph type="body" idx="2"/>
          </p:nvPr>
        </p:nvSpPr>
        <p:spPr>
          <a:xfrm>
            <a:off x="5029200" y="1600201"/>
            <a:ext cx="3657600" cy="1600199"/>
          </a:xfrm>
          <a:prstGeom prst="rect">
            <a:avLst/>
          </a:prstGeom>
          <a:noFill/>
          <a:ln>
            <a:noFill/>
          </a:ln>
        </p:spPr>
        <p:txBody>
          <a:bodyPr spcFirstLastPara="1" wrap="square" lIns="0" tIns="0" rIns="0" bIns="0" anchor="b" anchorCtr="0">
            <a:noAutofit/>
          </a:bodyPr>
          <a:lstStyle>
            <a:lvl1pPr marL="457200" lvl="0" indent="-228600" algn="l">
              <a:spcBef>
                <a:spcPts val="0"/>
              </a:spcBef>
              <a:spcAft>
                <a:spcPts val="0"/>
              </a:spcAft>
              <a:buSzPts val="3000"/>
              <a:buNone/>
              <a:defRPr sz="3000"/>
            </a:lvl1pPr>
            <a:lvl2pPr marL="914400" lvl="1" indent="-228600" algn="l">
              <a:spcBef>
                <a:spcPts val="0"/>
              </a:spcBef>
              <a:spcAft>
                <a:spcPts val="0"/>
              </a:spcAft>
              <a:buSzPts val="4400"/>
              <a:buNone/>
              <a:defRPr sz="4400"/>
            </a:lvl2pPr>
            <a:lvl3pPr marL="1371600" lvl="2" indent="-228600" algn="l">
              <a:spcBef>
                <a:spcPts val="0"/>
              </a:spcBef>
              <a:spcAft>
                <a:spcPts val="0"/>
              </a:spcAft>
              <a:buSzPts val="4400"/>
              <a:buNone/>
              <a:defRPr sz="4400"/>
            </a:lvl3pPr>
            <a:lvl4pPr marL="1828800" lvl="3" indent="-228600" algn="l">
              <a:spcBef>
                <a:spcPts val="0"/>
              </a:spcBef>
              <a:spcAft>
                <a:spcPts val="0"/>
              </a:spcAft>
              <a:buSzPts val="4400"/>
              <a:buNone/>
              <a:defRPr sz="4400"/>
            </a:lvl4pPr>
            <a:lvl5pPr marL="2286000" lvl="4" indent="-228600" algn="l">
              <a:spcBef>
                <a:spcPts val="0"/>
              </a:spcBef>
              <a:spcAft>
                <a:spcPts val="0"/>
              </a:spcAft>
              <a:buSzPts val="4400"/>
              <a:buNone/>
              <a:defRPr sz="4400"/>
            </a:lvl5pPr>
            <a:lvl6pPr marL="2743200" lvl="5" indent="-228600" algn="l">
              <a:spcBef>
                <a:spcPts val="0"/>
              </a:spcBef>
              <a:spcAft>
                <a:spcPts val="0"/>
              </a:spcAft>
              <a:buSzPts val="4400"/>
              <a:buNone/>
              <a:defRPr sz="4400"/>
            </a:lvl6pPr>
            <a:lvl7pPr marL="3200400" lvl="6" indent="-228600" algn="l">
              <a:spcBef>
                <a:spcPts val="0"/>
              </a:spcBef>
              <a:spcAft>
                <a:spcPts val="0"/>
              </a:spcAft>
              <a:buSzPts val="4400"/>
              <a:buNone/>
              <a:defRPr sz="4400"/>
            </a:lvl7pPr>
            <a:lvl8pPr marL="3657600" lvl="7" indent="-228600" algn="l">
              <a:spcBef>
                <a:spcPts val="0"/>
              </a:spcBef>
              <a:spcAft>
                <a:spcPts val="0"/>
              </a:spcAft>
              <a:buSzPts val="4400"/>
              <a:buNone/>
              <a:defRPr sz="4400"/>
            </a:lvl8pPr>
            <a:lvl9pPr marL="4114800" lvl="8" indent="-228600" algn="l">
              <a:spcBef>
                <a:spcPts val="0"/>
              </a:spcBef>
              <a:spcAft>
                <a:spcPts val="0"/>
              </a:spcAft>
              <a:buSzPts val="4400"/>
              <a:buNone/>
              <a:defRPr sz="4400"/>
            </a:lvl9pPr>
          </a:lstStyle>
          <a:p>
            <a:endParaRPr/>
          </a:p>
        </p:txBody>
      </p:sp>
      <p:sp>
        <p:nvSpPr>
          <p:cNvPr id="43" name="Google Shape;43;p25"/>
          <p:cNvSpPr txBox="1">
            <a:spLocks noGrp="1"/>
          </p:cNvSpPr>
          <p:nvPr>
            <p:ph type="body" idx="3"/>
          </p:nvPr>
        </p:nvSpPr>
        <p:spPr>
          <a:xfrm>
            <a:off x="5029200" y="3200400"/>
            <a:ext cx="3657600" cy="2925763"/>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2200"/>
              <a:buNone/>
              <a:defRPr sz="2200"/>
            </a:lvl1pPr>
            <a:lvl2pPr marL="914400" lvl="1" indent="-228600" algn="l">
              <a:spcBef>
                <a:spcPts val="0"/>
              </a:spcBef>
              <a:spcAft>
                <a:spcPts val="0"/>
              </a:spcAft>
              <a:buSzPts val="1600"/>
              <a:buNone/>
              <a:defRPr/>
            </a:lvl2pPr>
            <a:lvl3pPr marL="1371600" lvl="2" indent="-228600" algn="l">
              <a:spcBef>
                <a:spcPts val="0"/>
              </a:spcBef>
              <a:spcAft>
                <a:spcPts val="0"/>
              </a:spcAft>
              <a:buSzPts val="1600"/>
              <a:buNone/>
              <a:defRPr/>
            </a:lvl3pPr>
            <a:lvl4pPr marL="1828800" lvl="3" indent="-228600" algn="l">
              <a:spcBef>
                <a:spcPts val="0"/>
              </a:spcBef>
              <a:spcAft>
                <a:spcPts val="0"/>
              </a:spcAft>
              <a:buSzPts val="1600"/>
              <a:buNone/>
              <a:defRPr/>
            </a:lvl4pPr>
            <a:lvl5pPr marL="2286000" lvl="4" indent="-228600" algn="l">
              <a:spcBef>
                <a:spcPts val="0"/>
              </a:spcBef>
              <a:spcAft>
                <a:spcPts val="0"/>
              </a:spcAft>
              <a:buSzPts val="1600"/>
              <a:buNone/>
              <a:defRPr/>
            </a:lvl5pPr>
            <a:lvl6pPr marL="2743200" lvl="5" indent="-228600" algn="l">
              <a:spcBef>
                <a:spcPts val="0"/>
              </a:spcBef>
              <a:spcAft>
                <a:spcPts val="0"/>
              </a:spcAft>
              <a:buSzPts val="1600"/>
              <a:buNone/>
              <a:defRPr/>
            </a:lvl6pPr>
            <a:lvl7pPr marL="3200400" lvl="6" indent="-228600" algn="l">
              <a:spcBef>
                <a:spcPts val="0"/>
              </a:spcBef>
              <a:spcAft>
                <a:spcPts val="0"/>
              </a:spcAft>
              <a:buSzPts val="1600"/>
              <a:buNone/>
              <a:defRPr/>
            </a:lvl7pPr>
            <a:lvl8pPr marL="3657600" lvl="7" indent="-228600" algn="l">
              <a:spcBef>
                <a:spcPts val="0"/>
              </a:spcBef>
              <a:spcAft>
                <a:spcPts val="0"/>
              </a:spcAft>
              <a:buSzPts val="1600"/>
              <a:buNone/>
              <a:defRPr/>
            </a:lvl8pPr>
            <a:lvl9pPr marL="4114800" lvl="8" indent="-228600" algn="l">
              <a:spcBef>
                <a:spcPts val="0"/>
              </a:spcBef>
              <a:spcAft>
                <a:spcPts val="0"/>
              </a:spcAft>
              <a:buSzPts val="1600"/>
              <a:buNone/>
              <a:defRPr/>
            </a:lvl9pPr>
          </a:lstStyle>
          <a:p>
            <a:endParaRPr/>
          </a:p>
        </p:txBody>
      </p:sp>
      <p:sp>
        <p:nvSpPr>
          <p:cNvPr id="44" name="Google Shape;44;p25"/>
          <p:cNvSpPr txBox="1">
            <a:spLocks noGrp="1"/>
          </p:cNvSpPr>
          <p:nvPr>
            <p:ph type="ftr" idx="11"/>
          </p:nvPr>
        </p:nvSpPr>
        <p:spPr>
          <a:xfrm>
            <a:off x="93969" y="6165337"/>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5"/>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5"/>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47" name="Google Shape;47;p25" descr="Pearson Logo"/>
          <p:cNvPicPr preferRelativeResize="0"/>
          <p:nvPr/>
        </p:nvPicPr>
        <p:blipFill rotWithShape="1">
          <a:blip r:embed="rId2">
            <a:alphaModFix/>
          </a:blip>
          <a:srcRect/>
          <a:stretch/>
        </p:blipFill>
        <p:spPr>
          <a:xfrm>
            <a:off x="457200" y="6376789"/>
            <a:ext cx="918000" cy="279915"/>
          </a:xfrm>
          <a:prstGeom prst="rect">
            <a:avLst/>
          </a:prstGeom>
          <a:noFill/>
          <a:ln>
            <a:noFill/>
          </a:ln>
        </p:spPr>
      </p:pic>
      <p:sp>
        <p:nvSpPr>
          <p:cNvPr id="48" name="Google Shape;48;p25"/>
          <p:cNvSpPr txBox="1"/>
          <p:nvPr/>
        </p:nvSpPr>
        <p:spPr>
          <a:xfrm>
            <a:off x="1600200" y="6429345"/>
            <a:ext cx="7162800" cy="20005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700"/>
              <a:buFont typeface="Arial"/>
              <a:buNone/>
            </a:pPr>
            <a:r>
              <a:rPr lang="en-US" sz="700" b="1">
                <a:solidFill>
                  <a:schemeClr val="dk1"/>
                </a:solidFill>
                <a:latin typeface="Arial"/>
                <a:ea typeface="Arial"/>
                <a:cs typeface="Arial"/>
                <a:sym typeface="Arial"/>
              </a:rPr>
              <a:t>Copyright © 2018 Pearson India Education Services Pvt. Ltd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 Learning Objectives and Content">
  <p:cSld name="Title + Learning Objectives and Content">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15372"/>
            <a:ext cx="8229600" cy="62282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body" idx="1"/>
          </p:nvPr>
        </p:nvSpPr>
        <p:spPr>
          <a:xfrm>
            <a:off x="457200" y="816430"/>
            <a:ext cx="8229600" cy="40277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600"/>
              <a:buNone/>
              <a:defRPr sz="1600">
                <a:solidFill>
                  <a:srgbClr val="007FA3"/>
                </a:solidFill>
              </a:defRPr>
            </a:lvl1pPr>
            <a:lvl2pPr marL="914400" lvl="1" indent="-228600" algn="l">
              <a:spcBef>
                <a:spcPts val="0"/>
              </a:spcBef>
              <a:spcAft>
                <a:spcPts val="0"/>
              </a:spcAft>
              <a:buSzPts val="2400"/>
              <a:buNone/>
              <a:defRPr sz="2400">
                <a:solidFill>
                  <a:schemeClr val="lt1"/>
                </a:solidFill>
              </a:defRPr>
            </a:lvl2pPr>
            <a:lvl3pPr marL="1371600" lvl="2" indent="-228600" algn="l">
              <a:spcBef>
                <a:spcPts val="0"/>
              </a:spcBef>
              <a:spcAft>
                <a:spcPts val="0"/>
              </a:spcAft>
              <a:buSzPts val="2400"/>
              <a:buNone/>
              <a:defRPr sz="2400">
                <a:solidFill>
                  <a:schemeClr val="lt1"/>
                </a:solidFill>
              </a:defRPr>
            </a:lvl3pPr>
            <a:lvl4pPr marL="1828800" lvl="3" indent="-228600" algn="l">
              <a:spcBef>
                <a:spcPts val="0"/>
              </a:spcBef>
              <a:spcAft>
                <a:spcPts val="0"/>
              </a:spcAft>
              <a:buSzPts val="2400"/>
              <a:buNone/>
              <a:defRPr sz="2400">
                <a:solidFill>
                  <a:schemeClr val="lt1"/>
                </a:solidFill>
              </a:defRPr>
            </a:lvl4pPr>
            <a:lvl5pPr marL="2286000" lvl="4" indent="-228600" algn="l">
              <a:spcBef>
                <a:spcPts val="0"/>
              </a:spcBef>
              <a:spcAft>
                <a:spcPts val="0"/>
              </a:spcAft>
              <a:buSzPts val="2400"/>
              <a:buNone/>
              <a:defRPr sz="2400">
                <a:solidFill>
                  <a:schemeClr val="lt1"/>
                </a:solidFill>
              </a:defRPr>
            </a:lvl5pPr>
            <a:lvl6pPr marL="2743200" lvl="5" indent="-228600" algn="l">
              <a:spcBef>
                <a:spcPts val="0"/>
              </a:spcBef>
              <a:spcAft>
                <a:spcPts val="0"/>
              </a:spcAft>
              <a:buSzPts val="2400"/>
              <a:buNone/>
              <a:defRPr sz="2400">
                <a:solidFill>
                  <a:schemeClr val="lt1"/>
                </a:solidFill>
              </a:defRPr>
            </a:lvl6pPr>
            <a:lvl7pPr marL="3200400" lvl="6" indent="-228600" algn="l">
              <a:spcBef>
                <a:spcPts val="0"/>
              </a:spcBef>
              <a:spcAft>
                <a:spcPts val="0"/>
              </a:spcAft>
              <a:buSzPts val="2400"/>
              <a:buNone/>
              <a:defRPr sz="2400">
                <a:solidFill>
                  <a:schemeClr val="lt1"/>
                </a:solidFill>
              </a:defRPr>
            </a:lvl7pPr>
            <a:lvl8pPr marL="3657600" lvl="7" indent="-228600" algn="l">
              <a:spcBef>
                <a:spcPts val="0"/>
              </a:spcBef>
              <a:spcAft>
                <a:spcPts val="0"/>
              </a:spcAft>
              <a:buSzPts val="2400"/>
              <a:buNone/>
              <a:defRPr sz="2400">
                <a:solidFill>
                  <a:schemeClr val="lt1"/>
                </a:solidFill>
              </a:defRPr>
            </a:lvl8pPr>
            <a:lvl9pPr marL="4114800" lvl="8" indent="-228600" algn="l">
              <a:spcBef>
                <a:spcPts val="0"/>
              </a:spcBef>
              <a:spcAft>
                <a:spcPts val="0"/>
              </a:spcAft>
              <a:buSzPts val="2400"/>
              <a:buNone/>
              <a:defRPr sz="2400">
                <a:solidFill>
                  <a:schemeClr val="lt1"/>
                </a:solidFill>
              </a:defRPr>
            </a:lvl9pPr>
          </a:lstStyle>
          <a:p>
            <a:endParaRPr/>
          </a:p>
        </p:txBody>
      </p:sp>
      <p:sp>
        <p:nvSpPr>
          <p:cNvPr id="52" name="Google Shape;52;p26"/>
          <p:cNvSpPr txBox="1">
            <a:spLocks noGrp="1"/>
          </p:cNvSpPr>
          <p:nvPr>
            <p:ph type="body" idx="2"/>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lvl="0" indent="-342900" algn="l">
              <a:spcBef>
                <a:spcPts val="150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30200" algn="l">
              <a:spcBef>
                <a:spcPts val="600"/>
              </a:spcBef>
              <a:spcAft>
                <a:spcPts val="0"/>
              </a:spcAft>
              <a:buSzPts val="1600"/>
              <a:buChar char="•"/>
              <a:defRPr/>
            </a:lvl5pPr>
            <a:lvl6pPr marL="2743200" lvl="5" indent="-330200" algn="l">
              <a:spcBef>
                <a:spcPts val="300"/>
              </a:spcBef>
              <a:spcAft>
                <a:spcPts val="0"/>
              </a:spcAft>
              <a:buSzPts val="1600"/>
              <a:buChar char="•"/>
              <a:defRPr/>
            </a:lvl6pPr>
            <a:lvl7pPr marL="3200400" lvl="6" indent="-330200" algn="l">
              <a:spcBef>
                <a:spcPts val="300"/>
              </a:spcBef>
              <a:spcAft>
                <a:spcPts val="0"/>
              </a:spcAft>
              <a:buSzPts val="1600"/>
              <a:buChar char="•"/>
              <a:defRPr/>
            </a:lvl7pPr>
            <a:lvl8pPr marL="3657600" lvl="7" indent="-330200" algn="l">
              <a:spcBef>
                <a:spcPts val="300"/>
              </a:spcBef>
              <a:spcAft>
                <a:spcPts val="0"/>
              </a:spcAft>
              <a:buSzPts val="1600"/>
              <a:buChar char="•"/>
              <a:defRPr/>
            </a:lvl8pPr>
            <a:lvl9pPr marL="4114800" lvl="8" indent="-330200" algn="l">
              <a:spcBef>
                <a:spcPts val="300"/>
              </a:spcBef>
              <a:spcAft>
                <a:spcPts val="0"/>
              </a:spcAft>
              <a:buSzPts val="1600"/>
              <a:buChar char="•"/>
              <a:defRPr/>
            </a:lvl9pPr>
          </a:lstStyle>
          <a:p>
            <a:endParaRPr/>
          </a:p>
        </p:txBody>
      </p:sp>
      <p:sp>
        <p:nvSpPr>
          <p:cNvPr id="53" name="Google Shape;53;p26"/>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6"/>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6"/>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Learning Objectives">
  <p:cSld name="Learning Objectives">
    <p:spTree>
      <p:nvGrpSpPr>
        <p:cNvPr id="1" name="Shape 56"/>
        <p:cNvGrpSpPr/>
        <p:nvPr/>
      </p:nvGrpSpPr>
      <p:grpSpPr>
        <a:xfrm>
          <a:off x="0" y="0"/>
          <a:ext cx="0" cy="0"/>
          <a:chOff x="0" y="0"/>
          <a:chExt cx="0" cy="0"/>
        </a:xfrm>
      </p:grpSpPr>
      <p:sp>
        <p:nvSpPr>
          <p:cNvPr id="57" name="Google Shape;57;p27"/>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7"/>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lvl="0" indent="-254000" algn="l">
              <a:spcBef>
                <a:spcPts val="1500"/>
              </a:spcBef>
              <a:spcAft>
                <a:spcPts val="0"/>
              </a:spcAft>
              <a:buClr>
                <a:srgbClr val="007FA3"/>
              </a:buClr>
              <a:buSzPts val="400"/>
              <a:buChar char="•"/>
              <a:defRPr sz="1600"/>
            </a:lvl1pPr>
            <a:lvl2pPr marL="914400" lvl="1" indent="-330200" algn="l">
              <a:spcBef>
                <a:spcPts val="600"/>
              </a:spcBef>
              <a:spcAft>
                <a:spcPts val="0"/>
              </a:spcAft>
              <a:buClr>
                <a:srgbClr val="007FA3"/>
              </a:buClr>
              <a:buSzPts val="1600"/>
              <a:buChar char="–"/>
              <a:defRPr sz="1600"/>
            </a:lvl2pPr>
            <a:lvl3pPr marL="1371600" lvl="2" indent="-330200" algn="l">
              <a:spcBef>
                <a:spcPts val="600"/>
              </a:spcBef>
              <a:spcAft>
                <a:spcPts val="0"/>
              </a:spcAft>
              <a:buClr>
                <a:srgbClr val="007FA3"/>
              </a:buClr>
              <a:buSzPts val="1600"/>
              <a:buChar char="▪"/>
              <a:defRPr sz="1600"/>
            </a:lvl3pPr>
            <a:lvl4pPr marL="1828800" lvl="3" indent="-330200" algn="l">
              <a:spcBef>
                <a:spcPts val="600"/>
              </a:spcBef>
              <a:spcAft>
                <a:spcPts val="0"/>
              </a:spcAft>
              <a:buClr>
                <a:srgbClr val="007FA3"/>
              </a:buClr>
              <a:buSzPts val="1600"/>
              <a:buChar char="–"/>
              <a:defRPr sz="1600"/>
            </a:lvl4pPr>
            <a:lvl5pPr marL="2286000" lvl="4" indent="-330200" algn="l">
              <a:spcBef>
                <a:spcPts val="600"/>
              </a:spcBef>
              <a:spcAft>
                <a:spcPts val="0"/>
              </a:spcAft>
              <a:buClr>
                <a:srgbClr val="007FA3"/>
              </a:buClr>
              <a:buSzPts val="1600"/>
              <a:buChar char="•"/>
              <a:defRPr sz="1600"/>
            </a:lvl5pPr>
            <a:lvl6pPr marL="2743200" lvl="5" indent="-330200" algn="l">
              <a:spcBef>
                <a:spcPts val="300"/>
              </a:spcBef>
              <a:spcAft>
                <a:spcPts val="0"/>
              </a:spcAft>
              <a:buClr>
                <a:srgbClr val="007FA3"/>
              </a:buClr>
              <a:buSzPts val="1600"/>
              <a:buChar char="•"/>
              <a:defRPr sz="1600"/>
            </a:lvl6pPr>
            <a:lvl7pPr marL="3200400" lvl="6" indent="-330200" algn="l">
              <a:spcBef>
                <a:spcPts val="300"/>
              </a:spcBef>
              <a:spcAft>
                <a:spcPts val="0"/>
              </a:spcAft>
              <a:buClr>
                <a:srgbClr val="007FA3"/>
              </a:buClr>
              <a:buSzPts val="1600"/>
              <a:buChar char="•"/>
              <a:defRPr sz="1600"/>
            </a:lvl7pPr>
            <a:lvl8pPr marL="3657600" lvl="7" indent="-330200" algn="l">
              <a:spcBef>
                <a:spcPts val="300"/>
              </a:spcBef>
              <a:spcAft>
                <a:spcPts val="0"/>
              </a:spcAft>
              <a:buClr>
                <a:srgbClr val="007FA3"/>
              </a:buClr>
              <a:buSzPts val="1600"/>
              <a:buChar char="•"/>
              <a:defRPr sz="1600"/>
            </a:lvl8pPr>
            <a:lvl9pPr marL="4114800" lvl="8" indent="-330200" algn="l">
              <a:spcBef>
                <a:spcPts val="300"/>
              </a:spcBef>
              <a:spcAft>
                <a:spcPts val="0"/>
              </a:spcAft>
              <a:buClr>
                <a:srgbClr val="007FA3"/>
              </a:buClr>
              <a:buSzPts val="1600"/>
              <a:buChar char="•"/>
              <a:defRPr sz="1600"/>
            </a:lvl9pPr>
          </a:lstStyle>
          <a:p>
            <a:endParaRPr/>
          </a:p>
        </p:txBody>
      </p:sp>
      <p:sp>
        <p:nvSpPr>
          <p:cNvPr id="59" name="Google Shape;59;p27"/>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7"/>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7"/>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and Two Content">
  <p:cSld name="Title and Two Content">
    <p:spTree>
      <p:nvGrpSpPr>
        <p:cNvPr id="1" name="Shape 62"/>
        <p:cNvGrpSpPr/>
        <p:nvPr/>
      </p:nvGrpSpPr>
      <p:grpSpPr>
        <a:xfrm>
          <a:off x="0" y="0"/>
          <a:ext cx="0" cy="0"/>
          <a:chOff x="0" y="0"/>
          <a:chExt cx="0" cy="0"/>
        </a:xfrm>
      </p:grpSpPr>
      <p:sp>
        <p:nvSpPr>
          <p:cNvPr id="63" name="Google Shape;63;p28"/>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8"/>
          <p:cNvSpPr txBox="1">
            <a:spLocks noGrp="1"/>
          </p:cNvSpPr>
          <p:nvPr>
            <p:ph type="body" idx="1"/>
          </p:nvPr>
        </p:nvSpPr>
        <p:spPr>
          <a:xfrm>
            <a:off x="457200" y="1600200"/>
            <a:ext cx="8229600" cy="2163763"/>
          </a:xfrm>
          <a:prstGeom prst="rect">
            <a:avLst/>
          </a:prstGeom>
          <a:noFill/>
          <a:ln>
            <a:noFill/>
          </a:ln>
        </p:spPr>
        <p:txBody>
          <a:bodyPr spcFirstLastPara="1" wrap="square" lIns="0" tIns="0" rIns="0" bIns="0" anchor="t" anchorCtr="0">
            <a:noAutofit/>
          </a:bodyPr>
          <a:lstStyle>
            <a:lvl1pPr marL="457200" lvl="0" indent="-330200" algn="l">
              <a:spcBef>
                <a:spcPts val="1500"/>
              </a:spcBef>
              <a:spcAft>
                <a:spcPts val="0"/>
              </a:spcAft>
              <a:buSzPts val="1600"/>
              <a:buChar char="•"/>
              <a:defRPr sz="1600"/>
            </a:lvl1pPr>
            <a:lvl2pPr marL="914400" lvl="1" indent="-330200" algn="l">
              <a:spcBef>
                <a:spcPts val="600"/>
              </a:spcBef>
              <a:spcAft>
                <a:spcPts val="0"/>
              </a:spcAft>
              <a:buSzPts val="1600"/>
              <a:buChar char="–"/>
              <a:defRPr sz="1600"/>
            </a:lvl2pPr>
            <a:lvl3pPr marL="1371600" lvl="2" indent="-330200" algn="l">
              <a:spcBef>
                <a:spcPts val="600"/>
              </a:spcBef>
              <a:spcAft>
                <a:spcPts val="0"/>
              </a:spcAft>
              <a:buSzPts val="1600"/>
              <a:buChar char="▪"/>
              <a:defRPr sz="1600"/>
            </a:lvl3pPr>
            <a:lvl4pPr marL="1828800" lvl="3" indent="-330200" algn="l">
              <a:spcBef>
                <a:spcPts val="600"/>
              </a:spcBef>
              <a:spcAft>
                <a:spcPts val="0"/>
              </a:spcAft>
              <a:buSzPts val="1600"/>
              <a:buChar char="–"/>
              <a:defRPr sz="1600"/>
            </a:lvl4pPr>
            <a:lvl5pPr marL="2286000" lvl="4" indent="-330200" algn="l">
              <a:spcBef>
                <a:spcPts val="600"/>
              </a:spcBef>
              <a:spcAft>
                <a:spcPts val="0"/>
              </a:spcAft>
              <a:buSzPts val="1600"/>
              <a:buChar char="•"/>
              <a:defRPr sz="1600"/>
            </a:lvl5pPr>
            <a:lvl6pPr marL="2743200" lvl="5" indent="-317500" algn="l">
              <a:spcBef>
                <a:spcPts val="300"/>
              </a:spcBef>
              <a:spcAft>
                <a:spcPts val="0"/>
              </a:spcAft>
              <a:buSzPts val="1400"/>
              <a:buChar char="•"/>
              <a:defRPr sz="1400"/>
            </a:lvl6pPr>
            <a:lvl7pPr marL="3200400" lvl="6" indent="-317500" algn="l">
              <a:spcBef>
                <a:spcPts val="300"/>
              </a:spcBef>
              <a:spcAft>
                <a:spcPts val="0"/>
              </a:spcAft>
              <a:buSzPts val="1400"/>
              <a:buChar char="•"/>
              <a:defRPr sz="1400"/>
            </a:lvl7pPr>
            <a:lvl8pPr marL="3657600" lvl="7" indent="-317500" algn="l">
              <a:spcBef>
                <a:spcPts val="300"/>
              </a:spcBef>
              <a:spcAft>
                <a:spcPts val="0"/>
              </a:spcAft>
              <a:buSzPts val="1400"/>
              <a:buChar char="•"/>
              <a:defRPr sz="1400"/>
            </a:lvl8pPr>
            <a:lvl9pPr marL="4114800" lvl="8" indent="-317500" algn="l">
              <a:spcBef>
                <a:spcPts val="300"/>
              </a:spcBef>
              <a:spcAft>
                <a:spcPts val="0"/>
              </a:spcAft>
              <a:buSzPts val="1400"/>
              <a:buChar char="•"/>
              <a:defRPr sz="1400"/>
            </a:lvl9pPr>
          </a:lstStyle>
          <a:p>
            <a:endParaRPr/>
          </a:p>
        </p:txBody>
      </p:sp>
      <p:sp>
        <p:nvSpPr>
          <p:cNvPr id="65" name="Google Shape;65;p28"/>
          <p:cNvSpPr txBox="1">
            <a:spLocks noGrp="1"/>
          </p:cNvSpPr>
          <p:nvPr>
            <p:ph type="body" idx="2"/>
          </p:nvPr>
        </p:nvSpPr>
        <p:spPr>
          <a:xfrm>
            <a:off x="457200" y="3962400"/>
            <a:ext cx="8229600" cy="2163763"/>
          </a:xfrm>
          <a:prstGeom prst="rect">
            <a:avLst/>
          </a:prstGeom>
          <a:noFill/>
          <a:ln>
            <a:noFill/>
          </a:ln>
        </p:spPr>
        <p:txBody>
          <a:bodyPr spcFirstLastPara="1" wrap="square" lIns="0" tIns="0" rIns="0" bIns="0" anchor="t" anchorCtr="0">
            <a:noAutofit/>
          </a:bodyPr>
          <a:lstStyle>
            <a:lvl1pPr marL="457200" lvl="0" indent="-330200" algn="l">
              <a:spcBef>
                <a:spcPts val="1500"/>
              </a:spcBef>
              <a:spcAft>
                <a:spcPts val="0"/>
              </a:spcAft>
              <a:buSzPts val="1600"/>
              <a:buChar char="•"/>
              <a:defRPr sz="1600"/>
            </a:lvl1pPr>
            <a:lvl2pPr marL="914400" lvl="1" indent="-330200" algn="l">
              <a:spcBef>
                <a:spcPts val="600"/>
              </a:spcBef>
              <a:spcAft>
                <a:spcPts val="0"/>
              </a:spcAft>
              <a:buSzPts val="1600"/>
              <a:buChar char="–"/>
              <a:defRPr sz="1600"/>
            </a:lvl2pPr>
            <a:lvl3pPr marL="1371600" lvl="2" indent="-330200" algn="l">
              <a:spcBef>
                <a:spcPts val="600"/>
              </a:spcBef>
              <a:spcAft>
                <a:spcPts val="0"/>
              </a:spcAft>
              <a:buSzPts val="1600"/>
              <a:buChar char="▪"/>
              <a:defRPr sz="1600"/>
            </a:lvl3pPr>
            <a:lvl4pPr marL="1828800" lvl="3" indent="-330200" algn="l">
              <a:spcBef>
                <a:spcPts val="600"/>
              </a:spcBef>
              <a:spcAft>
                <a:spcPts val="0"/>
              </a:spcAft>
              <a:buSzPts val="1600"/>
              <a:buChar char="–"/>
              <a:defRPr sz="1600"/>
            </a:lvl4pPr>
            <a:lvl5pPr marL="2286000" lvl="4" indent="-330200" algn="l">
              <a:spcBef>
                <a:spcPts val="600"/>
              </a:spcBef>
              <a:spcAft>
                <a:spcPts val="0"/>
              </a:spcAft>
              <a:buSzPts val="1600"/>
              <a:buChar char="•"/>
              <a:defRPr sz="1600"/>
            </a:lvl5pPr>
            <a:lvl6pPr marL="2743200" lvl="5" indent="-317500" algn="l">
              <a:spcBef>
                <a:spcPts val="300"/>
              </a:spcBef>
              <a:spcAft>
                <a:spcPts val="0"/>
              </a:spcAft>
              <a:buSzPts val="1400"/>
              <a:buChar char="•"/>
              <a:defRPr sz="1400"/>
            </a:lvl6pPr>
            <a:lvl7pPr marL="3200400" lvl="6" indent="-317500" algn="l">
              <a:spcBef>
                <a:spcPts val="300"/>
              </a:spcBef>
              <a:spcAft>
                <a:spcPts val="0"/>
              </a:spcAft>
              <a:buSzPts val="1400"/>
              <a:buChar char="•"/>
              <a:defRPr sz="1400"/>
            </a:lvl7pPr>
            <a:lvl8pPr marL="3657600" lvl="7" indent="-317500" algn="l">
              <a:spcBef>
                <a:spcPts val="300"/>
              </a:spcBef>
              <a:spcAft>
                <a:spcPts val="0"/>
              </a:spcAft>
              <a:buSzPts val="1400"/>
              <a:buChar char="•"/>
              <a:defRPr sz="1400"/>
            </a:lvl8pPr>
            <a:lvl9pPr marL="4114800" lvl="8" indent="-317500" algn="l">
              <a:spcBef>
                <a:spcPts val="300"/>
              </a:spcBef>
              <a:spcAft>
                <a:spcPts val="0"/>
              </a:spcAft>
              <a:buSzPts val="1400"/>
              <a:buChar char="•"/>
              <a:defRPr sz="1400"/>
            </a:lvl9pPr>
          </a:lstStyle>
          <a:p>
            <a:endParaRPr/>
          </a:p>
        </p:txBody>
      </p:sp>
      <p:sp>
        <p:nvSpPr>
          <p:cNvPr id="66" name="Google Shape;66;p28"/>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8"/>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8"/>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69"/>
        <p:cNvGrpSpPr/>
        <p:nvPr/>
      </p:nvGrpSpPr>
      <p:grpSpPr>
        <a:xfrm>
          <a:off x="0" y="0"/>
          <a:ext cx="0" cy="0"/>
          <a:chOff x="0" y="0"/>
          <a:chExt cx="0" cy="0"/>
        </a:xfrm>
      </p:grpSpPr>
      <p:sp>
        <p:nvSpPr>
          <p:cNvPr id="70" name="Google Shape;70;p29"/>
          <p:cNvSpPr txBox="1">
            <a:spLocks noGrp="1"/>
          </p:cNvSpPr>
          <p:nvPr>
            <p:ph type="title"/>
          </p:nvPr>
        </p:nvSpPr>
        <p:spPr>
          <a:xfrm>
            <a:off x="685800" y="1447800"/>
            <a:ext cx="7772400" cy="215265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007FA3"/>
              </a:buClr>
              <a:buSzPts val="3400"/>
              <a:buFont typeface="Times New Roman"/>
              <a:buNone/>
              <a:defRPr sz="3400" b="1" cap="none">
                <a:solidFill>
                  <a:srgbClr val="007FA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9"/>
          <p:cNvSpPr txBox="1">
            <a:spLocks noGrp="1"/>
          </p:cNvSpPr>
          <p:nvPr>
            <p:ph type="body" idx="1"/>
          </p:nvPr>
        </p:nvSpPr>
        <p:spPr>
          <a:xfrm>
            <a:off x="674687" y="3962400"/>
            <a:ext cx="7794627" cy="17526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600"/>
              <a:buNone/>
              <a:defRPr sz="1600">
                <a:solidFill>
                  <a:srgbClr val="007FA3"/>
                </a:solidFill>
              </a:defRPr>
            </a:lvl1pPr>
            <a:lvl2pPr marL="914400" lvl="1" indent="-228600" algn="l">
              <a:spcBef>
                <a:spcPts val="600"/>
              </a:spcBef>
              <a:spcAft>
                <a:spcPts val="0"/>
              </a:spcAft>
              <a:buSzPts val="1800"/>
              <a:buNone/>
              <a:defRPr sz="1800">
                <a:solidFill>
                  <a:srgbClr val="888888"/>
                </a:solidFill>
              </a:defRPr>
            </a:lvl2pPr>
            <a:lvl3pPr marL="1371600" lvl="2" indent="-228600" algn="l">
              <a:spcBef>
                <a:spcPts val="600"/>
              </a:spcBef>
              <a:spcAft>
                <a:spcPts val="0"/>
              </a:spcAft>
              <a:buSzPts val="1600"/>
              <a:buNone/>
              <a:defRPr sz="1600">
                <a:solidFill>
                  <a:srgbClr val="888888"/>
                </a:solidFill>
              </a:defRPr>
            </a:lvl3pPr>
            <a:lvl4pPr marL="1828800" lvl="3" indent="-228600" algn="l">
              <a:spcBef>
                <a:spcPts val="600"/>
              </a:spcBef>
              <a:spcAft>
                <a:spcPts val="0"/>
              </a:spcAft>
              <a:buSzPts val="1400"/>
              <a:buNone/>
              <a:defRPr sz="1400">
                <a:solidFill>
                  <a:srgbClr val="888888"/>
                </a:solidFill>
              </a:defRPr>
            </a:lvl4pPr>
            <a:lvl5pPr marL="2286000" lvl="4" indent="-228600" algn="l">
              <a:spcBef>
                <a:spcPts val="600"/>
              </a:spcBef>
              <a:spcAft>
                <a:spcPts val="0"/>
              </a:spcAft>
              <a:buSzPts val="1400"/>
              <a:buNone/>
              <a:defRPr sz="1400">
                <a:solidFill>
                  <a:srgbClr val="888888"/>
                </a:solidFill>
              </a:defRPr>
            </a:lvl5pPr>
            <a:lvl6pPr marL="2743200" lvl="5" indent="-228600" algn="l">
              <a:spcBef>
                <a:spcPts val="300"/>
              </a:spcBef>
              <a:spcAft>
                <a:spcPts val="0"/>
              </a:spcAft>
              <a:buSzPts val="1400"/>
              <a:buNone/>
              <a:defRPr sz="1400">
                <a:solidFill>
                  <a:srgbClr val="888888"/>
                </a:solidFill>
              </a:defRPr>
            </a:lvl6pPr>
            <a:lvl7pPr marL="3200400" lvl="6" indent="-228600" algn="l">
              <a:spcBef>
                <a:spcPts val="300"/>
              </a:spcBef>
              <a:spcAft>
                <a:spcPts val="0"/>
              </a:spcAft>
              <a:buSzPts val="1400"/>
              <a:buNone/>
              <a:defRPr sz="1400">
                <a:solidFill>
                  <a:srgbClr val="888888"/>
                </a:solidFill>
              </a:defRPr>
            </a:lvl7pPr>
            <a:lvl8pPr marL="3657600" lvl="7" indent="-228600" algn="l">
              <a:spcBef>
                <a:spcPts val="300"/>
              </a:spcBef>
              <a:spcAft>
                <a:spcPts val="0"/>
              </a:spcAft>
              <a:buSzPts val="1400"/>
              <a:buNone/>
              <a:defRPr sz="1400">
                <a:solidFill>
                  <a:srgbClr val="888888"/>
                </a:solidFill>
              </a:defRPr>
            </a:lvl8pPr>
            <a:lvl9pPr marL="4114800" lvl="8" indent="-228600" algn="l">
              <a:spcBef>
                <a:spcPts val="300"/>
              </a:spcBef>
              <a:spcAft>
                <a:spcPts val="0"/>
              </a:spcAft>
              <a:buSzPts val="1400"/>
              <a:buNone/>
              <a:defRPr sz="1400">
                <a:solidFill>
                  <a:srgbClr val="888888"/>
                </a:solidFill>
              </a:defRPr>
            </a:lvl9pPr>
          </a:lstStyle>
          <a:p>
            <a:endParaRPr/>
          </a:p>
        </p:txBody>
      </p:sp>
      <p:sp>
        <p:nvSpPr>
          <p:cNvPr id="72" name="Google Shape;72;p29"/>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9"/>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9"/>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75"/>
        <p:cNvGrpSpPr/>
        <p:nvPr/>
      </p:nvGrpSpPr>
      <p:grpSpPr>
        <a:xfrm>
          <a:off x="0" y="0"/>
          <a:ext cx="0" cy="0"/>
          <a:chOff x="0" y="0"/>
          <a:chExt cx="0" cy="0"/>
        </a:xfrm>
      </p:grpSpPr>
      <p:sp>
        <p:nvSpPr>
          <p:cNvPr id="76" name="Google Shape;76;p30"/>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0"/>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0"/>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0"/>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80"/>
        <p:cNvGrpSpPr/>
        <p:nvPr/>
      </p:nvGrpSpPr>
      <p:grpSpPr>
        <a:xfrm>
          <a:off x="0" y="0"/>
          <a:ext cx="0" cy="0"/>
          <a:chOff x="0" y="0"/>
          <a:chExt cx="0" cy="0"/>
        </a:xfrm>
      </p:grpSpPr>
      <p:sp>
        <p:nvSpPr>
          <p:cNvPr id="81" name="Google Shape;81;p31"/>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chemeClr val="dk1"/>
                </a:solidFill>
                <a:latin typeface="Arial"/>
                <a:ea typeface="Arial"/>
                <a:cs typeface="Arial"/>
                <a:sym typeface="Arial"/>
              </a:defRPr>
            </a:lvl1pPr>
            <a:lvl2pPr marL="0" lvl="1" indent="0" algn="r">
              <a:spcBef>
                <a:spcPts val="0"/>
              </a:spcBef>
              <a:buNone/>
              <a:defRPr sz="900">
                <a:solidFill>
                  <a:schemeClr val="dk1"/>
                </a:solidFill>
                <a:latin typeface="Arial"/>
                <a:ea typeface="Arial"/>
                <a:cs typeface="Arial"/>
                <a:sym typeface="Arial"/>
              </a:defRPr>
            </a:lvl2pPr>
            <a:lvl3pPr marL="0" lvl="2" indent="0" algn="r">
              <a:spcBef>
                <a:spcPts val="0"/>
              </a:spcBef>
              <a:buNone/>
              <a:defRPr sz="900">
                <a:solidFill>
                  <a:schemeClr val="dk1"/>
                </a:solidFill>
                <a:latin typeface="Arial"/>
                <a:ea typeface="Arial"/>
                <a:cs typeface="Arial"/>
                <a:sym typeface="Arial"/>
              </a:defRPr>
            </a:lvl3pPr>
            <a:lvl4pPr marL="0" lvl="3" indent="0" algn="r">
              <a:spcBef>
                <a:spcPts val="0"/>
              </a:spcBef>
              <a:buNone/>
              <a:defRPr sz="900">
                <a:solidFill>
                  <a:schemeClr val="dk1"/>
                </a:solidFill>
                <a:latin typeface="Arial"/>
                <a:ea typeface="Arial"/>
                <a:cs typeface="Arial"/>
                <a:sym typeface="Arial"/>
              </a:defRPr>
            </a:lvl4pPr>
            <a:lvl5pPr marL="0" lvl="4" indent="0" algn="r">
              <a:spcBef>
                <a:spcPts val="0"/>
              </a:spcBef>
              <a:buNone/>
              <a:defRPr sz="900">
                <a:solidFill>
                  <a:schemeClr val="dk1"/>
                </a:solidFill>
                <a:latin typeface="Arial"/>
                <a:ea typeface="Arial"/>
                <a:cs typeface="Arial"/>
                <a:sym typeface="Arial"/>
              </a:defRPr>
            </a:lvl5pPr>
            <a:lvl6pPr marL="0" lvl="5" indent="0" algn="r">
              <a:spcBef>
                <a:spcPts val="0"/>
              </a:spcBef>
              <a:buNone/>
              <a:defRPr sz="900">
                <a:solidFill>
                  <a:schemeClr val="dk1"/>
                </a:solidFill>
                <a:latin typeface="Arial"/>
                <a:ea typeface="Arial"/>
                <a:cs typeface="Arial"/>
                <a:sym typeface="Arial"/>
              </a:defRPr>
            </a:lvl6pPr>
            <a:lvl7pPr marL="0" lvl="6" indent="0" algn="r">
              <a:spcBef>
                <a:spcPts val="0"/>
              </a:spcBef>
              <a:buNone/>
              <a:defRPr sz="900">
                <a:solidFill>
                  <a:schemeClr val="dk1"/>
                </a:solidFill>
                <a:latin typeface="Arial"/>
                <a:ea typeface="Arial"/>
                <a:cs typeface="Arial"/>
                <a:sym typeface="Arial"/>
              </a:defRPr>
            </a:lvl7pPr>
            <a:lvl8pPr marL="0" lvl="7" indent="0" algn="r">
              <a:spcBef>
                <a:spcPts val="0"/>
              </a:spcBef>
              <a:buNone/>
              <a:defRPr sz="900">
                <a:solidFill>
                  <a:schemeClr val="dk1"/>
                </a:solidFill>
                <a:latin typeface="Arial"/>
                <a:ea typeface="Arial"/>
                <a:cs typeface="Arial"/>
                <a:sym typeface="Arial"/>
              </a:defRPr>
            </a:lvl8pPr>
            <a:lvl9pPr marL="0" lvl="8" indent="0" algn="r">
              <a:spcBef>
                <a:spcPts val="0"/>
              </a:spcBef>
              <a:buNone/>
              <a:defRPr sz="9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84" name="Google Shape;84;p31" descr="Pearson Logo"/>
          <p:cNvPicPr preferRelativeResize="0"/>
          <p:nvPr/>
        </p:nvPicPr>
        <p:blipFill rotWithShape="1">
          <a:blip r:embed="rId2">
            <a:alphaModFix/>
          </a:blip>
          <a:srcRect/>
          <a:stretch/>
        </p:blipFill>
        <p:spPr>
          <a:xfrm>
            <a:off x="500410" y="6376789"/>
            <a:ext cx="918000" cy="279915"/>
          </a:xfrm>
          <a:prstGeom prst="rect">
            <a:avLst/>
          </a:prstGeom>
          <a:noFill/>
          <a:ln>
            <a:noFill/>
          </a:ln>
        </p:spPr>
      </p:pic>
      <p:sp>
        <p:nvSpPr>
          <p:cNvPr id="85" name="Google Shape;85;p31"/>
          <p:cNvSpPr txBox="1"/>
          <p:nvPr/>
        </p:nvSpPr>
        <p:spPr>
          <a:xfrm>
            <a:off x="1600200" y="6429345"/>
            <a:ext cx="7162800" cy="20005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700"/>
              <a:buFont typeface="Arial"/>
              <a:buNone/>
            </a:pPr>
            <a:r>
              <a:rPr lang="en-US" sz="700" b="1">
                <a:solidFill>
                  <a:schemeClr val="dk1"/>
                </a:solidFill>
                <a:latin typeface="Arial"/>
                <a:ea typeface="Arial"/>
                <a:cs typeface="Arial"/>
                <a:sym typeface="Arial"/>
              </a:rPr>
              <a:t>Copyright © 2018 Pearson India Education Services Pvt. Ltd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g371ef01706b_0_75"/>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92" name="Google Shape;92;g371ef01706b_0_75"/>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93" name="Google Shape;93;g371ef01706b_0_7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4"/>
        <p:cNvGrpSpPr/>
        <p:nvPr/>
      </p:nvGrpSpPr>
      <p:grpSpPr>
        <a:xfrm>
          <a:off x="0" y="0"/>
          <a:ext cx="0" cy="0"/>
          <a:chOff x="0" y="0"/>
          <a:chExt cx="0" cy="0"/>
        </a:xfrm>
      </p:grpSpPr>
      <p:sp>
        <p:nvSpPr>
          <p:cNvPr id="95" name="Google Shape;95;g371ef01706b_0_79"/>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6" name="Google Shape;96;g371ef01706b_0_7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sp>
        <p:nvSpPr>
          <p:cNvPr id="98" name="Google Shape;98;g371ef01706b_0_82"/>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9" name="Google Shape;99;g371ef01706b_0_8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00" name="Google Shape;100;g371ef01706b_0_8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
        <p:cNvGrpSpPr/>
        <p:nvPr/>
      </p:nvGrpSpPr>
      <p:grpSpPr>
        <a:xfrm>
          <a:off x="0" y="0"/>
          <a:ext cx="0" cy="0"/>
          <a:chOff x="0" y="0"/>
          <a:chExt cx="0" cy="0"/>
        </a:xfrm>
      </p:grpSpPr>
      <p:sp>
        <p:nvSpPr>
          <p:cNvPr id="102" name="Google Shape;102;g371ef01706b_0_86"/>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3" name="Google Shape;103;g371ef01706b_0_86"/>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4" name="Google Shape;104;g371ef01706b_0_86"/>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5" name="Google Shape;105;g371ef01706b_0_8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g371ef01706b_0_91"/>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8" name="Google Shape;108;g371ef01706b_0_9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9"/>
        <p:cNvGrpSpPr/>
        <p:nvPr/>
      </p:nvGrpSpPr>
      <p:grpSpPr>
        <a:xfrm>
          <a:off x="0" y="0"/>
          <a:ext cx="0" cy="0"/>
          <a:chOff x="0" y="0"/>
          <a:chExt cx="0" cy="0"/>
        </a:xfrm>
      </p:grpSpPr>
      <p:sp>
        <p:nvSpPr>
          <p:cNvPr id="110" name="Google Shape;110;g371ef01706b_0_94"/>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1" name="Google Shape;111;g371ef01706b_0_94"/>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2" name="Google Shape;112;g371ef01706b_0_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3"/>
        <p:cNvGrpSpPr/>
        <p:nvPr/>
      </p:nvGrpSpPr>
      <p:grpSpPr>
        <a:xfrm>
          <a:off x="0" y="0"/>
          <a:ext cx="0" cy="0"/>
          <a:chOff x="0" y="0"/>
          <a:chExt cx="0" cy="0"/>
        </a:xfrm>
      </p:grpSpPr>
      <p:sp>
        <p:nvSpPr>
          <p:cNvPr id="114" name="Google Shape;114;g371ef01706b_0_98"/>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15" name="Google Shape;115;g371ef01706b_0_9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6"/>
        <p:cNvGrpSpPr/>
        <p:nvPr/>
      </p:nvGrpSpPr>
      <p:grpSpPr>
        <a:xfrm>
          <a:off x="0" y="0"/>
          <a:ext cx="0" cy="0"/>
          <a:chOff x="0" y="0"/>
          <a:chExt cx="0" cy="0"/>
        </a:xfrm>
      </p:grpSpPr>
      <p:sp>
        <p:nvSpPr>
          <p:cNvPr id="117" name="Google Shape;117;g371ef01706b_0_101"/>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g371ef01706b_0_101"/>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19" name="Google Shape;119;g371ef01706b_0_101"/>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0" name="Google Shape;120;g371ef01706b_0_101"/>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21" name="Google Shape;121;g371ef01706b_0_10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2"/>
        <p:cNvGrpSpPr/>
        <p:nvPr/>
      </p:nvGrpSpPr>
      <p:grpSpPr>
        <a:xfrm>
          <a:off x="0" y="0"/>
          <a:ext cx="0" cy="0"/>
          <a:chOff x="0" y="0"/>
          <a:chExt cx="0" cy="0"/>
        </a:xfrm>
      </p:grpSpPr>
      <p:sp>
        <p:nvSpPr>
          <p:cNvPr id="123" name="Google Shape;123;g371ef01706b_0_107"/>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24" name="Google Shape;124;g371ef01706b_0_10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5"/>
        <p:cNvGrpSpPr/>
        <p:nvPr/>
      </p:nvGrpSpPr>
      <p:grpSpPr>
        <a:xfrm>
          <a:off x="0" y="0"/>
          <a:ext cx="0" cy="0"/>
          <a:chOff x="0" y="0"/>
          <a:chExt cx="0" cy="0"/>
        </a:xfrm>
      </p:grpSpPr>
      <p:sp>
        <p:nvSpPr>
          <p:cNvPr id="126" name="Google Shape;126;g371ef01706b_0_110"/>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7" name="Google Shape;127;g371ef01706b_0_110"/>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28" name="Google Shape;128;g371ef01706b_0_1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g371ef01706b_0_11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1"/>
        <p:cNvGrpSpPr/>
        <p:nvPr/>
      </p:nvGrpSpPr>
      <p:grpSpPr>
        <a:xfrm>
          <a:off x="0" y="0"/>
          <a:ext cx="0" cy="0"/>
          <a:chOff x="0" y="0"/>
          <a:chExt cx="0" cy="0"/>
        </a:xfrm>
      </p:grpSpPr>
      <p:sp>
        <p:nvSpPr>
          <p:cNvPr id="132" name="Google Shape;132;g371ef01706b_0_116"/>
          <p:cNvSpPr txBox="1">
            <a:spLocks noGrp="1"/>
          </p:cNvSpPr>
          <p:nvPr>
            <p:ph type="title"/>
          </p:nvPr>
        </p:nvSpPr>
        <p:spPr>
          <a:xfrm>
            <a:off x="628650" y="365125"/>
            <a:ext cx="7886700" cy="13257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3" name="Google Shape;133;g371ef01706b_0_116"/>
          <p:cNvSpPr txBox="1">
            <a:spLocks noGrp="1"/>
          </p:cNvSpPr>
          <p:nvPr>
            <p:ph type="body" idx="1"/>
          </p:nvPr>
        </p:nvSpPr>
        <p:spPr>
          <a:xfrm>
            <a:off x="628650" y="1825625"/>
            <a:ext cx="7886700" cy="4351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134" name="Google Shape;134;g371ef01706b_0_116"/>
          <p:cNvSpPr txBox="1">
            <a:spLocks noGrp="1"/>
          </p:cNvSpPr>
          <p:nvPr>
            <p:ph type="dt" idx="10"/>
          </p:nvPr>
        </p:nvSpPr>
        <p:spPr>
          <a:xfrm>
            <a:off x="628650" y="6356350"/>
            <a:ext cx="2057400" cy="3651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135" name="Google Shape;135;g371ef01706b_0_116"/>
          <p:cNvSpPr txBox="1">
            <a:spLocks noGrp="1"/>
          </p:cNvSpPr>
          <p:nvPr>
            <p:ph type="ftr" idx="11"/>
          </p:nvPr>
        </p:nvSpPr>
        <p:spPr>
          <a:xfrm>
            <a:off x="3028950" y="6356350"/>
            <a:ext cx="3086100" cy="3651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136" name="Google Shape;136;g371ef01706b_0_116"/>
          <p:cNvSpPr txBox="1">
            <a:spLocks noGrp="1"/>
          </p:cNvSpPr>
          <p:nvPr>
            <p:ph type="sldNum" idx="12"/>
          </p:nvPr>
        </p:nvSpPr>
        <p:spPr>
          <a:xfrm>
            <a:off x="6457950" y="6356350"/>
            <a:ext cx="2057400" cy="3651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21"/>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1"/>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1"/>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0" marR="0" lvl="1" indent="0" algn="r" rtl="0">
              <a:spcBef>
                <a:spcPts val="0"/>
              </a:spcBef>
              <a:buNone/>
              <a:defRPr sz="900" b="0" i="0" u="none" strike="noStrike" cap="none">
                <a:solidFill>
                  <a:schemeClr val="lt1"/>
                </a:solidFill>
                <a:latin typeface="Arial"/>
                <a:ea typeface="Arial"/>
                <a:cs typeface="Arial"/>
                <a:sym typeface="Arial"/>
              </a:defRPr>
            </a:lvl2pPr>
            <a:lvl3pPr marL="0" marR="0" lvl="2" indent="0" algn="r" rtl="0">
              <a:spcBef>
                <a:spcPts val="0"/>
              </a:spcBef>
              <a:buNone/>
              <a:defRPr sz="900" b="0" i="0" u="none" strike="noStrike" cap="none">
                <a:solidFill>
                  <a:schemeClr val="lt1"/>
                </a:solidFill>
                <a:latin typeface="Arial"/>
                <a:ea typeface="Arial"/>
                <a:cs typeface="Arial"/>
                <a:sym typeface="Arial"/>
              </a:defRPr>
            </a:lvl3pPr>
            <a:lvl4pPr marL="0" marR="0" lvl="3" indent="0" algn="r" rtl="0">
              <a:spcBef>
                <a:spcPts val="0"/>
              </a:spcBef>
              <a:buNone/>
              <a:defRPr sz="900" b="0" i="0" u="none" strike="noStrike" cap="none">
                <a:solidFill>
                  <a:schemeClr val="lt1"/>
                </a:solidFill>
                <a:latin typeface="Arial"/>
                <a:ea typeface="Arial"/>
                <a:cs typeface="Arial"/>
                <a:sym typeface="Arial"/>
              </a:defRPr>
            </a:lvl4pPr>
            <a:lvl5pPr marL="0" marR="0" lvl="4" indent="0" algn="r" rtl="0">
              <a:spcBef>
                <a:spcPts val="0"/>
              </a:spcBef>
              <a:buNone/>
              <a:defRPr sz="900" b="0" i="0" u="none" strike="noStrike" cap="none">
                <a:solidFill>
                  <a:schemeClr val="lt1"/>
                </a:solidFill>
                <a:latin typeface="Arial"/>
                <a:ea typeface="Arial"/>
                <a:cs typeface="Arial"/>
                <a:sym typeface="Arial"/>
              </a:defRPr>
            </a:lvl5pPr>
            <a:lvl6pPr marL="0" marR="0" lvl="5" indent="0" algn="r" rtl="0">
              <a:spcBef>
                <a:spcPts val="0"/>
              </a:spcBef>
              <a:buNone/>
              <a:defRPr sz="900" b="0" i="0" u="none" strike="noStrike" cap="none">
                <a:solidFill>
                  <a:schemeClr val="lt1"/>
                </a:solidFill>
                <a:latin typeface="Arial"/>
                <a:ea typeface="Arial"/>
                <a:cs typeface="Arial"/>
                <a:sym typeface="Arial"/>
              </a:defRPr>
            </a:lvl6pPr>
            <a:lvl7pPr marL="0" marR="0" lvl="6" indent="0" algn="r" rtl="0">
              <a:spcBef>
                <a:spcPts val="0"/>
              </a:spcBef>
              <a:buNone/>
              <a:defRPr sz="900" b="0" i="0" u="none" strike="noStrike" cap="none">
                <a:solidFill>
                  <a:schemeClr val="lt1"/>
                </a:solidFill>
                <a:latin typeface="Arial"/>
                <a:ea typeface="Arial"/>
                <a:cs typeface="Arial"/>
                <a:sym typeface="Arial"/>
              </a:defRPr>
            </a:lvl7pPr>
            <a:lvl8pPr marL="0" marR="0" lvl="7" indent="0" algn="r" rtl="0">
              <a:spcBef>
                <a:spcPts val="0"/>
              </a:spcBef>
              <a:buNone/>
              <a:defRPr sz="900" b="0" i="0" u="none" strike="noStrike" cap="none">
                <a:solidFill>
                  <a:schemeClr val="lt1"/>
                </a:solidFill>
                <a:latin typeface="Arial"/>
                <a:ea typeface="Arial"/>
                <a:cs typeface="Arial"/>
                <a:sym typeface="Arial"/>
              </a:defRPr>
            </a:lvl8pPr>
            <a:lvl9pPr marL="0" marR="0" lvl="8" indent="0" algn="r" rtl="0">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21" descr="Pearson Logo"/>
          <p:cNvPicPr preferRelativeResize="0"/>
          <p:nvPr/>
        </p:nvPicPr>
        <p:blipFill rotWithShape="1">
          <a:blip r:embed="rId12">
            <a:alphaModFix/>
          </a:blip>
          <a:srcRect/>
          <a:stretch/>
        </p:blipFill>
        <p:spPr>
          <a:xfrm>
            <a:off x="457200" y="6376789"/>
            <a:ext cx="918000" cy="279915"/>
          </a:xfrm>
          <a:prstGeom prst="rect">
            <a:avLst/>
          </a:prstGeom>
          <a:noFill/>
          <a:ln>
            <a:noFill/>
          </a:ln>
        </p:spPr>
      </p:pic>
      <p:sp>
        <p:nvSpPr>
          <p:cNvPr id="16" name="Google Shape;16;p21"/>
          <p:cNvSpPr txBox="1"/>
          <p:nvPr/>
        </p:nvSpPr>
        <p:spPr>
          <a:xfrm>
            <a:off x="1600200" y="6429345"/>
            <a:ext cx="7162800" cy="20005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700"/>
              <a:buFont typeface="Arial"/>
              <a:buNone/>
            </a:pPr>
            <a:r>
              <a:rPr lang="en-US" sz="700" b="1" i="0" u="none" strike="noStrike" cap="none">
                <a:solidFill>
                  <a:schemeClr val="dk1"/>
                </a:solidFill>
                <a:latin typeface="Arial"/>
                <a:ea typeface="Arial"/>
                <a:cs typeface="Arial"/>
                <a:sym typeface="Arial"/>
              </a:rPr>
              <a:t>Copyright © 2018 Pearson India Education Services Pvt. Ltd</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6"/>
        <p:cNvGrpSpPr/>
        <p:nvPr/>
      </p:nvGrpSpPr>
      <p:grpSpPr>
        <a:xfrm>
          <a:off x="0" y="0"/>
          <a:ext cx="0" cy="0"/>
          <a:chOff x="0" y="0"/>
          <a:chExt cx="0" cy="0"/>
        </a:xfrm>
      </p:grpSpPr>
      <p:sp>
        <p:nvSpPr>
          <p:cNvPr id="87" name="Google Shape;87;g371ef01706b_0_7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88" name="Google Shape;88;g371ef01706b_0_7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9" name="Google Shape;89;g371ef01706b_0_7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pSp>
        <p:nvGrpSpPr>
          <p:cNvPr id="141" name="Google Shape;141;g371ef01706b_0_61"/>
          <p:cNvGrpSpPr/>
          <p:nvPr/>
        </p:nvGrpSpPr>
        <p:grpSpPr>
          <a:xfrm>
            <a:off x="275626" y="304356"/>
            <a:ext cx="8592749" cy="6249143"/>
            <a:chOff x="246976" y="233573"/>
            <a:chExt cx="8592749" cy="4686974"/>
          </a:xfrm>
        </p:grpSpPr>
        <p:pic>
          <p:nvPicPr>
            <p:cNvPr id="142" name="Google Shape;142;g371ef01706b_0_61"/>
            <p:cNvPicPr preferRelativeResize="0"/>
            <p:nvPr/>
          </p:nvPicPr>
          <p:blipFill rotWithShape="1">
            <a:blip r:embed="rId3">
              <a:alphaModFix/>
            </a:blip>
            <a:srcRect/>
            <a:stretch/>
          </p:blipFill>
          <p:spPr>
            <a:xfrm>
              <a:off x="481350" y="1424875"/>
              <a:ext cx="2760100" cy="2760100"/>
            </a:xfrm>
            <a:prstGeom prst="rect">
              <a:avLst/>
            </a:prstGeom>
            <a:noFill/>
            <a:ln>
              <a:noFill/>
            </a:ln>
          </p:spPr>
        </p:pic>
        <p:sp>
          <p:nvSpPr>
            <p:cNvPr id="143" name="Google Shape;143;g371ef01706b_0_61"/>
            <p:cNvSpPr/>
            <p:nvPr/>
          </p:nvSpPr>
          <p:spPr>
            <a:xfrm>
              <a:off x="7875464" y="233573"/>
              <a:ext cx="964261" cy="891156"/>
            </a:xfrm>
            <a:custGeom>
              <a:avLst/>
              <a:gdLst/>
              <a:ahLst/>
              <a:cxnLst/>
              <a:rect l="l" t="t" r="r" b="b"/>
              <a:pathLst>
                <a:path w="504189" h="504190" extrusionOk="0">
                  <a:moveTo>
                    <a:pt x="0" y="0"/>
                  </a:moveTo>
                  <a:lnTo>
                    <a:pt x="504006" y="0"/>
                  </a:lnTo>
                  <a:lnTo>
                    <a:pt x="504006" y="504006"/>
                  </a:lnTo>
                </a:path>
              </a:pathLst>
            </a:custGeom>
            <a:noFill/>
            <a:ln w="19800"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1">
                <a:solidFill>
                  <a:srgbClr val="000000"/>
                </a:solidFill>
                <a:latin typeface="Calibri"/>
                <a:ea typeface="Calibri"/>
                <a:cs typeface="Calibri"/>
                <a:sym typeface="Calibri"/>
              </a:endParaRPr>
            </a:p>
          </p:txBody>
        </p:sp>
        <p:sp>
          <p:nvSpPr>
            <p:cNvPr id="144" name="Google Shape;144;g371ef01706b_0_61"/>
            <p:cNvSpPr/>
            <p:nvPr/>
          </p:nvSpPr>
          <p:spPr>
            <a:xfrm>
              <a:off x="246976" y="4029393"/>
              <a:ext cx="964263" cy="891154"/>
            </a:xfrm>
            <a:custGeom>
              <a:avLst/>
              <a:gdLst/>
              <a:ahLst/>
              <a:cxnLst/>
              <a:rect l="l" t="t" r="r" b="b"/>
              <a:pathLst>
                <a:path w="504190" h="504189" extrusionOk="0">
                  <a:moveTo>
                    <a:pt x="0" y="0"/>
                  </a:moveTo>
                  <a:lnTo>
                    <a:pt x="0" y="504006"/>
                  </a:lnTo>
                  <a:lnTo>
                    <a:pt x="504006" y="504006"/>
                  </a:lnTo>
                </a:path>
              </a:pathLst>
            </a:custGeom>
            <a:noFill/>
            <a:ln w="19800"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g371ef01706b_0_61"/>
            <p:cNvSpPr txBox="1"/>
            <p:nvPr/>
          </p:nvSpPr>
          <p:spPr>
            <a:xfrm>
              <a:off x="3241450" y="1424875"/>
              <a:ext cx="5061000" cy="789900"/>
            </a:xfrm>
            <a:prstGeom prst="rect">
              <a:avLst/>
            </a:prstGeom>
            <a:noFill/>
            <a:ln>
              <a:noFill/>
            </a:ln>
          </p:spPr>
          <p:txBody>
            <a:bodyPr spcFirstLastPara="1" wrap="square" lIns="91425" tIns="91425" rIns="91425" bIns="91425" anchor="t" anchorCtr="0">
              <a:spAutoFit/>
            </a:bodyPr>
            <a:lstStyle/>
            <a:p>
              <a:pPr marL="12700" marR="5080" lvl="0" indent="0" algn="l" rtl="0">
                <a:lnSpc>
                  <a:spcPct val="117000"/>
                </a:lnSpc>
                <a:spcBef>
                  <a:spcPts val="0"/>
                </a:spcBef>
                <a:spcAft>
                  <a:spcPts val="0"/>
                </a:spcAft>
                <a:buNone/>
              </a:pPr>
              <a:r>
                <a:rPr lang="en-US" sz="2600" b="1">
                  <a:solidFill>
                    <a:srgbClr val="C55911"/>
                  </a:solidFill>
                  <a:latin typeface="Times New Roman"/>
                  <a:ea typeface="Times New Roman"/>
                  <a:cs typeface="Times New Roman"/>
                  <a:sym typeface="Times New Roman"/>
                </a:rPr>
                <a:t>DIGITAL DESIGN AND  COMPUTER ORGANIZATION</a:t>
              </a:r>
              <a:endParaRPr sz="2600">
                <a:solidFill>
                  <a:schemeClr val="dk1"/>
                </a:solidFill>
                <a:latin typeface="Times New Roman"/>
                <a:ea typeface="Times New Roman"/>
                <a:cs typeface="Times New Roman"/>
                <a:sym typeface="Times New Roman"/>
              </a:endParaRPr>
            </a:p>
          </p:txBody>
        </p:sp>
        <p:sp>
          <p:nvSpPr>
            <p:cNvPr id="146" name="Google Shape;146;g371ef01706b_0_61"/>
            <p:cNvSpPr txBox="1"/>
            <p:nvPr/>
          </p:nvSpPr>
          <p:spPr>
            <a:xfrm>
              <a:off x="3241450" y="2477875"/>
              <a:ext cx="5384700" cy="1253766"/>
            </a:xfrm>
            <a:prstGeom prst="rect">
              <a:avLst/>
            </a:prstGeom>
            <a:noFill/>
            <a:ln>
              <a:noFill/>
            </a:ln>
          </p:spPr>
          <p:txBody>
            <a:bodyPr spcFirstLastPara="1" wrap="square" lIns="91425" tIns="91425" rIns="91425" bIns="91425" anchor="t" anchorCtr="0">
              <a:spAutoFit/>
            </a:bodyPr>
            <a:lstStyle/>
            <a:p>
              <a:pPr marL="26841" lvl="0" indent="0" algn="l" rtl="0">
                <a:spcBef>
                  <a:spcPts val="0"/>
                </a:spcBef>
                <a:spcAft>
                  <a:spcPts val="0"/>
                </a:spcAft>
                <a:buNone/>
              </a:pPr>
              <a:r>
                <a:rPr lang="en-US" sz="2593" b="1" dirty="0">
                  <a:solidFill>
                    <a:srgbClr val="2E5497"/>
                  </a:solidFill>
                  <a:latin typeface="Times New Roman"/>
                  <a:ea typeface="Times New Roman"/>
                  <a:cs typeface="Times New Roman"/>
                  <a:sym typeface="Times New Roman"/>
                </a:rPr>
                <a:t>Other counters</a:t>
              </a:r>
              <a:endParaRPr sz="2593" dirty="0">
                <a:solidFill>
                  <a:schemeClr val="dk1"/>
                </a:solidFill>
                <a:latin typeface="Times New Roman"/>
                <a:ea typeface="Times New Roman"/>
                <a:cs typeface="Times New Roman"/>
                <a:sym typeface="Times New Roman"/>
              </a:endParaRPr>
            </a:p>
            <a:p>
              <a:pPr marL="0" lvl="0" indent="0" algn="l" rtl="0">
                <a:spcBef>
                  <a:spcPts val="11"/>
                </a:spcBef>
                <a:spcAft>
                  <a:spcPts val="0"/>
                </a:spcAft>
                <a:buNone/>
              </a:pPr>
              <a:endParaRPr sz="1959" dirty="0">
                <a:solidFill>
                  <a:schemeClr val="dk1"/>
                </a:solidFill>
                <a:latin typeface="Times New Roman"/>
                <a:ea typeface="Times New Roman"/>
                <a:cs typeface="Times New Roman"/>
                <a:sym typeface="Times New Roman"/>
              </a:endParaRPr>
            </a:p>
            <a:p>
              <a:pPr marL="26841" marR="10736" lvl="0" indent="0" algn="l" rtl="0">
                <a:lnSpc>
                  <a:spcPct val="115851"/>
                </a:lnSpc>
                <a:spcBef>
                  <a:spcPts val="1268"/>
                </a:spcBef>
                <a:spcAft>
                  <a:spcPts val="0"/>
                </a:spcAft>
                <a:buNone/>
              </a:pPr>
              <a:r>
                <a:rPr lang="en-US" sz="1736" b="1" dirty="0">
                  <a:solidFill>
                    <a:schemeClr val="dk1"/>
                  </a:solidFill>
                  <a:latin typeface="Times New Roman"/>
                  <a:ea typeface="Times New Roman"/>
                  <a:cs typeface="Times New Roman"/>
                  <a:sym typeface="Times New Roman"/>
                </a:rPr>
                <a:t>Team DDCO</a:t>
              </a:r>
              <a:br>
                <a:rPr lang="en-US" sz="600" b="1" dirty="0">
                  <a:solidFill>
                    <a:schemeClr val="dk1"/>
                  </a:solidFill>
                  <a:latin typeface="Times New Roman"/>
                  <a:ea typeface="Times New Roman"/>
                  <a:cs typeface="Times New Roman"/>
                  <a:sym typeface="Times New Roman"/>
                </a:rPr>
              </a:br>
              <a:r>
                <a:rPr lang="en-US" sz="1736" b="1" dirty="0">
                  <a:solidFill>
                    <a:schemeClr val="dk1"/>
                  </a:solidFill>
                  <a:latin typeface="Times New Roman"/>
                  <a:ea typeface="Times New Roman"/>
                  <a:cs typeface="Times New Roman"/>
                  <a:sym typeface="Times New Roman"/>
                </a:rPr>
                <a:t>Department of Computer Science and Engineering</a:t>
              </a:r>
              <a:endParaRPr sz="1736" b="1" dirty="0">
                <a:solidFill>
                  <a:schemeClr val="dk1"/>
                </a:solidFill>
                <a:latin typeface="Times New Roman"/>
                <a:ea typeface="Times New Roman"/>
                <a:cs typeface="Times New Roman"/>
                <a:sym typeface="Times New Roman"/>
              </a:endParaRPr>
            </a:p>
          </p:txBody>
        </p:sp>
        <p:sp>
          <p:nvSpPr>
            <p:cNvPr id="147" name="Google Shape;147;g371ef01706b_0_61"/>
            <p:cNvSpPr/>
            <p:nvPr/>
          </p:nvSpPr>
          <p:spPr>
            <a:xfrm>
              <a:off x="3394624" y="3087772"/>
              <a:ext cx="4563570" cy="0"/>
            </a:xfrm>
            <a:custGeom>
              <a:avLst/>
              <a:gdLst/>
              <a:ahLst/>
              <a:cxnLst/>
              <a:rect l="l" t="t" r="r" b="b"/>
              <a:pathLst>
                <a:path w="2160270" h="120000" extrusionOk="0">
                  <a:moveTo>
                    <a:pt x="0" y="0"/>
                  </a:moveTo>
                  <a:lnTo>
                    <a:pt x="2160027" y="0"/>
                  </a:lnTo>
                </a:path>
              </a:pathLst>
            </a:custGeom>
            <a:noFill/>
            <a:ln w="19800"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804">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1"/>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154" name="Google Shape;154;p1"/>
          <p:cNvSpPr txBox="1"/>
          <p:nvPr/>
        </p:nvSpPr>
        <p:spPr>
          <a:xfrm>
            <a:off x="304800" y="1295400"/>
            <a:ext cx="8077200" cy="50167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u="none" strike="noStrike" cap="none" dirty="0">
                <a:solidFill>
                  <a:schemeClr val="dk1"/>
                </a:solidFill>
                <a:latin typeface="Arial"/>
                <a:ea typeface="Arial"/>
                <a:cs typeface="Arial"/>
                <a:sym typeface="Arial"/>
              </a:rPr>
              <a:t>Counters can be designed to generate any desired sequence of states. A divide‐by‐ N counter (also known as a modulo‐ N counter) is a counter that goes through a repeated sequence of N states.</a:t>
            </a:r>
          </a:p>
          <a:p>
            <a:pPr marL="0" marR="0" lvl="0" indent="0" algn="just" rtl="0">
              <a:spcBef>
                <a:spcPts val="0"/>
              </a:spcBef>
              <a:spcAft>
                <a:spcPts val="0"/>
              </a:spcAft>
              <a:buNone/>
            </a:pPr>
            <a:endParaRPr lang="en-US" sz="2000" dirty="0">
              <a:solidFill>
                <a:schemeClr val="dk1"/>
              </a:solidFill>
            </a:endParaRPr>
          </a:p>
          <a:p>
            <a:pPr lvl="0" algn="just"/>
            <a:r>
              <a:rPr lang="en-US" sz="2000" dirty="0">
                <a:solidFill>
                  <a:schemeClr val="dk1"/>
                </a:solidFill>
              </a:rPr>
              <a:t>A circuit with n flip‐flops has 2</a:t>
            </a:r>
            <a:r>
              <a:rPr lang="en-US" sz="2000" baseline="30000" dirty="0">
                <a:solidFill>
                  <a:schemeClr val="dk1"/>
                </a:solidFill>
              </a:rPr>
              <a:t>n</a:t>
            </a:r>
            <a:r>
              <a:rPr lang="en-US" sz="2000" dirty="0">
                <a:solidFill>
                  <a:schemeClr val="dk1"/>
                </a:solidFill>
              </a:rPr>
              <a:t> binary states. There are occasions when a sequential circuit uses fewer than this maximum possible number of states. </a:t>
            </a:r>
            <a:r>
              <a:rPr lang="en-US" sz="2000" b="1" dirty="0">
                <a:solidFill>
                  <a:schemeClr val="dk1"/>
                </a:solidFill>
              </a:rPr>
              <a:t>States that are not used in specifying the sequential circuit are not listed in the state table. In simplifying the input equations, the unused states may be treated as don’t‐care conditions or may be assigned specific next states.</a:t>
            </a:r>
            <a:endParaRPr lang="en-US" sz="2000" dirty="0"/>
          </a:p>
          <a:p>
            <a:pPr lvl="0" algn="just"/>
            <a:endParaRPr lang="en-US" sz="2000" dirty="0">
              <a:solidFill>
                <a:schemeClr val="dk1"/>
              </a:solidFill>
            </a:endParaRPr>
          </a:p>
          <a:p>
            <a:pPr lvl="0" algn="just"/>
            <a:r>
              <a:rPr lang="en-US" sz="2000" dirty="0">
                <a:solidFill>
                  <a:schemeClr val="dk1"/>
                </a:solidFill>
              </a:rPr>
              <a:t>it is necessary to ensure that the circuit eventually goes into one of the valid states so that it can resume normal operation. Otherwise, if the sequential circuit circulates among unused states, there will be no way to bring it back to its intended sequence of state transitions</a:t>
            </a:r>
          </a:p>
          <a:p>
            <a:pPr marL="0" marR="0" lvl="0" indent="0" algn="just" rtl="0">
              <a:spcBef>
                <a:spcPts val="0"/>
              </a:spcBef>
              <a:spcAft>
                <a:spcPts val="0"/>
              </a:spcAft>
              <a:buNone/>
            </a:pPr>
            <a:endParaRPr sz="2000" dirty="0">
              <a:solidFill>
                <a:schemeClr val="dk1"/>
              </a:solidFill>
              <a:latin typeface="Arial"/>
              <a:ea typeface="Arial"/>
              <a:cs typeface="Arial"/>
              <a:sym typeface="Arial"/>
            </a:endParaRPr>
          </a:p>
        </p:txBody>
      </p:sp>
      <p:sp>
        <p:nvSpPr>
          <p:cNvPr id="155" name="Google Shape;155;p1"/>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Other Counters(T1 section 6.5)</a:t>
            </a:r>
          </a:p>
          <a:p>
            <a:pPr marL="0" lvl="0" indent="0" algn="l" rtl="0">
              <a:spcBef>
                <a:spcPts val="0"/>
              </a:spcBef>
              <a:spcAft>
                <a:spcPts val="0"/>
              </a:spcAft>
              <a:buNone/>
            </a:pPr>
            <a:endParaRPr sz="3020" b="1" dirty="0">
              <a:solidFill>
                <a:srgbClr val="C55911"/>
              </a:solidFill>
              <a:latin typeface="Times New Roman"/>
              <a:ea typeface="Times New Roman"/>
              <a:cs typeface="Times New Roman"/>
              <a:sym typeface="Times New Roman"/>
            </a:endParaRPr>
          </a:p>
        </p:txBody>
      </p:sp>
      <p:cxnSp>
        <p:nvCxnSpPr>
          <p:cNvPr id="156" name="Google Shape;156;p1"/>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157" name="Google Shape;157;p1"/>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3"/>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174" name="Google Shape;174;p3"/>
          <p:cNvSpPr txBox="1"/>
          <p:nvPr/>
        </p:nvSpPr>
        <p:spPr>
          <a:xfrm>
            <a:off x="685800" y="1371600"/>
            <a:ext cx="7159894" cy="2862282"/>
          </a:xfrm>
          <a:prstGeom prst="rect">
            <a:avLst/>
          </a:prstGeom>
          <a:noFill/>
          <a:ln>
            <a:noFill/>
          </a:ln>
        </p:spPr>
        <p:txBody>
          <a:bodyPr spcFirstLastPara="1" wrap="square" lIns="91425" tIns="45700" rIns="91425" bIns="45700" anchor="t" anchorCtr="0">
            <a:spAutoFit/>
          </a:bodyPr>
          <a:lstStyle/>
          <a:p>
            <a:pPr lvl="0" algn="just"/>
            <a:r>
              <a:rPr lang="en-US" sz="2000" dirty="0"/>
              <a:t>A circuit with n flip‐flops has 2n binary states. There are occasions when a sequential circuit uses fewer than this maximum possible number of states. States that are not used </a:t>
            </a:r>
          </a:p>
          <a:p>
            <a:pPr lvl="0" algn="just"/>
            <a:r>
              <a:rPr lang="en-US" sz="2000" dirty="0">
                <a:solidFill>
                  <a:schemeClr val="dk1"/>
                </a:solidFill>
                <a:latin typeface="Arial"/>
                <a:ea typeface="Arial"/>
                <a:cs typeface="Arial"/>
                <a:sym typeface="Arial"/>
              </a:rPr>
              <a:t>In sequential circuit.</a:t>
            </a:r>
          </a:p>
          <a:p>
            <a:pPr lvl="0" algn="just"/>
            <a:r>
              <a:rPr lang="en-US" sz="2000" dirty="0">
                <a:solidFill>
                  <a:schemeClr val="dk1"/>
                </a:solidFill>
                <a:latin typeface="Arial"/>
                <a:ea typeface="Arial"/>
                <a:cs typeface="Arial"/>
                <a:sym typeface="Arial"/>
              </a:rPr>
              <a:t> </a:t>
            </a:r>
          </a:p>
          <a:p>
            <a:pPr marL="0" marR="0" lvl="0" indent="0" algn="just" rtl="0">
              <a:spcBef>
                <a:spcPts val="0"/>
              </a:spcBef>
              <a:spcAft>
                <a:spcPts val="0"/>
              </a:spcAft>
              <a:buNone/>
            </a:pPr>
            <a:r>
              <a:rPr lang="en-US" sz="2000" dirty="0">
                <a:solidFill>
                  <a:schemeClr val="dk1"/>
                </a:solidFill>
                <a:latin typeface="Arial"/>
                <a:ea typeface="Arial"/>
                <a:cs typeface="Arial"/>
                <a:sym typeface="Arial"/>
              </a:rPr>
              <a:t>The count has a repeated sequence of six states, with flip‐flops B and C repeating the binary count 00, 01, 10, and flip‐flop A alternating between 0 and 1 every three counts.</a:t>
            </a:r>
            <a:endParaRPr dirty="0"/>
          </a:p>
          <a:p>
            <a:pPr marL="0" marR="0" lvl="0" indent="0" algn="just" rtl="0">
              <a:spcBef>
                <a:spcPts val="0"/>
              </a:spcBef>
              <a:spcAft>
                <a:spcPts val="0"/>
              </a:spcAft>
              <a:buNone/>
            </a:pPr>
            <a:endParaRPr sz="2000" dirty="0">
              <a:solidFill>
                <a:schemeClr val="dk1"/>
              </a:solidFill>
              <a:latin typeface="Arial"/>
              <a:ea typeface="Arial"/>
              <a:cs typeface="Arial"/>
              <a:sym typeface="Arial"/>
            </a:endParaRPr>
          </a:p>
        </p:txBody>
      </p:sp>
      <p:sp>
        <p:nvSpPr>
          <p:cNvPr id="175" name="Google Shape;175;p3"/>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Counter with Unused States </a:t>
            </a:r>
            <a:endParaRPr sz="3020" b="1" dirty="0">
              <a:solidFill>
                <a:srgbClr val="C55911"/>
              </a:solidFill>
              <a:latin typeface="Times New Roman"/>
              <a:ea typeface="Times New Roman"/>
              <a:cs typeface="Times New Roman"/>
              <a:sym typeface="Times New Roman"/>
            </a:endParaRPr>
          </a:p>
        </p:txBody>
      </p:sp>
      <p:cxnSp>
        <p:nvCxnSpPr>
          <p:cNvPr id="176" name="Google Shape;176;p3"/>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177" name="Google Shape;177;p3"/>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82"/>
        <p:cNvGrpSpPr/>
        <p:nvPr/>
      </p:nvGrpSpPr>
      <p:grpSpPr>
        <a:xfrm>
          <a:off x="0" y="0"/>
          <a:ext cx="0" cy="0"/>
          <a:chOff x="0" y="0"/>
          <a:chExt cx="0" cy="0"/>
        </a:xfrm>
      </p:grpSpPr>
      <p:sp>
        <p:nvSpPr>
          <p:cNvPr id="183" name="Google Shape;183;p4"/>
          <p:cNvSpPr txBox="1">
            <a:spLocks noGrp="1"/>
          </p:cNvSpPr>
          <p:nvPr>
            <p:ph type="title"/>
          </p:nvPr>
        </p:nvSpPr>
        <p:spPr>
          <a:xfrm>
            <a:off x="350456" y="1436725"/>
            <a:ext cx="3705300" cy="945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a:solidFill>
                  <a:srgbClr val="000000"/>
                </a:solidFill>
              </a:rPr>
              <a:t>Table 6.7</a:t>
            </a:r>
            <a:br>
              <a:rPr lang="en-US" sz="2700">
                <a:solidFill>
                  <a:srgbClr val="000000"/>
                </a:solidFill>
              </a:rPr>
            </a:br>
            <a:r>
              <a:rPr lang="en-US" sz="2700">
                <a:solidFill>
                  <a:srgbClr val="000000"/>
                </a:solidFill>
              </a:rPr>
              <a:t>State Table for Counter.</a:t>
            </a:r>
            <a:endParaRPr sz="2700">
              <a:solidFill>
                <a:srgbClr val="000000"/>
              </a:solidFill>
            </a:endParaRPr>
          </a:p>
        </p:txBody>
      </p:sp>
      <p:pic>
        <p:nvPicPr>
          <p:cNvPr id="184" name="Google Shape;184;p4" descr="ciletti_6e_table_06_07.jpg"/>
          <p:cNvPicPr preferRelativeResize="0"/>
          <p:nvPr/>
        </p:nvPicPr>
        <p:blipFill rotWithShape="1">
          <a:blip r:embed="rId3">
            <a:alphaModFix/>
          </a:blip>
          <a:srcRect/>
          <a:stretch/>
        </p:blipFill>
        <p:spPr>
          <a:xfrm>
            <a:off x="792473" y="2988551"/>
            <a:ext cx="7053224" cy="2438400"/>
          </a:xfrm>
          <a:prstGeom prst="rect">
            <a:avLst/>
          </a:prstGeom>
          <a:noFill/>
          <a:ln>
            <a:noFill/>
          </a:ln>
        </p:spPr>
      </p:pic>
      <p:pic>
        <p:nvPicPr>
          <p:cNvPr id="185" name="Google Shape;185;p4"/>
          <p:cNvPicPr preferRelativeResize="0"/>
          <p:nvPr/>
        </p:nvPicPr>
        <p:blipFill rotWithShape="1">
          <a:blip r:embed="rId4">
            <a:alphaModFix/>
          </a:blip>
          <a:srcRect/>
          <a:stretch/>
        </p:blipFill>
        <p:spPr>
          <a:xfrm>
            <a:off x="7845694" y="181484"/>
            <a:ext cx="1011091" cy="923313"/>
          </a:xfrm>
          <a:prstGeom prst="rect">
            <a:avLst/>
          </a:prstGeom>
          <a:noFill/>
          <a:ln>
            <a:noFill/>
          </a:ln>
        </p:spPr>
      </p:pic>
      <p:pic>
        <p:nvPicPr>
          <p:cNvPr id="186" name="Google Shape;186;p4"/>
          <p:cNvPicPr preferRelativeResize="0"/>
          <p:nvPr/>
        </p:nvPicPr>
        <p:blipFill rotWithShape="1">
          <a:blip r:embed="rId5">
            <a:alphaModFix/>
          </a:blip>
          <a:srcRect/>
          <a:stretch/>
        </p:blipFill>
        <p:spPr>
          <a:xfrm>
            <a:off x="4848610" y="1437241"/>
            <a:ext cx="2514951" cy="1066949"/>
          </a:xfrm>
          <a:prstGeom prst="rect">
            <a:avLst/>
          </a:prstGeom>
          <a:noFill/>
          <a:ln>
            <a:noFill/>
          </a:ln>
        </p:spPr>
      </p:pic>
      <p:sp>
        <p:nvSpPr>
          <p:cNvPr id="187" name="Google Shape;187;p4"/>
          <p:cNvSpPr txBox="1"/>
          <p:nvPr/>
        </p:nvSpPr>
        <p:spPr>
          <a:xfrm>
            <a:off x="2260261" y="5682734"/>
            <a:ext cx="4572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Unused states= 011 and 111</a:t>
            </a:r>
            <a:endParaRPr sz="1800">
              <a:solidFill>
                <a:schemeClr val="dk1"/>
              </a:solidFill>
              <a:latin typeface="Arial"/>
              <a:ea typeface="Arial"/>
              <a:cs typeface="Arial"/>
              <a:sym typeface="Arial"/>
            </a:endParaRPr>
          </a:p>
        </p:txBody>
      </p:sp>
      <p:sp>
        <p:nvSpPr>
          <p:cNvPr id="188" name="Google Shape;188;p4"/>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Other Counters with Unused States</a:t>
            </a:r>
            <a:endParaRPr sz="3020" b="1" dirty="0">
              <a:solidFill>
                <a:srgbClr val="C55911"/>
              </a:solidFill>
              <a:latin typeface="Times New Roman"/>
              <a:ea typeface="Times New Roman"/>
              <a:cs typeface="Times New Roman"/>
              <a:sym typeface="Times New Roman"/>
            </a:endParaRPr>
          </a:p>
        </p:txBody>
      </p:sp>
      <p:cxnSp>
        <p:nvCxnSpPr>
          <p:cNvPr id="189" name="Google Shape;189;p4"/>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190" name="Google Shape;190;p4"/>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5"/>
          <p:cNvSpPr txBox="1">
            <a:spLocks noGrp="1"/>
          </p:cNvSpPr>
          <p:nvPr>
            <p:ph type="title"/>
          </p:nvPr>
        </p:nvSpPr>
        <p:spPr>
          <a:xfrm>
            <a:off x="376125" y="2956550"/>
            <a:ext cx="2384100" cy="1434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a:solidFill>
                  <a:srgbClr val="000000"/>
                </a:solidFill>
              </a:rPr>
              <a:t>Figure 6.16</a:t>
            </a:r>
            <a:br>
              <a:rPr lang="en-US" sz="2700">
                <a:solidFill>
                  <a:srgbClr val="000000"/>
                </a:solidFill>
              </a:rPr>
            </a:br>
            <a:r>
              <a:rPr lang="en-US" sz="2700">
                <a:solidFill>
                  <a:srgbClr val="000000"/>
                </a:solidFill>
              </a:rPr>
              <a:t>Counter with unused states.</a:t>
            </a:r>
            <a:endParaRPr sz="2700">
              <a:solidFill>
                <a:srgbClr val="000000"/>
              </a:solidFill>
            </a:endParaRPr>
          </a:p>
        </p:txBody>
      </p:sp>
      <p:pic>
        <p:nvPicPr>
          <p:cNvPr id="197" name="Google Shape;197;p5" descr="Part ay: logic circuit diagram. The system includes three J K flip flops, with each flip flop receiving the same clock input. The first flip flop receives input B at J and K, and it produces Ay. The second flip flop receives C at J and logic 1 at K, and it produces B. The third flip flop receives complement output from the second flip flop at J and logic 1 at K, and it produces C. Part b: state transition diagram. State 1 1 1 flows to state 0 0 0, and state 0 1 1 flows to state 1 0 0. The remaining six states form the following loop: 0 0 0, 0 0 1, 0 1 0, 1 0 0, 1 0 1, 1 1 0."/>
          <p:cNvPicPr preferRelativeResize="0"/>
          <p:nvPr/>
        </p:nvPicPr>
        <p:blipFill rotWithShape="1">
          <a:blip r:embed="rId3">
            <a:alphaModFix/>
          </a:blip>
          <a:srcRect/>
          <a:stretch/>
        </p:blipFill>
        <p:spPr>
          <a:xfrm>
            <a:off x="2760214" y="1505500"/>
            <a:ext cx="5181600" cy="4727738"/>
          </a:xfrm>
          <a:prstGeom prst="rect">
            <a:avLst/>
          </a:prstGeom>
          <a:noFill/>
          <a:ln>
            <a:noFill/>
          </a:ln>
        </p:spPr>
      </p:pic>
      <p:pic>
        <p:nvPicPr>
          <p:cNvPr id="198" name="Google Shape;198;p5"/>
          <p:cNvPicPr preferRelativeResize="0"/>
          <p:nvPr/>
        </p:nvPicPr>
        <p:blipFill rotWithShape="1">
          <a:blip r:embed="rId4">
            <a:alphaModFix/>
          </a:blip>
          <a:srcRect/>
          <a:stretch/>
        </p:blipFill>
        <p:spPr>
          <a:xfrm>
            <a:off x="7845694" y="181484"/>
            <a:ext cx="1011091" cy="923313"/>
          </a:xfrm>
          <a:prstGeom prst="rect">
            <a:avLst/>
          </a:prstGeom>
          <a:noFill/>
          <a:ln>
            <a:noFill/>
          </a:ln>
        </p:spPr>
      </p:pic>
      <p:sp>
        <p:nvSpPr>
          <p:cNvPr id="199" name="Google Shape;199;p5"/>
          <p:cNvSpPr txBox="1"/>
          <p:nvPr/>
        </p:nvSpPr>
        <p:spPr>
          <a:xfrm>
            <a:off x="6001961" y="1371600"/>
            <a:ext cx="24693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Thus, the counter is </a:t>
            </a:r>
            <a:r>
              <a:rPr lang="en-US" sz="1800" b="1">
                <a:solidFill>
                  <a:schemeClr val="dk1"/>
                </a:solidFill>
                <a:latin typeface="Arial"/>
                <a:ea typeface="Arial"/>
                <a:cs typeface="Arial"/>
                <a:sym typeface="Arial"/>
              </a:rPr>
              <a:t>self‐correcting</a:t>
            </a:r>
            <a:r>
              <a:rPr lang="en-US" sz="1800">
                <a:solidFill>
                  <a:schemeClr val="dk1"/>
                </a:solidFill>
                <a:latin typeface="Arial"/>
                <a:ea typeface="Arial"/>
                <a:cs typeface="Arial"/>
                <a:sym typeface="Arial"/>
              </a:rPr>
              <a:t>. In a self‐correcting counter, if the counter happens to be in one of the unused states, it eventually reaches the normal count sequence after one or more clock pulses</a:t>
            </a:r>
            <a:endParaRPr sz="1800">
              <a:solidFill>
                <a:schemeClr val="dk1"/>
              </a:solidFill>
              <a:latin typeface="Arial"/>
              <a:ea typeface="Arial"/>
              <a:cs typeface="Arial"/>
              <a:sym typeface="Arial"/>
            </a:endParaRPr>
          </a:p>
        </p:txBody>
      </p:sp>
      <p:sp>
        <p:nvSpPr>
          <p:cNvPr id="200" name="Google Shape;200;p5"/>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lvl="0"/>
            <a:r>
              <a:rPr lang="en-US" sz="3020" b="1" dirty="0">
                <a:solidFill>
                  <a:srgbClr val="C55911"/>
                </a:solidFill>
                <a:latin typeface="Times New Roman"/>
                <a:ea typeface="Times New Roman"/>
                <a:cs typeface="Times New Roman"/>
                <a:sym typeface="Times New Roman"/>
              </a:rPr>
              <a:t>Other Counters with Unused States</a:t>
            </a:r>
          </a:p>
        </p:txBody>
      </p:sp>
      <p:cxnSp>
        <p:nvCxnSpPr>
          <p:cNvPr id="201" name="Google Shape;201;p5"/>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202" name="Google Shape;202;p5"/>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6"/>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209" name="Google Shape;209;p6"/>
          <p:cNvSpPr txBox="1"/>
          <p:nvPr/>
        </p:nvSpPr>
        <p:spPr>
          <a:xfrm>
            <a:off x="685800" y="1524000"/>
            <a:ext cx="7924800" cy="4093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A </a:t>
            </a:r>
            <a:r>
              <a:rPr lang="en-US" sz="2000" dirty="0">
                <a:solidFill>
                  <a:schemeClr val="dk1"/>
                </a:solidFill>
              </a:rPr>
              <a:t>R</a:t>
            </a:r>
            <a:r>
              <a:rPr lang="en-US" sz="2000" dirty="0">
                <a:solidFill>
                  <a:schemeClr val="dk1"/>
                </a:solidFill>
                <a:latin typeface="Arial"/>
                <a:ea typeface="Arial"/>
                <a:cs typeface="Arial"/>
                <a:sym typeface="Arial"/>
              </a:rPr>
              <a:t>ing </a:t>
            </a:r>
            <a:r>
              <a:rPr lang="en-US" sz="2000" dirty="0">
                <a:solidFill>
                  <a:schemeClr val="dk1"/>
                </a:solidFill>
              </a:rPr>
              <a:t>C</a:t>
            </a:r>
            <a:r>
              <a:rPr lang="en-US" sz="2000" dirty="0">
                <a:solidFill>
                  <a:schemeClr val="dk1"/>
                </a:solidFill>
                <a:latin typeface="Arial"/>
                <a:ea typeface="Arial"/>
                <a:cs typeface="Arial"/>
                <a:sym typeface="Arial"/>
              </a:rPr>
              <a:t>ounter is a circular shift register with only one flip‐flop being set at any particular time; all others are cleared. The single bit is shifted from one flip‐flop to the next to produce the sequence of timing signals</a:t>
            </a:r>
          </a:p>
          <a:p>
            <a:pPr marL="0" marR="0" lvl="0" indent="0" algn="l" rtl="0">
              <a:spcBef>
                <a:spcPts val="0"/>
              </a:spcBef>
              <a:spcAft>
                <a:spcPts val="0"/>
              </a:spcAft>
              <a:buNone/>
            </a:pPr>
            <a:endParaRPr lang="en-US" sz="2000" dirty="0">
              <a:solidFill>
                <a:schemeClr val="dk1"/>
              </a:solidFill>
            </a:endParaRPr>
          </a:p>
          <a:p>
            <a:pPr lvl="0"/>
            <a:r>
              <a:rPr lang="en-US" sz="2000" dirty="0"/>
              <a:t>The initial value of the register is 1000 and requires Preset/Clear flip‐flops. </a:t>
            </a:r>
          </a:p>
          <a:p>
            <a:pPr lvl="0"/>
            <a:endParaRPr lang="en-US" sz="2000" dirty="0">
              <a:solidFill>
                <a:schemeClr val="dk1"/>
              </a:solidFill>
              <a:latin typeface="Arial"/>
              <a:ea typeface="Arial"/>
              <a:cs typeface="Arial"/>
              <a:sym typeface="Arial"/>
            </a:endParaRPr>
          </a:p>
          <a:p>
            <a:pPr lvl="0"/>
            <a:r>
              <a:rPr lang="en-US" sz="2000" dirty="0"/>
              <a:t>Each flip‐flop is in the 1 state once every four clock cycles and produces one of the four timing signals </a:t>
            </a:r>
          </a:p>
          <a:p>
            <a:pPr lvl="0"/>
            <a:endParaRPr lang="en-US" sz="2000" dirty="0">
              <a:solidFill>
                <a:schemeClr val="dk1"/>
              </a:solidFill>
              <a:latin typeface="Arial"/>
              <a:ea typeface="Arial"/>
              <a:cs typeface="Arial"/>
              <a:sym typeface="Arial"/>
            </a:endParaRPr>
          </a:p>
          <a:p>
            <a:pPr lvl="0"/>
            <a:r>
              <a:rPr lang="en-US" sz="2000" dirty="0"/>
              <a:t>Each output becomes a 1 after the negative‐edge transition of a clock pulse and remains 1 during the next clock cycle. </a:t>
            </a:r>
            <a:endParaRPr sz="2000" dirty="0">
              <a:solidFill>
                <a:schemeClr val="dk1"/>
              </a:solidFill>
              <a:latin typeface="Arial"/>
              <a:ea typeface="Arial"/>
              <a:cs typeface="Arial"/>
              <a:sym typeface="Arial"/>
            </a:endParaRPr>
          </a:p>
        </p:txBody>
      </p:sp>
      <p:sp>
        <p:nvSpPr>
          <p:cNvPr id="210" name="Google Shape;210;p6"/>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a:solidFill>
                  <a:srgbClr val="C55911"/>
                </a:solidFill>
                <a:latin typeface="Times New Roman"/>
                <a:ea typeface="Times New Roman"/>
                <a:cs typeface="Times New Roman"/>
                <a:sym typeface="Times New Roman"/>
              </a:rPr>
              <a:t>Ring Counters</a:t>
            </a:r>
            <a:endParaRPr sz="3020" b="1">
              <a:solidFill>
                <a:srgbClr val="C55911"/>
              </a:solidFill>
              <a:latin typeface="Times New Roman"/>
              <a:ea typeface="Times New Roman"/>
              <a:cs typeface="Times New Roman"/>
              <a:sym typeface="Times New Roman"/>
            </a:endParaRPr>
          </a:p>
        </p:txBody>
      </p:sp>
      <p:cxnSp>
        <p:nvCxnSpPr>
          <p:cNvPr id="211" name="Google Shape;211;p6"/>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212" name="Google Shape;212;p6"/>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8"/>
          <p:cNvSpPr txBox="1">
            <a:spLocks noGrp="1"/>
          </p:cNvSpPr>
          <p:nvPr>
            <p:ph type="body" idx="1"/>
          </p:nvPr>
        </p:nvSpPr>
        <p:spPr>
          <a:xfrm>
            <a:off x="199577" y="1549807"/>
            <a:ext cx="8744700" cy="3758400"/>
          </a:xfrm>
          <a:prstGeom prst="rect">
            <a:avLst/>
          </a:prstGeom>
          <a:noFill/>
          <a:ln>
            <a:noFill/>
          </a:ln>
        </p:spPr>
        <p:txBody>
          <a:bodyPr spcFirstLastPara="1" wrap="square" lIns="0" tIns="0" rIns="0" bIns="0" anchor="t" anchorCtr="0">
            <a:noAutofit/>
          </a:bodyPr>
          <a:lstStyle/>
          <a:p>
            <a:pPr marL="256032" lvl="0" indent="-256032" algn="l" rtl="0">
              <a:spcBef>
                <a:spcPts val="1500"/>
              </a:spcBef>
              <a:spcAft>
                <a:spcPts val="0"/>
              </a:spcAft>
              <a:buClr>
                <a:srgbClr val="007FA3"/>
              </a:buClr>
              <a:buSzPts val="2220"/>
              <a:buChar char="•"/>
            </a:pPr>
            <a:r>
              <a:rPr lang="en-US" sz="2220" dirty="0"/>
              <a:t>Single bit shifted right with every clock pulse and circulates back from T3 to T0. Each flip‐flop is in the 1 state once every four clock cycles</a:t>
            </a:r>
            <a:endParaRPr dirty="0"/>
          </a:p>
          <a:p>
            <a:pPr marL="256032" lvl="0" indent="-115061" algn="l" rtl="0">
              <a:spcBef>
                <a:spcPts val="1500"/>
              </a:spcBef>
              <a:spcAft>
                <a:spcPts val="0"/>
              </a:spcAft>
              <a:buClr>
                <a:srgbClr val="007FA3"/>
              </a:buClr>
              <a:buSzPts val="2220"/>
              <a:buNone/>
            </a:pPr>
            <a:endParaRPr sz="2220" dirty="0"/>
          </a:p>
          <a:p>
            <a:pPr marL="256032" lvl="0" indent="-115061" algn="l" rtl="0">
              <a:spcBef>
                <a:spcPts val="1500"/>
              </a:spcBef>
              <a:spcAft>
                <a:spcPts val="0"/>
              </a:spcAft>
              <a:buClr>
                <a:srgbClr val="007FA3"/>
              </a:buClr>
              <a:buSzPts val="2220"/>
              <a:buNone/>
            </a:pPr>
            <a:endParaRPr sz="2220" dirty="0"/>
          </a:p>
          <a:p>
            <a:pPr marL="256032" lvl="0" indent="-115061" algn="l" rtl="0">
              <a:spcBef>
                <a:spcPts val="1500"/>
              </a:spcBef>
              <a:spcAft>
                <a:spcPts val="0"/>
              </a:spcAft>
              <a:buClr>
                <a:srgbClr val="007FA3"/>
              </a:buClr>
              <a:buSzPts val="2220"/>
              <a:buNone/>
            </a:pPr>
            <a:endParaRPr lang="en-US" sz="2220" dirty="0"/>
          </a:p>
          <a:p>
            <a:pPr marL="256032" lvl="0" indent="-115061" algn="l" rtl="0">
              <a:spcBef>
                <a:spcPts val="1500"/>
              </a:spcBef>
              <a:spcAft>
                <a:spcPts val="0"/>
              </a:spcAft>
              <a:buClr>
                <a:srgbClr val="007FA3"/>
              </a:buClr>
              <a:buSzPts val="2220"/>
              <a:buNone/>
            </a:pPr>
            <a:endParaRPr lang="en-IN" sz="2220" dirty="0"/>
          </a:p>
          <a:p>
            <a:pPr marL="256032" lvl="0" indent="-115061" algn="l" rtl="0">
              <a:spcBef>
                <a:spcPts val="1500"/>
              </a:spcBef>
              <a:spcAft>
                <a:spcPts val="0"/>
              </a:spcAft>
              <a:buClr>
                <a:srgbClr val="007FA3"/>
              </a:buClr>
              <a:buSzPts val="2220"/>
              <a:buNone/>
            </a:pPr>
            <a:endParaRPr sz="2220" dirty="0"/>
          </a:p>
          <a:p>
            <a:pPr marL="256032" lvl="0" indent="-256032" algn="l" rtl="0">
              <a:spcBef>
                <a:spcPts val="1500"/>
              </a:spcBef>
              <a:spcAft>
                <a:spcPts val="0"/>
              </a:spcAft>
              <a:buClr>
                <a:srgbClr val="007FA3"/>
              </a:buClr>
              <a:buSzPts val="2220"/>
              <a:buChar char="•"/>
            </a:pPr>
            <a:r>
              <a:rPr lang="en-US" sz="2220" dirty="0"/>
              <a:t>It is negative edge triggered flipflop state changes on negative edge</a:t>
            </a:r>
            <a:endParaRPr dirty="0"/>
          </a:p>
          <a:p>
            <a:pPr marL="256032" lvl="0" indent="-256032" algn="l" rtl="0">
              <a:spcBef>
                <a:spcPts val="1500"/>
              </a:spcBef>
              <a:spcAft>
                <a:spcPts val="0"/>
              </a:spcAft>
              <a:buClr>
                <a:srgbClr val="007FA3"/>
              </a:buClr>
              <a:buSzPts val="2220"/>
              <a:buChar char="•"/>
            </a:pPr>
            <a:r>
              <a:rPr lang="en-US" sz="2220" dirty="0"/>
              <a:t>Initial value is always 1000</a:t>
            </a:r>
            <a:endParaRPr sz="2220" dirty="0"/>
          </a:p>
        </p:txBody>
      </p:sp>
      <p:pic>
        <p:nvPicPr>
          <p:cNvPr id="261" name="Google Shape;261;p8"/>
          <p:cNvPicPr preferRelativeResize="0"/>
          <p:nvPr/>
        </p:nvPicPr>
        <p:blipFill rotWithShape="1">
          <a:blip r:embed="rId3">
            <a:alphaModFix/>
          </a:blip>
          <a:srcRect/>
          <a:stretch/>
        </p:blipFill>
        <p:spPr>
          <a:xfrm>
            <a:off x="2349500" y="2984501"/>
            <a:ext cx="4373892" cy="1687632"/>
          </a:xfrm>
          <a:prstGeom prst="rect">
            <a:avLst/>
          </a:prstGeom>
          <a:noFill/>
          <a:ln>
            <a:noFill/>
          </a:ln>
        </p:spPr>
      </p:pic>
      <p:sp>
        <p:nvSpPr>
          <p:cNvPr id="262" name="Google Shape;262;p8"/>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Ring Counters</a:t>
            </a:r>
            <a:endParaRPr sz="3020" b="1" dirty="0">
              <a:solidFill>
                <a:srgbClr val="C55911"/>
              </a:solidFill>
              <a:latin typeface="Times New Roman"/>
              <a:ea typeface="Times New Roman"/>
              <a:cs typeface="Times New Roman"/>
              <a:sym typeface="Times New Roman"/>
            </a:endParaRPr>
          </a:p>
        </p:txBody>
      </p:sp>
      <p:cxnSp>
        <p:nvCxnSpPr>
          <p:cNvPr id="263" name="Google Shape;263;p8"/>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pic>
        <p:nvPicPr>
          <p:cNvPr id="264" name="Google Shape;264;p8"/>
          <p:cNvPicPr preferRelativeResize="0"/>
          <p:nvPr/>
        </p:nvPicPr>
        <p:blipFill rotWithShape="1">
          <a:blip r:embed="rId4">
            <a:alphaModFix/>
          </a:blip>
          <a:srcRect/>
          <a:stretch/>
        </p:blipFill>
        <p:spPr>
          <a:xfrm>
            <a:off x="7845694" y="181484"/>
            <a:ext cx="1011091" cy="923313"/>
          </a:xfrm>
          <a:prstGeom prst="rect">
            <a:avLst/>
          </a:prstGeom>
          <a:noFill/>
          <a:ln>
            <a:noFill/>
          </a:ln>
        </p:spPr>
      </p:pic>
      <p:sp>
        <p:nvSpPr>
          <p:cNvPr id="265" name="Google Shape;265;p8"/>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81"/>
        <p:cNvGrpSpPr/>
        <p:nvPr/>
      </p:nvGrpSpPr>
      <p:grpSpPr>
        <a:xfrm>
          <a:off x="0" y="0"/>
          <a:ext cx="0" cy="0"/>
          <a:chOff x="0" y="0"/>
          <a:chExt cx="0" cy="0"/>
        </a:xfrm>
      </p:grpSpPr>
      <p:sp>
        <p:nvSpPr>
          <p:cNvPr id="282" name="Google Shape;282;p11"/>
          <p:cNvSpPr txBox="1">
            <a:spLocks noGrp="1"/>
          </p:cNvSpPr>
          <p:nvPr>
            <p:ph type="title"/>
          </p:nvPr>
        </p:nvSpPr>
        <p:spPr>
          <a:xfrm>
            <a:off x="223736" y="2743200"/>
            <a:ext cx="8391728" cy="944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a:solidFill>
                  <a:srgbClr val="000000"/>
                </a:solidFill>
              </a:rPr>
              <a:t>Figure 6.17</a:t>
            </a:r>
            <a:br>
              <a:rPr lang="en-US" sz="2700">
                <a:solidFill>
                  <a:srgbClr val="000000"/>
                </a:solidFill>
              </a:rPr>
            </a:br>
            <a:r>
              <a:rPr lang="en-US" sz="2700">
                <a:solidFill>
                  <a:srgbClr val="000000"/>
                </a:solidFill>
              </a:rPr>
              <a:t>Generation of timing signals.</a:t>
            </a:r>
            <a:endParaRPr sz="2700">
              <a:solidFill>
                <a:srgbClr val="000000"/>
              </a:solidFill>
            </a:endParaRPr>
          </a:p>
        </p:txBody>
      </p:sp>
      <p:pic>
        <p:nvPicPr>
          <p:cNvPr id="283" name="Google Shape;283;p11" descr="Part ay: ring counter with initial time value = 1000. Shift right enters the queue, which consists of T sub 0, T sub 1, T sub 2, and T sub 3. T sub 3 feeds back to T sub 0. Part b: sequence of 4 timing signals. T sub 0, T sub 1, and T sub 2, and T sub 3 are staggered, occurring in the order listed. Part c: counter and decoder. The count enable signal enters the 2-bit counter, which sends 2 inputs to the 2 by 4 decoder. The 2 by 4 decoder then generates outputs T sub 0 to T sub 3."/>
          <p:cNvPicPr preferRelativeResize="0"/>
          <p:nvPr/>
        </p:nvPicPr>
        <p:blipFill rotWithShape="1">
          <a:blip r:embed="rId3">
            <a:alphaModFix/>
          </a:blip>
          <a:srcRect/>
          <a:stretch/>
        </p:blipFill>
        <p:spPr>
          <a:xfrm>
            <a:off x="4724400" y="1371595"/>
            <a:ext cx="3962400" cy="5110063"/>
          </a:xfrm>
          <a:prstGeom prst="rect">
            <a:avLst/>
          </a:prstGeom>
          <a:noFill/>
          <a:ln>
            <a:noFill/>
          </a:ln>
        </p:spPr>
      </p:pic>
      <p:pic>
        <p:nvPicPr>
          <p:cNvPr id="284" name="Google Shape;284;p11"/>
          <p:cNvPicPr preferRelativeResize="0"/>
          <p:nvPr/>
        </p:nvPicPr>
        <p:blipFill rotWithShape="1">
          <a:blip r:embed="rId4">
            <a:alphaModFix/>
          </a:blip>
          <a:srcRect/>
          <a:stretch/>
        </p:blipFill>
        <p:spPr>
          <a:xfrm>
            <a:off x="7845694" y="181484"/>
            <a:ext cx="1011091" cy="923313"/>
          </a:xfrm>
          <a:prstGeom prst="rect">
            <a:avLst/>
          </a:prstGeom>
          <a:noFill/>
          <a:ln>
            <a:noFill/>
          </a:ln>
        </p:spPr>
      </p:pic>
      <p:sp>
        <p:nvSpPr>
          <p:cNvPr id="285" name="Google Shape;285;p11"/>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lvl="0"/>
            <a:r>
              <a:rPr lang="en-US" sz="3020" b="1" dirty="0">
                <a:solidFill>
                  <a:srgbClr val="C55911"/>
                </a:solidFill>
                <a:latin typeface="Times New Roman"/>
                <a:ea typeface="Times New Roman"/>
                <a:cs typeface="Times New Roman"/>
                <a:sym typeface="Times New Roman"/>
              </a:rPr>
              <a:t>Ring Counters</a:t>
            </a:r>
          </a:p>
        </p:txBody>
      </p:sp>
      <p:cxnSp>
        <p:nvCxnSpPr>
          <p:cNvPr id="286" name="Google Shape;286;p11"/>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287" name="Google Shape;287;p11"/>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12"/>
          <p:cNvSpPr txBox="1"/>
          <p:nvPr/>
        </p:nvSpPr>
        <p:spPr>
          <a:xfrm>
            <a:off x="246175" y="1348224"/>
            <a:ext cx="861060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Arial"/>
                <a:ea typeface="Arial"/>
                <a:cs typeface="Arial"/>
                <a:sym typeface="Arial"/>
              </a:rPr>
              <a:t>To generate 2</a:t>
            </a:r>
            <a:r>
              <a:rPr lang="en-US" sz="2000" b="1" baseline="30000" dirty="0">
                <a:solidFill>
                  <a:schemeClr val="dk1"/>
                </a:solidFill>
                <a:latin typeface="Arial"/>
                <a:ea typeface="Arial"/>
                <a:cs typeface="Arial"/>
                <a:sym typeface="Arial"/>
              </a:rPr>
              <a:t>n</a:t>
            </a:r>
            <a:r>
              <a:rPr lang="en-US" sz="2000" b="1" dirty="0">
                <a:solidFill>
                  <a:schemeClr val="dk1"/>
                </a:solidFill>
                <a:latin typeface="Arial"/>
                <a:ea typeface="Arial"/>
                <a:cs typeface="Arial"/>
                <a:sym typeface="Arial"/>
              </a:rPr>
              <a:t> timing signals, we need either a shift register with 2</a:t>
            </a:r>
            <a:r>
              <a:rPr lang="en-US" sz="2000" b="1" baseline="30000" dirty="0">
                <a:solidFill>
                  <a:schemeClr val="dk1"/>
                </a:solidFill>
                <a:latin typeface="Arial"/>
                <a:ea typeface="Arial"/>
                <a:cs typeface="Arial"/>
                <a:sym typeface="Arial"/>
              </a:rPr>
              <a:t>n</a:t>
            </a:r>
            <a:r>
              <a:rPr lang="en-US" sz="2000" b="1" dirty="0">
                <a:solidFill>
                  <a:schemeClr val="dk1"/>
                </a:solidFill>
                <a:latin typeface="Arial"/>
                <a:ea typeface="Arial"/>
                <a:cs typeface="Arial"/>
                <a:sym typeface="Arial"/>
              </a:rPr>
              <a:t> flip‐flops or an n ‐bit binary counter together with an n ‐to‐2 </a:t>
            </a:r>
            <a:r>
              <a:rPr lang="en-US" sz="2000" b="1" baseline="30000" dirty="0">
                <a:solidFill>
                  <a:schemeClr val="dk1"/>
                </a:solidFill>
                <a:latin typeface="Arial"/>
                <a:ea typeface="Arial"/>
                <a:cs typeface="Arial"/>
                <a:sym typeface="Arial"/>
              </a:rPr>
              <a:t>n </a:t>
            </a:r>
            <a:r>
              <a:rPr lang="en-US" sz="2000" b="1" dirty="0">
                <a:solidFill>
                  <a:schemeClr val="dk1"/>
                </a:solidFill>
                <a:latin typeface="Arial"/>
                <a:ea typeface="Arial"/>
                <a:cs typeface="Arial"/>
                <a:sym typeface="Arial"/>
              </a:rPr>
              <a:t>‐line decoder.</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For example, </a:t>
            </a:r>
            <a:r>
              <a:rPr lang="en-US" sz="2000" b="1" dirty="0">
                <a:solidFill>
                  <a:schemeClr val="dk1"/>
                </a:solidFill>
                <a:latin typeface="Arial"/>
                <a:ea typeface="Arial"/>
                <a:cs typeface="Arial"/>
                <a:sym typeface="Arial"/>
              </a:rPr>
              <a:t>16 timing signals can be generated with a 16‐bit shift register connected as a ring counter or with a 4‐bit binary counter and a 4‐to‐16‐line decoder</a:t>
            </a:r>
            <a:r>
              <a:rPr lang="en-US" sz="2000" dirty="0">
                <a:solidFill>
                  <a:schemeClr val="dk1"/>
                </a:solidFill>
                <a:latin typeface="Arial"/>
                <a:ea typeface="Arial"/>
                <a:cs typeface="Arial"/>
                <a:sym typeface="Arial"/>
              </a:rPr>
              <a:t>. In the first case, we need 16 flip‐flops. In the second, we need 4 flip‐flops and 16 four‐input AND gates for the decoder. It is also possible to generate the timing signals with a combination of a shift register and a decoder. That way, the number of flip‐flops is less than that in a ring counter, and the decoder requires only two‐input gates. This combination is called a Johnson counter .</a:t>
            </a:r>
            <a:endParaRPr sz="2000" dirty="0">
              <a:solidFill>
                <a:schemeClr val="dk1"/>
              </a:solidFill>
              <a:latin typeface="Arial"/>
              <a:ea typeface="Arial"/>
              <a:cs typeface="Arial"/>
              <a:sym typeface="Arial"/>
            </a:endParaRPr>
          </a:p>
        </p:txBody>
      </p:sp>
      <p:sp>
        <p:nvSpPr>
          <p:cNvPr id="295" name="Google Shape;295;p12"/>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lvl="0"/>
            <a:r>
              <a:rPr lang="en-US" sz="3020" b="1" dirty="0">
                <a:solidFill>
                  <a:srgbClr val="C55911"/>
                </a:solidFill>
                <a:latin typeface="Times New Roman"/>
                <a:ea typeface="Times New Roman"/>
                <a:cs typeface="Times New Roman"/>
                <a:sym typeface="Times New Roman"/>
              </a:rPr>
              <a:t>Ring Counters</a:t>
            </a:r>
          </a:p>
        </p:txBody>
      </p:sp>
      <p:cxnSp>
        <p:nvCxnSpPr>
          <p:cNvPr id="296" name="Google Shape;296;p12"/>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pic>
        <p:nvPicPr>
          <p:cNvPr id="297" name="Google Shape;297;p12"/>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298" name="Google Shape;298;p12"/>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
          <p:cNvSpPr/>
          <p:nvPr/>
        </p:nvSpPr>
        <p:spPr>
          <a:xfrm>
            <a:off x="390695" y="1543254"/>
            <a:ext cx="103500" cy="1035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18" name="Google Shape;218;p7"/>
          <p:cNvSpPr/>
          <p:nvPr/>
        </p:nvSpPr>
        <p:spPr>
          <a:xfrm>
            <a:off x="405495" y="2275509"/>
            <a:ext cx="103500" cy="1035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19" name="Google Shape;219;p7"/>
          <p:cNvSpPr/>
          <p:nvPr/>
        </p:nvSpPr>
        <p:spPr>
          <a:xfrm>
            <a:off x="109065" y="2718324"/>
            <a:ext cx="8851948" cy="289865"/>
          </a:xfrm>
          <a:custGeom>
            <a:avLst/>
            <a:gdLst/>
            <a:ahLst/>
            <a:cxnLst/>
            <a:rect l="l" t="t" r="r" b="b"/>
            <a:pathLst>
              <a:path w="5584825" h="182880" extrusionOk="0">
                <a:moveTo>
                  <a:pt x="5533784" y="0"/>
                </a:moveTo>
                <a:lnTo>
                  <a:pt x="50800" y="0"/>
                </a:lnTo>
                <a:lnTo>
                  <a:pt x="31075" y="4008"/>
                </a:lnTo>
                <a:lnTo>
                  <a:pt x="14922" y="14922"/>
                </a:lnTo>
                <a:lnTo>
                  <a:pt x="4008" y="31075"/>
                </a:lnTo>
                <a:lnTo>
                  <a:pt x="0" y="50800"/>
                </a:lnTo>
                <a:lnTo>
                  <a:pt x="0" y="182877"/>
                </a:lnTo>
                <a:lnTo>
                  <a:pt x="5584584" y="182877"/>
                </a:lnTo>
                <a:lnTo>
                  <a:pt x="5584584" y="50800"/>
                </a:lnTo>
                <a:lnTo>
                  <a:pt x="5580575" y="31075"/>
                </a:lnTo>
                <a:lnTo>
                  <a:pt x="5569661" y="14922"/>
                </a:lnTo>
                <a:lnTo>
                  <a:pt x="5553509" y="4008"/>
                </a:lnTo>
                <a:lnTo>
                  <a:pt x="5533784" y="0"/>
                </a:lnTo>
                <a:close/>
              </a:path>
            </a:pathLst>
          </a:custGeom>
          <a:solidFill>
            <a:srgbClr val="F3DECF"/>
          </a:solidFill>
          <a:ln>
            <a:noFill/>
          </a:ln>
        </p:spPr>
        <p:txBody>
          <a:bodyPr spcFirstLastPara="1" wrap="square" lIns="0" tIns="0" rIns="0" bIns="0" anchor="t" anchorCtr="0">
            <a:noAutofit/>
          </a:bodyPr>
          <a:lstStyle/>
          <a:p>
            <a:pPr marL="20140" lvl="0" indent="0" algn="l" rtl="0">
              <a:spcBef>
                <a:spcPts val="1142"/>
              </a:spcBef>
              <a:spcAft>
                <a:spcPts val="0"/>
              </a:spcAft>
              <a:buClr>
                <a:schemeClr val="dk1"/>
              </a:buClr>
              <a:buFont typeface="Arial"/>
              <a:buNone/>
            </a:pPr>
            <a:r>
              <a:rPr lang="en-US" sz="1744">
                <a:solidFill>
                  <a:srgbClr val="C55911"/>
                </a:solidFill>
                <a:latin typeface="Carlito"/>
                <a:ea typeface="Carlito"/>
                <a:cs typeface="Carlito"/>
                <a:sym typeface="Carlito"/>
              </a:rPr>
              <a:t>3-bit Ring Counter</a:t>
            </a:r>
            <a:endParaRPr sz="2855">
              <a:solidFill>
                <a:schemeClr val="dk1"/>
              </a:solidFill>
              <a:latin typeface="Arial"/>
              <a:ea typeface="Arial"/>
              <a:cs typeface="Arial"/>
              <a:sym typeface="Arial"/>
            </a:endParaRPr>
          </a:p>
        </p:txBody>
      </p:sp>
      <p:sp>
        <p:nvSpPr>
          <p:cNvPr id="220" name="Google Shape;220;p7"/>
          <p:cNvSpPr txBox="1"/>
          <p:nvPr/>
        </p:nvSpPr>
        <p:spPr>
          <a:xfrm>
            <a:off x="311700" y="1453925"/>
            <a:ext cx="8211300" cy="1052700"/>
          </a:xfrm>
          <a:prstGeom prst="rect">
            <a:avLst/>
          </a:prstGeom>
          <a:noFill/>
          <a:ln>
            <a:noFill/>
          </a:ln>
        </p:spPr>
        <p:txBody>
          <a:bodyPr spcFirstLastPara="1" wrap="square" lIns="0" tIns="36250" rIns="0" bIns="0" anchor="t" anchorCtr="0">
            <a:spAutoFit/>
          </a:bodyPr>
          <a:lstStyle/>
          <a:p>
            <a:pPr marL="459212" marR="8055" lvl="0" indent="0" algn="l" rtl="0">
              <a:lnSpc>
                <a:spcPct val="115817"/>
              </a:lnSpc>
              <a:spcBef>
                <a:spcPts val="0"/>
              </a:spcBef>
              <a:spcAft>
                <a:spcPts val="0"/>
              </a:spcAft>
              <a:buNone/>
            </a:pPr>
            <a:r>
              <a:rPr lang="en-US" sz="1903">
                <a:solidFill>
                  <a:schemeClr val="dk1"/>
                </a:solidFill>
                <a:latin typeface="Carlito"/>
                <a:ea typeface="Carlito"/>
                <a:cs typeface="Carlito"/>
                <a:sym typeface="Carlito"/>
              </a:rPr>
              <a:t>Counters constructed by connecting together flip-flops in closed loop, typically with  a single 1 bit circulating among them, are called </a:t>
            </a:r>
            <a:r>
              <a:rPr lang="en-US" sz="1903" b="1">
                <a:solidFill>
                  <a:schemeClr val="dk1"/>
                </a:solidFill>
                <a:latin typeface="Arial"/>
                <a:ea typeface="Arial"/>
                <a:cs typeface="Arial"/>
                <a:sym typeface="Arial"/>
              </a:rPr>
              <a:t>ring counters</a:t>
            </a:r>
            <a:endParaRPr sz="1903">
              <a:solidFill>
                <a:schemeClr val="dk1"/>
              </a:solidFill>
              <a:latin typeface="Arial"/>
              <a:ea typeface="Arial"/>
              <a:cs typeface="Arial"/>
              <a:sym typeface="Arial"/>
            </a:endParaRPr>
          </a:p>
          <a:p>
            <a:pPr marL="459212" lvl="0" indent="0" algn="l" rtl="0">
              <a:spcBef>
                <a:spcPts val="349"/>
              </a:spcBef>
              <a:spcAft>
                <a:spcPts val="0"/>
              </a:spcAft>
              <a:buClr>
                <a:schemeClr val="dk1"/>
              </a:buClr>
              <a:buFont typeface="Arial"/>
              <a:buNone/>
            </a:pPr>
            <a:r>
              <a:rPr lang="en-US" sz="1903">
                <a:solidFill>
                  <a:schemeClr val="dk1"/>
                </a:solidFill>
                <a:latin typeface="Carlito"/>
                <a:ea typeface="Carlito"/>
                <a:cs typeface="Carlito"/>
                <a:sym typeface="Carlito"/>
              </a:rPr>
              <a:t>Modulus of an </a:t>
            </a:r>
            <a:r>
              <a:rPr lang="en-US" sz="1903" i="1">
                <a:solidFill>
                  <a:schemeClr val="dk1"/>
                </a:solidFill>
              </a:rPr>
              <a:t>n</a:t>
            </a:r>
            <a:r>
              <a:rPr lang="en-US" sz="1903">
                <a:solidFill>
                  <a:schemeClr val="dk1"/>
                </a:solidFill>
                <a:latin typeface="Carlito"/>
                <a:ea typeface="Carlito"/>
                <a:cs typeface="Carlito"/>
                <a:sym typeface="Carlito"/>
              </a:rPr>
              <a:t>-bit ring counter is </a:t>
            </a:r>
            <a:r>
              <a:rPr lang="en-US" sz="1903" i="1">
                <a:solidFill>
                  <a:schemeClr val="dk1"/>
                </a:solidFill>
              </a:rPr>
              <a:t>n</a:t>
            </a:r>
            <a:endParaRPr sz="1744">
              <a:solidFill>
                <a:schemeClr val="dk1"/>
              </a:solidFill>
              <a:latin typeface="Carlito"/>
              <a:ea typeface="Carlito"/>
              <a:cs typeface="Carlito"/>
              <a:sym typeface="Carlito"/>
            </a:endParaRPr>
          </a:p>
        </p:txBody>
      </p:sp>
      <p:grpSp>
        <p:nvGrpSpPr>
          <p:cNvPr id="221" name="Google Shape;221;p7"/>
          <p:cNvGrpSpPr/>
          <p:nvPr/>
        </p:nvGrpSpPr>
        <p:grpSpPr>
          <a:xfrm>
            <a:off x="109065" y="2972793"/>
            <a:ext cx="8937033" cy="1653247"/>
            <a:chOff x="87743" y="1400975"/>
            <a:chExt cx="5635307" cy="1042466"/>
          </a:xfrm>
        </p:grpSpPr>
        <p:sp>
          <p:nvSpPr>
            <p:cNvPr id="222" name="Google Shape;222;p7"/>
            <p:cNvSpPr/>
            <p:nvPr/>
          </p:nvSpPr>
          <p:spPr>
            <a:xfrm>
              <a:off x="87744" y="1526971"/>
              <a:ext cx="5584583" cy="5060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3" name="Google Shape;223;p7"/>
            <p:cNvSpPr/>
            <p:nvPr/>
          </p:nvSpPr>
          <p:spPr>
            <a:xfrm>
              <a:off x="138544" y="2341841"/>
              <a:ext cx="101600" cy="1016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4" name="Google Shape;224;p7"/>
            <p:cNvSpPr/>
            <p:nvPr/>
          </p:nvSpPr>
          <p:spPr>
            <a:xfrm>
              <a:off x="189344" y="2329141"/>
              <a:ext cx="5533706" cy="1143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5" name="Google Shape;225;p7"/>
            <p:cNvSpPr/>
            <p:nvPr/>
          </p:nvSpPr>
          <p:spPr>
            <a:xfrm>
              <a:off x="5672327" y="1400987"/>
              <a:ext cx="50723" cy="940854"/>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6" name="Google Shape;226;p7"/>
            <p:cNvSpPr/>
            <p:nvPr/>
          </p:nvSpPr>
          <p:spPr>
            <a:xfrm>
              <a:off x="87743" y="1571247"/>
              <a:ext cx="5584825" cy="821690"/>
            </a:xfrm>
            <a:custGeom>
              <a:avLst/>
              <a:gdLst/>
              <a:ahLst/>
              <a:cxnLst/>
              <a:rect l="l" t="t" r="r" b="b"/>
              <a:pathLst>
                <a:path w="5584825" h="821689" extrusionOk="0">
                  <a:moveTo>
                    <a:pt x="5584584" y="0"/>
                  </a:moveTo>
                  <a:lnTo>
                    <a:pt x="0" y="0"/>
                  </a:lnTo>
                  <a:lnTo>
                    <a:pt x="0" y="770594"/>
                  </a:lnTo>
                  <a:lnTo>
                    <a:pt x="4008" y="790318"/>
                  </a:lnTo>
                  <a:lnTo>
                    <a:pt x="14922" y="806471"/>
                  </a:lnTo>
                  <a:lnTo>
                    <a:pt x="31075" y="817385"/>
                  </a:lnTo>
                  <a:lnTo>
                    <a:pt x="50800" y="821394"/>
                  </a:lnTo>
                  <a:lnTo>
                    <a:pt x="5533784" y="821394"/>
                  </a:lnTo>
                  <a:lnTo>
                    <a:pt x="5553509" y="817385"/>
                  </a:lnTo>
                  <a:lnTo>
                    <a:pt x="5569661" y="806471"/>
                  </a:lnTo>
                  <a:lnTo>
                    <a:pt x="5580575" y="790318"/>
                  </a:lnTo>
                  <a:lnTo>
                    <a:pt x="5584584" y="770594"/>
                  </a:lnTo>
                  <a:lnTo>
                    <a:pt x="5584584" y="0"/>
                  </a:lnTo>
                  <a:close/>
                </a:path>
              </a:pathLst>
            </a:custGeom>
            <a:solidFill>
              <a:srgbClr val="F9EE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7" name="Google Shape;227;p7"/>
            <p:cNvSpPr/>
            <p:nvPr/>
          </p:nvSpPr>
          <p:spPr>
            <a:xfrm>
              <a:off x="5672327" y="1439075"/>
              <a:ext cx="0" cy="922019"/>
            </a:xfrm>
            <a:custGeom>
              <a:avLst/>
              <a:gdLst/>
              <a:ahLst/>
              <a:cxnLst/>
              <a:rect l="l" t="t" r="r" b="b"/>
              <a:pathLst>
                <a:path w="120000" h="922019" extrusionOk="0">
                  <a:moveTo>
                    <a:pt x="0" y="921816"/>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8" name="Google Shape;228;p7"/>
            <p:cNvSpPr/>
            <p:nvPr/>
          </p:nvSpPr>
          <p:spPr>
            <a:xfrm>
              <a:off x="5672327" y="1426375"/>
              <a:ext cx="0" cy="12700"/>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29" name="Google Shape;229;p7"/>
            <p:cNvSpPr/>
            <p:nvPr/>
          </p:nvSpPr>
          <p:spPr>
            <a:xfrm>
              <a:off x="5672327" y="1413675"/>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30" name="Google Shape;230;p7"/>
            <p:cNvSpPr/>
            <p:nvPr/>
          </p:nvSpPr>
          <p:spPr>
            <a:xfrm>
              <a:off x="5672327" y="1400975"/>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31" name="Google Shape;231;p7"/>
            <p:cNvSpPr/>
            <p:nvPr/>
          </p:nvSpPr>
          <p:spPr>
            <a:xfrm>
              <a:off x="1845325" y="1690334"/>
              <a:ext cx="504190" cy="396240"/>
            </a:xfrm>
            <a:custGeom>
              <a:avLst/>
              <a:gdLst/>
              <a:ahLst/>
              <a:cxnLst/>
              <a:rect l="l" t="t" r="r" b="b"/>
              <a:pathLst>
                <a:path w="504189" h="396239" extrusionOk="0">
                  <a:moveTo>
                    <a:pt x="504005" y="0"/>
                  </a:moveTo>
                  <a:lnTo>
                    <a:pt x="0" y="0"/>
                  </a:lnTo>
                  <a:lnTo>
                    <a:pt x="0" y="396005"/>
                  </a:lnTo>
                  <a:lnTo>
                    <a:pt x="504005" y="396005"/>
                  </a:lnTo>
                  <a:lnTo>
                    <a:pt x="504005" y="0"/>
                  </a:lnTo>
                  <a:close/>
                </a:path>
              </a:pathLst>
            </a:custGeom>
            <a:solidFill>
              <a:srgbClr val="DFA1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32" name="Google Shape;232;p7"/>
            <p:cNvSpPr/>
            <p:nvPr/>
          </p:nvSpPr>
          <p:spPr>
            <a:xfrm>
              <a:off x="1845325" y="1690334"/>
              <a:ext cx="504190" cy="396240"/>
            </a:xfrm>
            <a:custGeom>
              <a:avLst/>
              <a:gdLst/>
              <a:ahLst/>
              <a:cxnLst/>
              <a:rect l="l" t="t" r="r" b="b"/>
              <a:pathLst>
                <a:path w="504189" h="396239" extrusionOk="0">
                  <a:moveTo>
                    <a:pt x="0" y="396005"/>
                  </a:moveTo>
                  <a:lnTo>
                    <a:pt x="504005" y="396005"/>
                  </a:lnTo>
                  <a:lnTo>
                    <a:pt x="504005" y="0"/>
                  </a:lnTo>
                  <a:lnTo>
                    <a:pt x="0" y="0"/>
                  </a:lnTo>
                  <a:lnTo>
                    <a:pt x="0" y="396005"/>
                  </a:lnTo>
                  <a:close/>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233" name="Google Shape;233;p7"/>
          <p:cNvSpPr txBox="1"/>
          <p:nvPr/>
        </p:nvSpPr>
        <p:spPr>
          <a:xfrm>
            <a:off x="2986703" y="3711650"/>
            <a:ext cx="116818" cy="238933"/>
          </a:xfrm>
          <a:prstGeom prst="rect">
            <a:avLst/>
          </a:prstGeom>
          <a:noFill/>
          <a:ln>
            <a:noFill/>
          </a:ln>
        </p:spPr>
        <p:txBody>
          <a:bodyPr spcFirstLastPara="1" wrap="square" lIns="0" tIns="19125" rIns="0" bIns="0" anchor="t" anchorCtr="0">
            <a:spAutoFit/>
          </a:bodyPr>
          <a:lstStyle/>
          <a:p>
            <a:pPr marL="0" marR="0" lvl="0" indent="0" algn="l" rtl="0">
              <a:spcBef>
                <a:spcPts val="0"/>
              </a:spcBef>
              <a:spcAft>
                <a:spcPts val="0"/>
              </a:spcAft>
              <a:buNone/>
            </a:pPr>
            <a:r>
              <a:rPr lang="en-US" sz="1427" i="1">
                <a:solidFill>
                  <a:schemeClr val="dk1"/>
                </a:solidFill>
                <a:latin typeface="Arial"/>
                <a:ea typeface="Arial"/>
                <a:cs typeface="Arial"/>
                <a:sym typeface="Arial"/>
              </a:rPr>
              <a:t>d</a:t>
            </a:r>
            <a:endParaRPr sz="1427">
              <a:solidFill>
                <a:schemeClr val="dk1"/>
              </a:solidFill>
              <a:latin typeface="Arial"/>
              <a:ea typeface="Arial"/>
              <a:cs typeface="Arial"/>
              <a:sym typeface="Arial"/>
            </a:endParaRPr>
          </a:p>
        </p:txBody>
      </p:sp>
      <p:sp>
        <p:nvSpPr>
          <p:cNvPr id="234" name="Google Shape;234;p7"/>
          <p:cNvSpPr/>
          <p:nvPr/>
        </p:nvSpPr>
        <p:spPr>
          <a:xfrm>
            <a:off x="3066242" y="4085079"/>
            <a:ext cx="422960" cy="371601"/>
          </a:xfrm>
          <a:custGeom>
            <a:avLst/>
            <a:gdLst/>
            <a:ahLst/>
            <a:cxnLst/>
            <a:rect l="l" t="t" r="r" b="b"/>
            <a:pathLst>
              <a:path w="266700" h="234314" extrusionOk="0">
                <a:moveTo>
                  <a:pt x="266203" y="54000"/>
                </a:moveTo>
                <a:lnTo>
                  <a:pt x="266203" y="144000"/>
                </a:lnTo>
              </a:path>
              <a:path w="266700" h="234314" extrusionOk="0">
                <a:moveTo>
                  <a:pt x="36000" y="54000"/>
                </a:moveTo>
                <a:lnTo>
                  <a:pt x="36000" y="234002"/>
                </a:lnTo>
              </a:path>
              <a:path w="266700" h="234314" extrusionOk="0">
                <a:moveTo>
                  <a:pt x="0" y="54000"/>
                </a:moveTo>
                <a:lnTo>
                  <a:pt x="36000" y="0"/>
                </a:lnTo>
                <a:lnTo>
                  <a:pt x="72001" y="5400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35" name="Google Shape;235;p7"/>
          <p:cNvSpPr txBox="1"/>
          <p:nvPr/>
        </p:nvSpPr>
        <p:spPr>
          <a:xfrm>
            <a:off x="3298969" y="3661996"/>
            <a:ext cx="387714" cy="472128"/>
          </a:xfrm>
          <a:prstGeom prst="rect">
            <a:avLst/>
          </a:prstGeom>
          <a:noFill/>
          <a:ln>
            <a:noFill/>
          </a:ln>
        </p:spPr>
        <p:txBody>
          <a:bodyPr spcFirstLastPara="1" wrap="square" lIns="0" tIns="20125" rIns="0" bIns="0" anchor="t" anchorCtr="0">
            <a:spAutoFit/>
          </a:bodyPr>
          <a:lstStyle/>
          <a:p>
            <a:pPr marL="0" marR="8056" lvl="0" indent="263846" algn="l" rtl="0">
              <a:lnSpc>
                <a:spcPct val="104900"/>
              </a:lnSpc>
              <a:spcBef>
                <a:spcPts val="0"/>
              </a:spcBef>
              <a:spcAft>
                <a:spcPts val="0"/>
              </a:spcAft>
              <a:buNone/>
            </a:pPr>
            <a:r>
              <a:rPr lang="en-US" sz="1427" i="1">
                <a:solidFill>
                  <a:schemeClr val="dk1"/>
                </a:solidFill>
                <a:latin typeface="Arial"/>
                <a:ea typeface="Arial"/>
                <a:cs typeface="Arial"/>
                <a:sym typeface="Arial"/>
              </a:rPr>
              <a:t>q  reset</a:t>
            </a:r>
            <a:endParaRPr sz="1427">
              <a:solidFill>
                <a:schemeClr val="dk1"/>
              </a:solidFill>
              <a:latin typeface="Arial"/>
              <a:ea typeface="Arial"/>
              <a:cs typeface="Arial"/>
              <a:sym typeface="Arial"/>
            </a:endParaRPr>
          </a:p>
        </p:txBody>
      </p:sp>
      <p:grpSp>
        <p:nvGrpSpPr>
          <p:cNvPr id="236" name="Google Shape;236;p7"/>
          <p:cNvGrpSpPr/>
          <p:nvPr/>
        </p:nvGrpSpPr>
        <p:grpSpPr>
          <a:xfrm>
            <a:off x="4011273" y="3536697"/>
            <a:ext cx="799596" cy="628398"/>
            <a:chOff x="2529330" y="1690334"/>
            <a:chExt cx="504190" cy="396240"/>
          </a:xfrm>
        </p:grpSpPr>
        <p:sp>
          <p:nvSpPr>
            <p:cNvPr id="237" name="Google Shape;237;p7"/>
            <p:cNvSpPr/>
            <p:nvPr/>
          </p:nvSpPr>
          <p:spPr>
            <a:xfrm>
              <a:off x="2529330" y="1690334"/>
              <a:ext cx="504190" cy="396240"/>
            </a:xfrm>
            <a:custGeom>
              <a:avLst/>
              <a:gdLst/>
              <a:ahLst/>
              <a:cxnLst/>
              <a:rect l="l" t="t" r="r" b="b"/>
              <a:pathLst>
                <a:path w="504189" h="396239" extrusionOk="0">
                  <a:moveTo>
                    <a:pt x="504005" y="0"/>
                  </a:moveTo>
                  <a:lnTo>
                    <a:pt x="0" y="0"/>
                  </a:lnTo>
                  <a:lnTo>
                    <a:pt x="0" y="396005"/>
                  </a:lnTo>
                  <a:lnTo>
                    <a:pt x="504005" y="396005"/>
                  </a:lnTo>
                  <a:lnTo>
                    <a:pt x="504005" y="0"/>
                  </a:lnTo>
                  <a:close/>
                </a:path>
              </a:pathLst>
            </a:custGeom>
            <a:solidFill>
              <a:srgbClr val="DFA1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38" name="Google Shape;238;p7"/>
            <p:cNvSpPr/>
            <p:nvPr/>
          </p:nvSpPr>
          <p:spPr>
            <a:xfrm>
              <a:off x="2529330" y="1690334"/>
              <a:ext cx="504190" cy="396240"/>
            </a:xfrm>
            <a:custGeom>
              <a:avLst/>
              <a:gdLst/>
              <a:ahLst/>
              <a:cxnLst/>
              <a:rect l="l" t="t" r="r" b="b"/>
              <a:pathLst>
                <a:path w="504189" h="396239" extrusionOk="0">
                  <a:moveTo>
                    <a:pt x="0" y="396005"/>
                  </a:moveTo>
                  <a:lnTo>
                    <a:pt x="504005" y="396005"/>
                  </a:lnTo>
                  <a:lnTo>
                    <a:pt x="504005" y="0"/>
                  </a:lnTo>
                  <a:lnTo>
                    <a:pt x="0" y="0"/>
                  </a:lnTo>
                  <a:lnTo>
                    <a:pt x="0" y="396005"/>
                  </a:lnTo>
                  <a:close/>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239" name="Google Shape;239;p7"/>
          <p:cNvSpPr txBox="1"/>
          <p:nvPr/>
        </p:nvSpPr>
        <p:spPr>
          <a:xfrm>
            <a:off x="4071455" y="3711650"/>
            <a:ext cx="116818" cy="238933"/>
          </a:xfrm>
          <a:prstGeom prst="rect">
            <a:avLst/>
          </a:prstGeom>
          <a:noFill/>
          <a:ln>
            <a:noFill/>
          </a:ln>
        </p:spPr>
        <p:txBody>
          <a:bodyPr spcFirstLastPara="1" wrap="square" lIns="0" tIns="19125" rIns="0" bIns="0" anchor="t" anchorCtr="0">
            <a:spAutoFit/>
          </a:bodyPr>
          <a:lstStyle/>
          <a:p>
            <a:pPr marL="0" marR="0" lvl="0" indent="0" algn="l" rtl="0">
              <a:spcBef>
                <a:spcPts val="0"/>
              </a:spcBef>
              <a:spcAft>
                <a:spcPts val="0"/>
              </a:spcAft>
              <a:buNone/>
            </a:pPr>
            <a:r>
              <a:rPr lang="en-US" sz="1427" i="1">
                <a:solidFill>
                  <a:schemeClr val="dk1"/>
                </a:solidFill>
                <a:latin typeface="Arial"/>
                <a:ea typeface="Arial"/>
                <a:cs typeface="Arial"/>
                <a:sym typeface="Arial"/>
              </a:rPr>
              <a:t>d</a:t>
            </a:r>
            <a:endParaRPr sz="1427">
              <a:solidFill>
                <a:schemeClr val="dk1"/>
              </a:solidFill>
              <a:latin typeface="Arial"/>
              <a:ea typeface="Arial"/>
              <a:cs typeface="Arial"/>
              <a:sym typeface="Arial"/>
            </a:endParaRPr>
          </a:p>
        </p:txBody>
      </p:sp>
      <p:sp>
        <p:nvSpPr>
          <p:cNvPr id="240" name="Google Shape;240;p7"/>
          <p:cNvSpPr/>
          <p:nvPr/>
        </p:nvSpPr>
        <p:spPr>
          <a:xfrm>
            <a:off x="4151008" y="4085079"/>
            <a:ext cx="422960" cy="371601"/>
          </a:xfrm>
          <a:custGeom>
            <a:avLst/>
            <a:gdLst/>
            <a:ahLst/>
            <a:cxnLst/>
            <a:rect l="l" t="t" r="r" b="b"/>
            <a:pathLst>
              <a:path w="266700" h="234314" extrusionOk="0">
                <a:moveTo>
                  <a:pt x="266203" y="54000"/>
                </a:moveTo>
                <a:lnTo>
                  <a:pt x="266203" y="144000"/>
                </a:lnTo>
              </a:path>
              <a:path w="266700" h="234314" extrusionOk="0">
                <a:moveTo>
                  <a:pt x="35999" y="54000"/>
                </a:moveTo>
                <a:lnTo>
                  <a:pt x="35999" y="234002"/>
                </a:lnTo>
              </a:path>
              <a:path w="266700" h="234314" extrusionOk="0">
                <a:moveTo>
                  <a:pt x="0" y="54000"/>
                </a:moveTo>
                <a:lnTo>
                  <a:pt x="35999" y="0"/>
                </a:lnTo>
                <a:lnTo>
                  <a:pt x="72000" y="5400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41" name="Google Shape;241;p7"/>
          <p:cNvSpPr txBox="1"/>
          <p:nvPr/>
        </p:nvSpPr>
        <p:spPr>
          <a:xfrm>
            <a:off x="4383722" y="3661996"/>
            <a:ext cx="387714" cy="472128"/>
          </a:xfrm>
          <a:prstGeom prst="rect">
            <a:avLst/>
          </a:prstGeom>
          <a:noFill/>
          <a:ln>
            <a:noFill/>
          </a:ln>
        </p:spPr>
        <p:txBody>
          <a:bodyPr spcFirstLastPara="1" wrap="square" lIns="0" tIns="20125" rIns="0" bIns="0" anchor="t" anchorCtr="0">
            <a:spAutoFit/>
          </a:bodyPr>
          <a:lstStyle/>
          <a:p>
            <a:pPr marL="0" marR="8056" lvl="0" indent="263846" algn="l" rtl="0">
              <a:lnSpc>
                <a:spcPct val="104900"/>
              </a:lnSpc>
              <a:spcBef>
                <a:spcPts val="0"/>
              </a:spcBef>
              <a:spcAft>
                <a:spcPts val="0"/>
              </a:spcAft>
              <a:buNone/>
            </a:pPr>
            <a:r>
              <a:rPr lang="en-US" sz="1427" i="1">
                <a:solidFill>
                  <a:schemeClr val="dk1"/>
                </a:solidFill>
                <a:latin typeface="Arial"/>
                <a:ea typeface="Arial"/>
                <a:cs typeface="Arial"/>
                <a:sym typeface="Arial"/>
              </a:rPr>
              <a:t>q  reset</a:t>
            </a:r>
            <a:endParaRPr sz="1427">
              <a:solidFill>
                <a:schemeClr val="dk1"/>
              </a:solidFill>
              <a:latin typeface="Arial"/>
              <a:ea typeface="Arial"/>
              <a:cs typeface="Arial"/>
              <a:sym typeface="Arial"/>
            </a:endParaRPr>
          </a:p>
        </p:txBody>
      </p:sp>
      <p:grpSp>
        <p:nvGrpSpPr>
          <p:cNvPr id="242" name="Google Shape;242;p7"/>
          <p:cNvGrpSpPr/>
          <p:nvPr/>
        </p:nvGrpSpPr>
        <p:grpSpPr>
          <a:xfrm>
            <a:off x="3731806" y="3536697"/>
            <a:ext cx="2163837" cy="628398"/>
            <a:chOff x="2353111" y="1690334"/>
            <a:chExt cx="1364419" cy="396240"/>
          </a:xfrm>
        </p:grpSpPr>
        <p:sp>
          <p:nvSpPr>
            <p:cNvPr id="243" name="Google Shape;243;p7"/>
            <p:cNvSpPr/>
            <p:nvPr/>
          </p:nvSpPr>
          <p:spPr>
            <a:xfrm>
              <a:off x="2353111" y="1888337"/>
              <a:ext cx="172720" cy="0"/>
            </a:xfrm>
            <a:custGeom>
              <a:avLst/>
              <a:gdLst/>
              <a:ahLst/>
              <a:cxnLst/>
              <a:rect l="l" t="t" r="r" b="b"/>
              <a:pathLst>
                <a:path w="172719" h="120000" extrusionOk="0">
                  <a:moveTo>
                    <a:pt x="172439" y="0"/>
                  </a:moveTo>
                  <a:lnTo>
                    <a:pt x="0" y="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44" name="Google Shape;244;p7"/>
            <p:cNvSpPr/>
            <p:nvPr/>
          </p:nvSpPr>
          <p:spPr>
            <a:xfrm>
              <a:off x="3213340" y="1690334"/>
              <a:ext cx="504190" cy="396240"/>
            </a:xfrm>
            <a:custGeom>
              <a:avLst/>
              <a:gdLst/>
              <a:ahLst/>
              <a:cxnLst/>
              <a:rect l="l" t="t" r="r" b="b"/>
              <a:pathLst>
                <a:path w="504189" h="396239" extrusionOk="0">
                  <a:moveTo>
                    <a:pt x="504005" y="0"/>
                  </a:moveTo>
                  <a:lnTo>
                    <a:pt x="0" y="0"/>
                  </a:lnTo>
                  <a:lnTo>
                    <a:pt x="0" y="396005"/>
                  </a:lnTo>
                  <a:lnTo>
                    <a:pt x="504005" y="396005"/>
                  </a:lnTo>
                  <a:lnTo>
                    <a:pt x="504005" y="0"/>
                  </a:lnTo>
                  <a:close/>
                </a:path>
              </a:pathLst>
            </a:custGeom>
            <a:solidFill>
              <a:srgbClr val="DFA1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45" name="Google Shape;245;p7"/>
            <p:cNvSpPr/>
            <p:nvPr/>
          </p:nvSpPr>
          <p:spPr>
            <a:xfrm>
              <a:off x="3213340" y="1690334"/>
              <a:ext cx="504190" cy="396240"/>
            </a:xfrm>
            <a:custGeom>
              <a:avLst/>
              <a:gdLst/>
              <a:ahLst/>
              <a:cxnLst/>
              <a:rect l="l" t="t" r="r" b="b"/>
              <a:pathLst>
                <a:path w="504189" h="396239" extrusionOk="0">
                  <a:moveTo>
                    <a:pt x="0" y="396005"/>
                  </a:moveTo>
                  <a:lnTo>
                    <a:pt x="504005" y="396005"/>
                  </a:lnTo>
                  <a:lnTo>
                    <a:pt x="504005" y="0"/>
                  </a:lnTo>
                  <a:lnTo>
                    <a:pt x="0" y="0"/>
                  </a:lnTo>
                  <a:lnTo>
                    <a:pt x="0" y="396005"/>
                  </a:lnTo>
                  <a:close/>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246" name="Google Shape;246;p7"/>
          <p:cNvSpPr txBox="1"/>
          <p:nvPr/>
        </p:nvSpPr>
        <p:spPr>
          <a:xfrm>
            <a:off x="5156208" y="3711650"/>
            <a:ext cx="116818" cy="238933"/>
          </a:xfrm>
          <a:prstGeom prst="rect">
            <a:avLst/>
          </a:prstGeom>
          <a:noFill/>
          <a:ln>
            <a:noFill/>
          </a:ln>
        </p:spPr>
        <p:txBody>
          <a:bodyPr spcFirstLastPara="1" wrap="square" lIns="0" tIns="19125" rIns="0" bIns="0" anchor="t" anchorCtr="0">
            <a:spAutoFit/>
          </a:bodyPr>
          <a:lstStyle/>
          <a:p>
            <a:pPr marL="0" marR="0" lvl="0" indent="0" algn="l" rtl="0">
              <a:spcBef>
                <a:spcPts val="0"/>
              </a:spcBef>
              <a:spcAft>
                <a:spcPts val="0"/>
              </a:spcAft>
              <a:buNone/>
            </a:pPr>
            <a:r>
              <a:rPr lang="en-US" sz="1427" i="1">
                <a:solidFill>
                  <a:schemeClr val="dk1"/>
                </a:solidFill>
                <a:latin typeface="Arial"/>
                <a:ea typeface="Arial"/>
                <a:cs typeface="Arial"/>
                <a:sym typeface="Arial"/>
              </a:rPr>
              <a:t>d</a:t>
            </a:r>
            <a:endParaRPr sz="1427">
              <a:solidFill>
                <a:schemeClr val="dk1"/>
              </a:solidFill>
              <a:latin typeface="Arial"/>
              <a:ea typeface="Arial"/>
              <a:cs typeface="Arial"/>
              <a:sym typeface="Arial"/>
            </a:endParaRPr>
          </a:p>
        </p:txBody>
      </p:sp>
      <p:sp>
        <p:nvSpPr>
          <p:cNvPr id="247" name="Google Shape;247;p7"/>
          <p:cNvSpPr/>
          <p:nvPr/>
        </p:nvSpPr>
        <p:spPr>
          <a:xfrm>
            <a:off x="5235781" y="4085079"/>
            <a:ext cx="422960" cy="371601"/>
          </a:xfrm>
          <a:custGeom>
            <a:avLst/>
            <a:gdLst/>
            <a:ahLst/>
            <a:cxnLst/>
            <a:rect l="l" t="t" r="r" b="b"/>
            <a:pathLst>
              <a:path w="266700" h="234314" extrusionOk="0">
                <a:moveTo>
                  <a:pt x="266207" y="54000"/>
                </a:moveTo>
                <a:lnTo>
                  <a:pt x="266207" y="144000"/>
                </a:lnTo>
              </a:path>
              <a:path w="266700" h="234314" extrusionOk="0">
                <a:moveTo>
                  <a:pt x="35999" y="54000"/>
                </a:moveTo>
                <a:lnTo>
                  <a:pt x="35999" y="234002"/>
                </a:lnTo>
              </a:path>
              <a:path w="266700" h="234314" extrusionOk="0">
                <a:moveTo>
                  <a:pt x="0" y="54000"/>
                </a:moveTo>
                <a:lnTo>
                  <a:pt x="35999" y="0"/>
                </a:lnTo>
                <a:lnTo>
                  <a:pt x="71998" y="5400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48" name="Google Shape;248;p7"/>
          <p:cNvSpPr txBox="1"/>
          <p:nvPr/>
        </p:nvSpPr>
        <p:spPr>
          <a:xfrm>
            <a:off x="5541445" y="3661996"/>
            <a:ext cx="308157" cy="472128"/>
          </a:xfrm>
          <a:prstGeom prst="rect">
            <a:avLst/>
          </a:prstGeom>
          <a:noFill/>
          <a:ln>
            <a:noFill/>
          </a:ln>
        </p:spPr>
        <p:txBody>
          <a:bodyPr spcFirstLastPara="1" wrap="square" lIns="0" tIns="20125" rIns="0" bIns="0" anchor="t" anchorCtr="0">
            <a:spAutoFit/>
          </a:bodyPr>
          <a:lstStyle/>
          <a:p>
            <a:pPr marL="0" marR="8056" lvl="0" indent="191339" algn="l" rtl="0">
              <a:lnSpc>
                <a:spcPct val="104900"/>
              </a:lnSpc>
              <a:spcBef>
                <a:spcPts val="0"/>
              </a:spcBef>
              <a:spcAft>
                <a:spcPts val="0"/>
              </a:spcAft>
              <a:buNone/>
            </a:pPr>
            <a:r>
              <a:rPr lang="en-US" sz="1427" i="1">
                <a:solidFill>
                  <a:schemeClr val="dk1"/>
                </a:solidFill>
                <a:latin typeface="Arial"/>
                <a:ea typeface="Arial"/>
                <a:cs typeface="Arial"/>
                <a:sym typeface="Arial"/>
              </a:rPr>
              <a:t>q  set</a:t>
            </a:r>
            <a:endParaRPr sz="1427">
              <a:solidFill>
                <a:schemeClr val="dk1"/>
              </a:solidFill>
              <a:latin typeface="Arial"/>
              <a:ea typeface="Arial"/>
              <a:cs typeface="Arial"/>
              <a:sym typeface="Arial"/>
            </a:endParaRPr>
          </a:p>
        </p:txBody>
      </p:sp>
      <p:sp>
        <p:nvSpPr>
          <p:cNvPr id="249" name="Google Shape;249;p7"/>
          <p:cNvSpPr/>
          <p:nvPr/>
        </p:nvSpPr>
        <p:spPr>
          <a:xfrm>
            <a:off x="2777780" y="3393967"/>
            <a:ext cx="3266864" cy="1062436"/>
          </a:xfrm>
          <a:custGeom>
            <a:avLst/>
            <a:gdLst/>
            <a:ahLst/>
            <a:cxnLst/>
            <a:rect l="l" t="t" r="r" b="b"/>
            <a:pathLst>
              <a:path w="2059939" h="669925" extrusionOk="0">
                <a:moveTo>
                  <a:pt x="1458014" y="288002"/>
                </a:moveTo>
                <a:lnTo>
                  <a:pt x="1285572" y="288002"/>
                </a:lnTo>
              </a:path>
              <a:path w="2059939" h="669925" extrusionOk="0">
                <a:moveTo>
                  <a:pt x="1969580" y="288002"/>
                </a:moveTo>
                <a:lnTo>
                  <a:pt x="2059585" y="288002"/>
                </a:lnTo>
                <a:lnTo>
                  <a:pt x="2059585" y="0"/>
                </a:lnTo>
                <a:lnTo>
                  <a:pt x="0" y="0"/>
                </a:lnTo>
                <a:lnTo>
                  <a:pt x="0" y="288002"/>
                </a:lnTo>
                <a:lnTo>
                  <a:pt x="90001" y="288002"/>
                </a:lnTo>
              </a:path>
              <a:path w="2059939" h="669925" extrusionOk="0">
                <a:moveTo>
                  <a:pt x="217892" y="669787"/>
                </a:moveTo>
                <a:lnTo>
                  <a:pt x="1585906" y="669787"/>
                </a:lnTo>
                <a:lnTo>
                  <a:pt x="1855915" y="669787"/>
                </a:lnTo>
              </a:path>
              <a:path w="2059939" h="669925" extrusionOk="0">
                <a:moveTo>
                  <a:pt x="448095" y="579785"/>
                </a:moveTo>
                <a:lnTo>
                  <a:pt x="1816113" y="579785"/>
                </a:lnTo>
                <a:lnTo>
                  <a:pt x="1942110" y="579785"/>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50" name="Google Shape;250;p7"/>
          <p:cNvSpPr txBox="1"/>
          <p:nvPr/>
        </p:nvSpPr>
        <p:spPr>
          <a:xfrm>
            <a:off x="645017" y="4130481"/>
            <a:ext cx="7706222" cy="2031300"/>
          </a:xfrm>
          <a:prstGeom prst="rect">
            <a:avLst/>
          </a:prstGeom>
          <a:noFill/>
          <a:ln>
            <a:noFill/>
          </a:ln>
        </p:spPr>
        <p:txBody>
          <a:bodyPr spcFirstLastPara="1" wrap="square" lIns="0" tIns="82575" rIns="0" bIns="0" anchor="t" anchorCtr="0">
            <a:spAutoFit/>
          </a:bodyPr>
          <a:lstStyle/>
          <a:p>
            <a:pPr marL="5148022" marR="8056" lvl="0" indent="135951" algn="l" rtl="0">
              <a:lnSpc>
                <a:spcPct val="70700"/>
              </a:lnSpc>
              <a:spcBef>
                <a:spcPts val="0"/>
              </a:spcBef>
              <a:spcAft>
                <a:spcPts val="0"/>
              </a:spcAft>
              <a:buNone/>
            </a:pPr>
            <a:r>
              <a:rPr lang="en-US" sz="1427" i="1" dirty="0">
                <a:solidFill>
                  <a:schemeClr val="dk1"/>
                </a:solidFill>
                <a:latin typeface="Arial"/>
                <a:ea typeface="Arial"/>
                <a:cs typeface="Arial"/>
                <a:sym typeface="Arial"/>
              </a:rPr>
              <a:t>Reset</a:t>
            </a:r>
            <a:endParaRPr sz="1427" i="1" dirty="0">
              <a:solidFill>
                <a:schemeClr val="dk1"/>
              </a:solidFill>
              <a:latin typeface="Arial"/>
              <a:ea typeface="Arial"/>
              <a:cs typeface="Arial"/>
              <a:sym typeface="Arial"/>
            </a:endParaRPr>
          </a:p>
          <a:p>
            <a:pPr marL="5148022" marR="8056" lvl="0" indent="135951" algn="l" rtl="0">
              <a:lnSpc>
                <a:spcPct val="70700"/>
              </a:lnSpc>
              <a:spcBef>
                <a:spcPts val="649"/>
              </a:spcBef>
              <a:spcAft>
                <a:spcPts val="0"/>
              </a:spcAft>
              <a:buNone/>
            </a:pPr>
            <a:r>
              <a:rPr lang="en-US" sz="1427" i="1" dirty="0">
                <a:solidFill>
                  <a:schemeClr val="dk1"/>
                </a:solidFill>
                <a:latin typeface="Arial"/>
                <a:ea typeface="Arial"/>
                <a:cs typeface="Arial"/>
                <a:sym typeface="Arial"/>
              </a:rPr>
              <a:t>  </a:t>
            </a:r>
            <a:r>
              <a:rPr lang="en-US" sz="1427" i="1" dirty="0" err="1">
                <a:solidFill>
                  <a:schemeClr val="dk1"/>
                </a:solidFill>
                <a:latin typeface="Arial"/>
                <a:ea typeface="Arial"/>
                <a:cs typeface="Arial"/>
                <a:sym typeface="Arial"/>
              </a:rPr>
              <a:t>clk</a:t>
            </a:r>
            <a:endParaRPr sz="1427" dirty="0">
              <a:solidFill>
                <a:schemeClr val="dk1"/>
              </a:solidFill>
              <a:latin typeface="Arial"/>
              <a:ea typeface="Arial"/>
              <a:cs typeface="Arial"/>
              <a:sym typeface="Arial"/>
            </a:endParaRPr>
          </a:p>
          <a:p>
            <a:pPr marL="459212" marR="0" lvl="0" indent="0" algn="l" rtl="0">
              <a:lnSpc>
                <a:spcPct val="100000"/>
              </a:lnSpc>
              <a:spcBef>
                <a:spcPts val="349"/>
              </a:spcBef>
              <a:spcAft>
                <a:spcPts val="0"/>
              </a:spcAft>
              <a:buNone/>
            </a:pPr>
            <a:r>
              <a:rPr lang="en-US" sz="1903" dirty="0">
                <a:solidFill>
                  <a:schemeClr val="dk1"/>
                </a:solidFill>
                <a:latin typeface="Carlito"/>
                <a:ea typeface="Carlito"/>
                <a:cs typeface="Carlito"/>
                <a:sym typeface="Carlito"/>
              </a:rPr>
              <a:t>Also called “one-hot” counters (as in one-hot encoding)</a:t>
            </a:r>
            <a:endParaRPr sz="1903" dirty="0">
              <a:solidFill>
                <a:schemeClr val="dk1"/>
              </a:solidFill>
              <a:latin typeface="Carlito"/>
              <a:ea typeface="Carlito"/>
              <a:cs typeface="Carlito"/>
              <a:sym typeface="Carlito"/>
            </a:endParaRPr>
          </a:p>
          <a:p>
            <a:pPr marL="459212" marR="0" lvl="0" indent="0" algn="l" rtl="0">
              <a:lnSpc>
                <a:spcPct val="100000"/>
              </a:lnSpc>
              <a:spcBef>
                <a:spcPts val="349"/>
              </a:spcBef>
              <a:spcAft>
                <a:spcPts val="0"/>
              </a:spcAft>
              <a:buNone/>
            </a:pPr>
            <a:r>
              <a:rPr lang="en-US" sz="1903" dirty="0">
                <a:solidFill>
                  <a:schemeClr val="dk1"/>
                </a:solidFill>
                <a:latin typeface="Carlito"/>
                <a:ea typeface="Carlito"/>
                <a:cs typeface="Carlito"/>
                <a:sym typeface="Carlito"/>
              </a:rPr>
              <a:t>Number of states= number of flipflop, mod-8 ring counter requires eight flip-flops and a mod-16 ring counter would require sixteen flip-flops.(number of  states=number of flipflops) but Other flipflop number of states is  =2</a:t>
            </a:r>
            <a:r>
              <a:rPr lang="en-US" sz="1903" baseline="30000" dirty="0">
                <a:solidFill>
                  <a:schemeClr val="dk1"/>
                </a:solidFill>
                <a:latin typeface="Carlito"/>
                <a:ea typeface="Carlito"/>
                <a:cs typeface="Carlito"/>
                <a:sym typeface="Carlito"/>
              </a:rPr>
              <a:t>n </a:t>
            </a:r>
            <a:r>
              <a:rPr lang="en-US" sz="1269" baseline="30000" dirty="0">
                <a:solidFill>
                  <a:schemeClr val="dk1"/>
                </a:solidFill>
                <a:latin typeface="Carlito"/>
                <a:ea typeface="Carlito"/>
                <a:cs typeface="Carlito"/>
                <a:sym typeface="Carlito"/>
              </a:rPr>
              <a:t>  </a:t>
            </a:r>
            <a:endParaRPr sz="1269" baseline="30000" dirty="0">
              <a:solidFill>
                <a:schemeClr val="dk1"/>
              </a:solidFill>
              <a:latin typeface="Carlito"/>
              <a:ea typeface="Carlito"/>
              <a:cs typeface="Carlito"/>
              <a:sym typeface="Carlito"/>
            </a:endParaRPr>
          </a:p>
        </p:txBody>
      </p:sp>
      <p:sp>
        <p:nvSpPr>
          <p:cNvPr id="251" name="Google Shape;251;p7"/>
          <p:cNvSpPr/>
          <p:nvPr/>
        </p:nvSpPr>
        <p:spPr>
          <a:xfrm>
            <a:off x="390695" y="4890550"/>
            <a:ext cx="103402" cy="103402"/>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252" name="Google Shape;252;p7"/>
          <p:cNvSpPr txBox="1"/>
          <p:nvPr/>
        </p:nvSpPr>
        <p:spPr>
          <a:xfrm>
            <a:off x="311700" y="257200"/>
            <a:ext cx="657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Ring Counters –Summary </a:t>
            </a:r>
            <a:endParaRPr sz="3020" b="1" dirty="0">
              <a:solidFill>
                <a:srgbClr val="C55911"/>
              </a:solidFill>
              <a:latin typeface="Times New Roman"/>
              <a:ea typeface="Times New Roman"/>
              <a:cs typeface="Times New Roman"/>
              <a:sym typeface="Times New Roman"/>
            </a:endParaRPr>
          </a:p>
        </p:txBody>
      </p:sp>
      <p:cxnSp>
        <p:nvCxnSpPr>
          <p:cNvPr id="253" name="Google Shape;253;p7"/>
          <p:cNvCxnSpPr/>
          <p:nvPr/>
        </p:nvCxnSpPr>
        <p:spPr>
          <a:xfrm rot="10800000" flipH="1">
            <a:off x="4" y="912108"/>
            <a:ext cx="7020900" cy="40800"/>
          </a:xfrm>
          <a:prstGeom prst="straightConnector1">
            <a:avLst/>
          </a:prstGeom>
          <a:noFill/>
          <a:ln w="38100" cap="flat" cmpd="sng">
            <a:solidFill>
              <a:srgbClr val="C55A11"/>
            </a:solidFill>
            <a:prstDash val="solid"/>
            <a:miter lim="800000"/>
            <a:headEnd type="none" w="sm" len="sm"/>
            <a:tailEnd type="none" w="sm" len="sm"/>
          </a:ln>
        </p:spPr>
      </p:cxnSp>
      <p:pic>
        <p:nvPicPr>
          <p:cNvPr id="254" name="Google Shape;254;p7"/>
          <p:cNvPicPr preferRelativeResize="0"/>
          <p:nvPr/>
        </p:nvPicPr>
        <p:blipFill rotWithShape="1">
          <a:blip r:embed="rId10">
            <a:alphaModFix/>
          </a:blip>
          <a:srcRect/>
          <a:stretch/>
        </p:blipFill>
        <p:spPr>
          <a:xfrm>
            <a:off x="7845694" y="181484"/>
            <a:ext cx="1011091" cy="923313"/>
          </a:xfrm>
          <a:prstGeom prst="rect">
            <a:avLst/>
          </a:prstGeom>
          <a:noFill/>
          <a:ln>
            <a:noFill/>
          </a:ln>
        </p:spPr>
      </p:pic>
      <p:sp>
        <p:nvSpPr>
          <p:cNvPr id="255" name="Google Shape;255;p7"/>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7">
          <a:extLst>
            <a:ext uri="{FF2B5EF4-FFF2-40B4-BE49-F238E27FC236}">
              <a16:creationId xmlns:a16="http://schemas.microsoft.com/office/drawing/2014/main" id="{F4CCDD6D-879F-313C-35A7-67831CA5349A}"/>
            </a:ext>
          </a:extLst>
        </p:cNvPr>
        <p:cNvGrpSpPr/>
        <p:nvPr/>
      </p:nvGrpSpPr>
      <p:grpSpPr>
        <a:xfrm>
          <a:off x="0" y="0"/>
          <a:ext cx="0" cy="0"/>
          <a:chOff x="0" y="0"/>
          <a:chExt cx="0" cy="0"/>
        </a:xfrm>
      </p:grpSpPr>
      <p:sp>
        <p:nvSpPr>
          <p:cNvPr id="388" name="Google Shape;388;p17">
            <a:extLst>
              <a:ext uri="{FF2B5EF4-FFF2-40B4-BE49-F238E27FC236}">
                <a16:creationId xmlns:a16="http://schemas.microsoft.com/office/drawing/2014/main" id="{1E4DDB54-F769-610D-D40F-C70A44B9AAAC}"/>
              </a:ext>
            </a:extLst>
          </p:cNvPr>
          <p:cNvSpPr txBox="1">
            <a:spLocks noGrp="1"/>
          </p:cNvSpPr>
          <p:nvPr>
            <p:ph type="body" idx="1"/>
          </p:nvPr>
        </p:nvSpPr>
        <p:spPr>
          <a:xfrm>
            <a:off x="457200" y="1600200"/>
            <a:ext cx="8229600" cy="2154436"/>
          </a:xfrm>
          <a:prstGeom prst="rect">
            <a:avLst/>
          </a:prstGeom>
          <a:noFill/>
          <a:ln>
            <a:noFill/>
          </a:ln>
        </p:spPr>
        <p:txBody>
          <a:bodyPr spcFirstLastPara="1" wrap="square" lIns="0" tIns="0" rIns="0" bIns="0" anchor="t" anchorCtr="0">
            <a:spAutoFit/>
          </a:bodyPr>
          <a:lstStyle/>
          <a:p>
            <a:pPr marL="256032" lvl="0" indent="-256032" algn="just">
              <a:spcBef>
                <a:spcPts val="0"/>
              </a:spcBef>
              <a:buSzPts val="2800"/>
            </a:pPr>
            <a:r>
              <a:rPr lang="en-US" sz="2000" dirty="0"/>
              <a:t>A k ‐bit ring counter circulates a single bit among the flip‐flops to provide k distinguish able states. The number of states can be doubled if the shift register is connected as a </a:t>
            </a:r>
            <a:r>
              <a:rPr lang="en-US" sz="2000" b="1" dirty="0"/>
              <a:t>switch‐tail ring counter</a:t>
            </a:r>
            <a:r>
              <a:rPr lang="en-US" sz="2000" dirty="0"/>
              <a:t>.</a:t>
            </a:r>
          </a:p>
          <a:p>
            <a:pPr marL="256032" lvl="0" indent="-256032" algn="just">
              <a:spcBef>
                <a:spcPts val="0"/>
              </a:spcBef>
              <a:buSzPts val="2800"/>
            </a:pPr>
            <a:endParaRPr lang="en-US" sz="2000" dirty="0"/>
          </a:p>
          <a:p>
            <a:pPr marL="256032" lvl="0" indent="-256032" algn="just">
              <a:spcBef>
                <a:spcPts val="0"/>
              </a:spcBef>
              <a:buSzPts val="2800"/>
            </a:pPr>
            <a:r>
              <a:rPr lang="en-US" sz="2000" dirty="0"/>
              <a:t>A switch‐tail ring counter is a circular shift register with the complemented output of the last flip‐flop connected to the input of the first flip‐flop. </a:t>
            </a:r>
            <a:endParaRPr sz="2000" dirty="0"/>
          </a:p>
        </p:txBody>
      </p:sp>
      <p:pic>
        <p:nvPicPr>
          <p:cNvPr id="389" name="Google Shape;389;p17">
            <a:extLst>
              <a:ext uri="{FF2B5EF4-FFF2-40B4-BE49-F238E27FC236}">
                <a16:creationId xmlns:a16="http://schemas.microsoft.com/office/drawing/2014/main" id="{E39BF690-8E37-4E9E-10F9-77EB91F4A4BB}"/>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0" name="Google Shape;390;p17">
            <a:extLst>
              <a:ext uri="{FF2B5EF4-FFF2-40B4-BE49-F238E27FC236}">
                <a16:creationId xmlns:a16="http://schemas.microsoft.com/office/drawing/2014/main" id="{080F05A8-8BFB-7F66-BECD-7480CEA28FF3}"/>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Johnson Counter</a:t>
            </a:r>
            <a:endParaRPr sz="3020" b="1" dirty="0">
              <a:solidFill>
                <a:srgbClr val="C55911"/>
              </a:solidFill>
              <a:latin typeface="Times New Roman"/>
              <a:ea typeface="Times New Roman"/>
              <a:cs typeface="Times New Roman"/>
              <a:sym typeface="Times New Roman"/>
            </a:endParaRPr>
          </a:p>
        </p:txBody>
      </p:sp>
      <p:cxnSp>
        <p:nvCxnSpPr>
          <p:cNvPr id="391" name="Google Shape;391;p17">
            <a:extLst>
              <a:ext uri="{FF2B5EF4-FFF2-40B4-BE49-F238E27FC236}">
                <a16:creationId xmlns:a16="http://schemas.microsoft.com/office/drawing/2014/main" id="{26E52C66-5F78-026E-A93A-5EDE90EFB487}"/>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392" name="Google Shape;392;p17">
            <a:extLst>
              <a:ext uri="{FF2B5EF4-FFF2-40B4-BE49-F238E27FC236}">
                <a16:creationId xmlns:a16="http://schemas.microsoft.com/office/drawing/2014/main" id="{E93176D7-2509-CDBD-AA1B-63DA1576EF08}"/>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548EC58-9C07-3E0C-BA64-0E0D78D9D93D}"/>
              </a:ext>
            </a:extLst>
          </p:cNvPr>
          <p:cNvPicPr>
            <a:picLocks noChangeAspect="1"/>
          </p:cNvPicPr>
          <p:nvPr/>
        </p:nvPicPr>
        <p:blipFill>
          <a:blip r:embed="rId4"/>
          <a:stretch>
            <a:fillRect/>
          </a:stretch>
        </p:blipFill>
        <p:spPr>
          <a:xfrm>
            <a:off x="818943" y="3947050"/>
            <a:ext cx="6348714" cy="2379835"/>
          </a:xfrm>
          <a:prstGeom prst="rect">
            <a:avLst/>
          </a:prstGeom>
        </p:spPr>
      </p:pic>
    </p:spTree>
    <p:extLst>
      <p:ext uri="{BB962C8B-B14F-4D97-AF65-F5344CB8AC3E}">
        <p14:creationId xmlns:p14="http://schemas.microsoft.com/office/powerpoint/2010/main" val="1651743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graphicFrame>
        <p:nvGraphicFramePr>
          <p:cNvPr id="379" name="Google Shape;379;p18"/>
          <p:cNvGraphicFramePr/>
          <p:nvPr/>
        </p:nvGraphicFramePr>
        <p:xfrm>
          <a:off x="266868" y="1309163"/>
          <a:ext cx="8610264" cy="4239674"/>
        </p:xfrm>
        <a:graphic>
          <a:graphicData uri="http://schemas.openxmlformats.org/presentationml/2006/ole">
            <mc:AlternateContent xmlns:mc="http://schemas.openxmlformats.org/markup-compatibility/2006">
              <mc:Choice xmlns:v="urn:schemas-microsoft-com:vml" Requires="v">
                <p:oleObj r:id="rId3" imgW="8610264" imgH="4239674" progId="PBrush">
                  <p:embed/>
                </p:oleObj>
              </mc:Choice>
              <mc:Fallback>
                <p:oleObj r:id="rId3" imgW="8610264" imgH="4239674" progId="PBrush">
                  <p:embed/>
                  <p:pic>
                    <p:nvPicPr>
                      <p:cNvPr id="379" name="Google Shape;379;p18"/>
                      <p:cNvPicPr preferRelativeResize="0"/>
                      <p:nvPr/>
                    </p:nvPicPr>
                    <p:blipFill rotWithShape="1">
                      <a:blip r:embed="rId4">
                        <a:alphaModFix/>
                      </a:blip>
                      <a:srcRect/>
                      <a:stretch/>
                    </p:blipFill>
                    <p:spPr>
                      <a:xfrm>
                        <a:off x="266868" y="1309163"/>
                        <a:ext cx="8610264" cy="4239674"/>
                      </a:xfrm>
                      <a:prstGeom prst="rect">
                        <a:avLst/>
                      </a:prstGeom>
                      <a:noFill/>
                      <a:ln>
                        <a:noFill/>
                      </a:ln>
                    </p:spPr>
                  </p:pic>
                </p:oleObj>
              </mc:Fallback>
            </mc:AlternateContent>
          </a:graphicData>
        </a:graphic>
      </p:graphicFrame>
      <p:pic>
        <p:nvPicPr>
          <p:cNvPr id="380" name="Google Shape;380;p18"/>
          <p:cNvPicPr preferRelativeResize="0"/>
          <p:nvPr/>
        </p:nvPicPr>
        <p:blipFill rotWithShape="1">
          <a:blip r:embed="rId5">
            <a:alphaModFix/>
          </a:blip>
          <a:srcRect/>
          <a:stretch/>
        </p:blipFill>
        <p:spPr>
          <a:xfrm>
            <a:off x="7845694" y="181484"/>
            <a:ext cx="1011091" cy="923313"/>
          </a:xfrm>
          <a:prstGeom prst="rect">
            <a:avLst/>
          </a:prstGeom>
          <a:noFill/>
          <a:ln>
            <a:noFill/>
          </a:ln>
        </p:spPr>
      </p:pic>
      <p:sp>
        <p:nvSpPr>
          <p:cNvPr id="381" name="Google Shape;381;p18"/>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Johnson counter</a:t>
            </a:r>
            <a:endParaRPr sz="3020" b="1" dirty="0">
              <a:solidFill>
                <a:srgbClr val="C55911"/>
              </a:solidFill>
              <a:latin typeface="Times New Roman"/>
              <a:ea typeface="Times New Roman"/>
              <a:cs typeface="Times New Roman"/>
              <a:sym typeface="Times New Roman"/>
            </a:endParaRPr>
          </a:p>
        </p:txBody>
      </p:sp>
      <p:cxnSp>
        <p:nvCxnSpPr>
          <p:cNvPr id="382" name="Google Shape;382;p18"/>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383" name="Google Shape;383;p18"/>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AB52F2C3-E4BC-E77A-B365-AF7E90D64504}"/>
            </a:ext>
          </a:extLst>
        </p:cNvPr>
        <p:cNvGrpSpPr/>
        <p:nvPr/>
      </p:nvGrpSpPr>
      <p:grpSpPr>
        <a:xfrm>
          <a:off x="0" y="0"/>
          <a:ext cx="0" cy="0"/>
          <a:chOff x="0" y="0"/>
          <a:chExt cx="0" cy="0"/>
        </a:xfrm>
      </p:grpSpPr>
      <p:pic>
        <p:nvPicPr>
          <p:cNvPr id="380" name="Google Shape;380;p18">
            <a:extLst>
              <a:ext uri="{FF2B5EF4-FFF2-40B4-BE49-F238E27FC236}">
                <a16:creationId xmlns:a16="http://schemas.microsoft.com/office/drawing/2014/main" id="{FA55EF1D-C51F-77FF-1CC5-B6E0F2724277}"/>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81" name="Google Shape;381;p18">
            <a:extLst>
              <a:ext uri="{FF2B5EF4-FFF2-40B4-BE49-F238E27FC236}">
                <a16:creationId xmlns:a16="http://schemas.microsoft.com/office/drawing/2014/main" id="{A804FAAE-E26B-B401-7BEC-351BA57B128E}"/>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Johnson counter</a:t>
            </a:r>
            <a:endParaRPr sz="3020" b="1" dirty="0">
              <a:solidFill>
                <a:srgbClr val="C55911"/>
              </a:solidFill>
              <a:latin typeface="Times New Roman"/>
              <a:ea typeface="Times New Roman"/>
              <a:cs typeface="Times New Roman"/>
              <a:sym typeface="Times New Roman"/>
            </a:endParaRPr>
          </a:p>
        </p:txBody>
      </p:sp>
      <p:cxnSp>
        <p:nvCxnSpPr>
          <p:cNvPr id="382" name="Google Shape;382;p18">
            <a:extLst>
              <a:ext uri="{FF2B5EF4-FFF2-40B4-BE49-F238E27FC236}">
                <a16:creationId xmlns:a16="http://schemas.microsoft.com/office/drawing/2014/main" id="{737C35C0-9B3E-ED9C-63A3-A01578468220}"/>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383" name="Google Shape;383;p18">
            <a:extLst>
              <a:ext uri="{FF2B5EF4-FFF2-40B4-BE49-F238E27FC236}">
                <a16:creationId xmlns:a16="http://schemas.microsoft.com/office/drawing/2014/main" id="{FAD83299-515C-2808-5358-7C6027629470}"/>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EDD22654-374D-1BCA-D0D8-9707671278E4}"/>
              </a:ext>
            </a:extLst>
          </p:cNvPr>
          <p:cNvSpPr txBox="1"/>
          <p:nvPr/>
        </p:nvSpPr>
        <p:spPr>
          <a:xfrm>
            <a:off x="515073" y="1588102"/>
            <a:ext cx="8177514" cy="5016758"/>
          </a:xfrm>
          <a:prstGeom prst="rect">
            <a:avLst/>
          </a:prstGeom>
          <a:noFill/>
        </p:spPr>
        <p:txBody>
          <a:bodyPr wrap="square">
            <a:spAutoFit/>
          </a:bodyPr>
          <a:lstStyle/>
          <a:p>
            <a:r>
              <a:rPr lang="en-US" sz="2000" dirty="0"/>
              <a:t>The circular connection is made from the complemented output of the rightmost flip‐flop to the input of the leftmost flip‐flop.  </a:t>
            </a:r>
          </a:p>
          <a:p>
            <a:r>
              <a:rPr lang="en-US" sz="2000" dirty="0"/>
              <a:t>The register shifts its contents once to the right with every clock pulse, and at the same time, the complemented value of the E flip‐flop is transferred into the A flip‐flop. </a:t>
            </a:r>
          </a:p>
          <a:p>
            <a:endParaRPr lang="en-US" sz="2000" dirty="0"/>
          </a:p>
          <a:p>
            <a:r>
              <a:rPr lang="en-US" sz="2000" dirty="0"/>
              <a:t>In general, a k ‐bit switch‐tail ring counter will go through a sequence of </a:t>
            </a:r>
            <a:r>
              <a:rPr lang="en-US" sz="2000" b="1" dirty="0"/>
              <a:t>2 k states</a:t>
            </a:r>
            <a:r>
              <a:rPr lang="en-US" sz="2000" dirty="0"/>
              <a:t>. Starting from all 0’s, each shift operation inserts 1’s from the left until the register is filled with all 1’s. In the next sequences, 0’s are inserted from the left until the register is again filled with all 0’s. </a:t>
            </a:r>
          </a:p>
          <a:p>
            <a:endParaRPr lang="en-US" sz="2000" dirty="0"/>
          </a:p>
          <a:p>
            <a:r>
              <a:rPr lang="en-US" sz="2000" dirty="0"/>
              <a:t>A Johnson counter is a k ‐bit switch‐tail ring counter with 2 k decoding gates to pro vide outputs for 2 k timing signals.</a:t>
            </a:r>
          </a:p>
          <a:p>
            <a:endParaRPr lang="en-US" sz="2000" dirty="0"/>
          </a:p>
          <a:p>
            <a:r>
              <a:rPr lang="en-US" sz="2000" dirty="0"/>
              <a:t>The eight AND gates listed in the table, when connected to the circuit, will complete the construction of the Johnson counter.  </a:t>
            </a:r>
            <a:endParaRPr lang="en-IN" sz="2000" dirty="0"/>
          </a:p>
        </p:txBody>
      </p:sp>
    </p:spTree>
    <p:extLst>
      <p:ext uri="{BB962C8B-B14F-4D97-AF65-F5344CB8AC3E}">
        <p14:creationId xmlns:p14="http://schemas.microsoft.com/office/powerpoint/2010/main" val="68225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19"/>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p>
            <a:pPr marL="256032" lvl="0" indent="-256032" algn="l" rtl="0">
              <a:spcBef>
                <a:spcPts val="0"/>
              </a:spcBef>
              <a:spcAft>
                <a:spcPts val="0"/>
              </a:spcAft>
              <a:buClr>
                <a:srgbClr val="007FA3"/>
              </a:buClr>
              <a:buSzPts val="2000"/>
              <a:buChar char="•"/>
            </a:pPr>
            <a:r>
              <a:rPr lang="en-US" sz="2000"/>
              <a:t>One disadvantage of the circuit in Fig. 6.18 (a) is that if it finds itself in an unused state, it will persist in moving from one invalid state to another and never find its way to a valid state. The difficulty can be corrected by modifying the circuit to avoid this undesirable condition</a:t>
            </a:r>
            <a:endParaRPr/>
          </a:p>
          <a:p>
            <a:pPr marL="256032" lvl="0" indent="-256032" algn="l" rtl="0">
              <a:spcBef>
                <a:spcPts val="1500"/>
              </a:spcBef>
              <a:spcAft>
                <a:spcPts val="0"/>
              </a:spcAft>
              <a:buClr>
                <a:srgbClr val="007FA3"/>
              </a:buClr>
              <a:buSzPts val="2000"/>
              <a:buChar char="•"/>
            </a:pPr>
            <a:r>
              <a:rPr lang="en-US" sz="2000"/>
              <a:t>One correcting procedure is to disconnect the output from flip‐flop B that goes to the D input of flip‐flop C and instead enable the input of flip‐flop C by the function</a:t>
            </a:r>
            <a:endParaRPr/>
          </a:p>
          <a:p>
            <a:pPr marL="256032" lvl="0" indent="-256032" algn="l" rtl="0">
              <a:spcBef>
                <a:spcPts val="1500"/>
              </a:spcBef>
              <a:spcAft>
                <a:spcPts val="0"/>
              </a:spcAft>
              <a:buClr>
                <a:srgbClr val="007FA3"/>
              </a:buClr>
              <a:buSzPts val="2000"/>
              <a:buChar char="•"/>
            </a:pPr>
            <a:r>
              <a:rPr lang="en-US" sz="2000"/>
              <a:t> D</a:t>
            </a:r>
            <a:r>
              <a:rPr lang="en-US" sz="2000" baseline="-25000"/>
              <a:t>C</a:t>
            </a:r>
            <a:r>
              <a:rPr lang="en-US" sz="2000"/>
              <a:t> = (A + C)B where D</a:t>
            </a:r>
            <a:r>
              <a:rPr lang="en-US" sz="2000" baseline="-25000"/>
              <a:t>C</a:t>
            </a:r>
            <a:r>
              <a:rPr lang="en-US" sz="2000"/>
              <a:t> is the flip‐flop input equation for the D input of flip‐flop C. Johnson counters can be constructed for any number of timing sequences. The number of flip‐flops needed is one‐half the number of timing signals.</a:t>
            </a:r>
            <a:endParaRPr/>
          </a:p>
          <a:p>
            <a:pPr marL="256032" lvl="0" indent="-256032" algn="l" rtl="0">
              <a:spcBef>
                <a:spcPts val="1500"/>
              </a:spcBef>
              <a:spcAft>
                <a:spcPts val="0"/>
              </a:spcAft>
              <a:buClr>
                <a:srgbClr val="007FA3"/>
              </a:buClr>
              <a:buSzPts val="2000"/>
              <a:buChar char="•"/>
            </a:pPr>
            <a:r>
              <a:rPr lang="en-US" sz="2000"/>
              <a:t> The number of decoding gates is equal to the number of timing signals, and only two‐input gates are needed. </a:t>
            </a:r>
            <a:endParaRPr sz="2000"/>
          </a:p>
        </p:txBody>
      </p:sp>
      <p:pic>
        <p:nvPicPr>
          <p:cNvPr id="398" name="Google Shape;398;p19"/>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a:solidFill>
                  <a:srgbClr val="C55911"/>
                </a:solidFill>
                <a:latin typeface="Times New Roman"/>
                <a:ea typeface="Times New Roman"/>
                <a:cs typeface="Times New Roman"/>
                <a:sym typeface="Times New Roman"/>
              </a:rPr>
              <a:t>Johnson Counter</a:t>
            </a:r>
            <a:endParaRPr sz="3020" b="1">
              <a:solidFill>
                <a:srgbClr val="C55911"/>
              </a:solidFill>
              <a:latin typeface="Times New Roman"/>
              <a:ea typeface="Times New Roman"/>
              <a:cs typeface="Times New Roman"/>
              <a:sym typeface="Times New Roman"/>
            </a:endParaRPr>
          </a:p>
        </p:txBody>
      </p:sp>
      <p:cxnSp>
        <p:nvCxnSpPr>
          <p:cNvPr id="400" name="Google Shape;400;p19"/>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3"/>
          <p:cNvSpPr txBox="1">
            <a:spLocks noGrp="1"/>
          </p:cNvSpPr>
          <p:nvPr>
            <p:ph type="title"/>
          </p:nvPr>
        </p:nvSpPr>
        <p:spPr>
          <a:xfrm>
            <a:off x="725075" y="2396206"/>
            <a:ext cx="13051348" cy="541524"/>
          </a:xfrm>
          <a:prstGeom prst="rect">
            <a:avLst/>
          </a:prstGeom>
          <a:noFill/>
          <a:ln>
            <a:noFill/>
          </a:ln>
        </p:spPr>
        <p:txBody>
          <a:bodyPr spcFirstLastPara="1" wrap="square" lIns="0" tIns="18125" rIns="0" bIns="0" anchor="b" anchorCtr="0">
            <a:spAutoFit/>
          </a:bodyPr>
          <a:lstStyle/>
          <a:p>
            <a:pPr marL="20141" lvl="0" indent="0" algn="l" rtl="0">
              <a:lnSpc>
                <a:spcPct val="100000"/>
              </a:lnSpc>
              <a:spcBef>
                <a:spcPts val="0"/>
              </a:spcBef>
              <a:spcAft>
                <a:spcPts val="0"/>
              </a:spcAft>
              <a:buClr>
                <a:srgbClr val="007FA3"/>
              </a:buClr>
              <a:buSzPts val="3400"/>
              <a:buFont typeface="Times New Roman"/>
              <a:buNone/>
            </a:pPr>
            <a:r>
              <a:rPr lang="en-US"/>
              <a:t>COUNTERS - 2</a:t>
            </a:r>
            <a:endParaRPr/>
          </a:p>
        </p:txBody>
      </p:sp>
      <p:sp>
        <p:nvSpPr>
          <p:cNvPr id="305" name="Google Shape;305;p13"/>
          <p:cNvSpPr/>
          <p:nvPr/>
        </p:nvSpPr>
        <p:spPr>
          <a:xfrm>
            <a:off x="139153" y="2395082"/>
            <a:ext cx="8851948" cy="292883"/>
          </a:xfrm>
          <a:custGeom>
            <a:avLst/>
            <a:gdLst/>
            <a:ahLst/>
            <a:cxnLst/>
            <a:rect l="l" t="t" r="r" b="b"/>
            <a:pathLst>
              <a:path w="5584825" h="184784" extrusionOk="0">
                <a:moveTo>
                  <a:pt x="5533784" y="0"/>
                </a:moveTo>
                <a:lnTo>
                  <a:pt x="50800" y="0"/>
                </a:lnTo>
                <a:lnTo>
                  <a:pt x="31075" y="4008"/>
                </a:lnTo>
                <a:lnTo>
                  <a:pt x="14922" y="14922"/>
                </a:lnTo>
                <a:lnTo>
                  <a:pt x="4008" y="31075"/>
                </a:lnTo>
                <a:lnTo>
                  <a:pt x="0" y="50800"/>
                </a:lnTo>
                <a:lnTo>
                  <a:pt x="0" y="184644"/>
                </a:lnTo>
                <a:lnTo>
                  <a:pt x="5584584" y="184644"/>
                </a:lnTo>
                <a:lnTo>
                  <a:pt x="5584584" y="50800"/>
                </a:lnTo>
                <a:lnTo>
                  <a:pt x="5580575" y="31075"/>
                </a:lnTo>
                <a:lnTo>
                  <a:pt x="5569661" y="14922"/>
                </a:lnTo>
                <a:lnTo>
                  <a:pt x="5553509" y="4008"/>
                </a:lnTo>
                <a:lnTo>
                  <a:pt x="5533784" y="0"/>
                </a:lnTo>
                <a:close/>
              </a:path>
            </a:pathLst>
          </a:custGeom>
          <a:solidFill>
            <a:srgbClr val="F3DEC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06" name="Google Shape;306;p13"/>
          <p:cNvSpPr txBox="1"/>
          <p:nvPr/>
        </p:nvSpPr>
        <p:spPr>
          <a:xfrm>
            <a:off x="199576" y="2367573"/>
            <a:ext cx="5943300" cy="287700"/>
          </a:xfrm>
          <a:prstGeom prst="rect">
            <a:avLst/>
          </a:prstGeom>
          <a:noFill/>
          <a:ln>
            <a:noFill/>
          </a:ln>
        </p:spPr>
        <p:txBody>
          <a:bodyPr spcFirstLastPara="1" wrap="square" lIns="0" tIns="19125" rIns="0" bIns="0" anchor="t" anchorCtr="0">
            <a:spAutoFit/>
          </a:bodyPr>
          <a:lstStyle/>
          <a:p>
            <a:pPr marL="20141" marR="0" lvl="0" indent="0" algn="l" rtl="0">
              <a:spcBef>
                <a:spcPts val="0"/>
              </a:spcBef>
              <a:spcAft>
                <a:spcPts val="0"/>
              </a:spcAft>
              <a:buNone/>
            </a:pPr>
            <a:r>
              <a:rPr lang="en-US" sz="1744">
                <a:solidFill>
                  <a:srgbClr val="C55911"/>
                </a:solidFill>
                <a:latin typeface="Carlito"/>
                <a:ea typeface="Carlito"/>
                <a:cs typeface="Carlito"/>
                <a:sym typeface="Carlito"/>
              </a:rPr>
              <a:t>3-bit Johnson (Twisted Ring) Counter  (switch tail counter)</a:t>
            </a:r>
            <a:endParaRPr sz="1744">
              <a:solidFill>
                <a:schemeClr val="dk1"/>
              </a:solidFill>
              <a:latin typeface="Carlito"/>
              <a:ea typeface="Carlito"/>
              <a:cs typeface="Carlito"/>
              <a:sym typeface="Carlito"/>
            </a:endParaRPr>
          </a:p>
        </p:txBody>
      </p:sp>
      <p:grpSp>
        <p:nvGrpSpPr>
          <p:cNvPr id="307" name="Google Shape;307;p13"/>
          <p:cNvGrpSpPr/>
          <p:nvPr/>
        </p:nvGrpSpPr>
        <p:grpSpPr>
          <a:xfrm>
            <a:off x="139153" y="2465228"/>
            <a:ext cx="8937033" cy="1656051"/>
            <a:chOff x="87743" y="1014715"/>
            <a:chExt cx="5635307" cy="1044234"/>
          </a:xfrm>
        </p:grpSpPr>
        <p:sp>
          <p:nvSpPr>
            <p:cNvPr id="308" name="Google Shape;308;p13"/>
            <p:cNvSpPr/>
            <p:nvPr/>
          </p:nvSpPr>
          <p:spPr>
            <a:xfrm>
              <a:off x="87744" y="1142479"/>
              <a:ext cx="5584583" cy="5060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09" name="Google Shape;309;p13"/>
            <p:cNvSpPr/>
            <p:nvPr/>
          </p:nvSpPr>
          <p:spPr>
            <a:xfrm>
              <a:off x="138544" y="1957349"/>
              <a:ext cx="101600" cy="101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0" name="Google Shape;310;p13"/>
            <p:cNvSpPr/>
            <p:nvPr/>
          </p:nvSpPr>
          <p:spPr>
            <a:xfrm>
              <a:off x="189344" y="1944649"/>
              <a:ext cx="5533706" cy="1143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1" name="Google Shape;311;p13"/>
            <p:cNvSpPr/>
            <p:nvPr/>
          </p:nvSpPr>
          <p:spPr>
            <a:xfrm>
              <a:off x="5672327" y="1014717"/>
              <a:ext cx="50723" cy="94263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2" name="Google Shape;312;p13"/>
            <p:cNvSpPr/>
            <p:nvPr/>
          </p:nvSpPr>
          <p:spPr>
            <a:xfrm>
              <a:off x="87743" y="1186755"/>
              <a:ext cx="5584825" cy="821690"/>
            </a:xfrm>
            <a:custGeom>
              <a:avLst/>
              <a:gdLst/>
              <a:ahLst/>
              <a:cxnLst/>
              <a:rect l="l" t="t" r="r" b="b"/>
              <a:pathLst>
                <a:path w="5584825" h="821689" extrusionOk="0">
                  <a:moveTo>
                    <a:pt x="5584584" y="0"/>
                  </a:moveTo>
                  <a:lnTo>
                    <a:pt x="0" y="0"/>
                  </a:lnTo>
                  <a:lnTo>
                    <a:pt x="0" y="770594"/>
                  </a:lnTo>
                  <a:lnTo>
                    <a:pt x="4008" y="790318"/>
                  </a:lnTo>
                  <a:lnTo>
                    <a:pt x="14922" y="806471"/>
                  </a:lnTo>
                  <a:lnTo>
                    <a:pt x="31075" y="817385"/>
                  </a:lnTo>
                  <a:lnTo>
                    <a:pt x="50800" y="821394"/>
                  </a:lnTo>
                  <a:lnTo>
                    <a:pt x="5533784" y="821394"/>
                  </a:lnTo>
                  <a:lnTo>
                    <a:pt x="5553509" y="817385"/>
                  </a:lnTo>
                  <a:lnTo>
                    <a:pt x="5569661" y="806471"/>
                  </a:lnTo>
                  <a:lnTo>
                    <a:pt x="5580575" y="790318"/>
                  </a:lnTo>
                  <a:lnTo>
                    <a:pt x="5584584" y="770594"/>
                  </a:lnTo>
                  <a:lnTo>
                    <a:pt x="5584584" y="0"/>
                  </a:lnTo>
                  <a:close/>
                </a:path>
              </a:pathLst>
            </a:custGeom>
            <a:solidFill>
              <a:srgbClr val="F9EE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3" name="Google Shape;313;p13"/>
            <p:cNvSpPr/>
            <p:nvPr/>
          </p:nvSpPr>
          <p:spPr>
            <a:xfrm>
              <a:off x="5672327" y="1052815"/>
              <a:ext cx="0" cy="923925"/>
            </a:xfrm>
            <a:custGeom>
              <a:avLst/>
              <a:gdLst/>
              <a:ahLst/>
              <a:cxnLst/>
              <a:rect l="l" t="t" r="r" b="b"/>
              <a:pathLst>
                <a:path w="120000" h="923925" extrusionOk="0">
                  <a:moveTo>
                    <a:pt x="0" y="923583"/>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4" name="Google Shape;314;p13"/>
            <p:cNvSpPr/>
            <p:nvPr/>
          </p:nvSpPr>
          <p:spPr>
            <a:xfrm>
              <a:off x="5672327" y="1040115"/>
              <a:ext cx="0" cy="12700"/>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5" name="Google Shape;315;p13"/>
            <p:cNvSpPr/>
            <p:nvPr/>
          </p:nvSpPr>
          <p:spPr>
            <a:xfrm>
              <a:off x="5672327" y="1027415"/>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6" name="Google Shape;316;p13"/>
            <p:cNvSpPr/>
            <p:nvPr/>
          </p:nvSpPr>
          <p:spPr>
            <a:xfrm>
              <a:off x="5672327" y="1014715"/>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7" name="Google Shape;317;p13"/>
            <p:cNvSpPr/>
            <p:nvPr/>
          </p:nvSpPr>
          <p:spPr>
            <a:xfrm>
              <a:off x="1776122" y="1305841"/>
              <a:ext cx="504190" cy="396240"/>
            </a:xfrm>
            <a:custGeom>
              <a:avLst/>
              <a:gdLst/>
              <a:ahLst/>
              <a:cxnLst/>
              <a:rect l="l" t="t" r="r" b="b"/>
              <a:pathLst>
                <a:path w="504189" h="396239" extrusionOk="0">
                  <a:moveTo>
                    <a:pt x="504005" y="0"/>
                  </a:moveTo>
                  <a:lnTo>
                    <a:pt x="0" y="0"/>
                  </a:lnTo>
                  <a:lnTo>
                    <a:pt x="0" y="396005"/>
                  </a:lnTo>
                  <a:lnTo>
                    <a:pt x="504005" y="396005"/>
                  </a:lnTo>
                  <a:lnTo>
                    <a:pt x="504005" y="0"/>
                  </a:lnTo>
                  <a:close/>
                </a:path>
              </a:pathLst>
            </a:custGeom>
            <a:solidFill>
              <a:srgbClr val="DFA1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18" name="Google Shape;318;p13"/>
            <p:cNvSpPr/>
            <p:nvPr/>
          </p:nvSpPr>
          <p:spPr>
            <a:xfrm>
              <a:off x="1776122" y="1305841"/>
              <a:ext cx="504190" cy="396240"/>
            </a:xfrm>
            <a:custGeom>
              <a:avLst/>
              <a:gdLst/>
              <a:ahLst/>
              <a:cxnLst/>
              <a:rect l="l" t="t" r="r" b="b"/>
              <a:pathLst>
                <a:path w="504189" h="396239" extrusionOk="0">
                  <a:moveTo>
                    <a:pt x="0" y="396005"/>
                  </a:moveTo>
                  <a:lnTo>
                    <a:pt x="504005" y="396005"/>
                  </a:lnTo>
                  <a:lnTo>
                    <a:pt x="504005" y="0"/>
                  </a:lnTo>
                  <a:lnTo>
                    <a:pt x="0" y="0"/>
                  </a:lnTo>
                  <a:lnTo>
                    <a:pt x="0" y="396005"/>
                  </a:lnTo>
                  <a:close/>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319" name="Google Shape;319;p13"/>
          <p:cNvSpPr txBox="1"/>
          <p:nvPr/>
        </p:nvSpPr>
        <p:spPr>
          <a:xfrm>
            <a:off x="2876955" y="3101883"/>
            <a:ext cx="116818" cy="238933"/>
          </a:xfrm>
          <a:prstGeom prst="rect">
            <a:avLst/>
          </a:prstGeom>
          <a:noFill/>
          <a:ln>
            <a:noFill/>
          </a:ln>
        </p:spPr>
        <p:txBody>
          <a:bodyPr spcFirstLastPara="1" wrap="square" lIns="0" tIns="19125" rIns="0" bIns="0" anchor="t" anchorCtr="0">
            <a:spAutoFit/>
          </a:bodyPr>
          <a:lstStyle/>
          <a:p>
            <a:pPr marL="0" marR="0" lvl="0" indent="0" algn="l" rtl="0">
              <a:spcBef>
                <a:spcPts val="0"/>
              </a:spcBef>
              <a:spcAft>
                <a:spcPts val="0"/>
              </a:spcAft>
              <a:buNone/>
            </a:pPr>
            <a:r>
              <a:rPr lang="en-US" sz="1427" i="1">
                <a:solidFill>
                  <a:schemeClr val="dk1"/>
                </a:solidFill>
                <a:latin typeface="Arial"/>
                <a:ea typeface="Arial"/>
                <a:cs typeface="Arial"/>
                <a:sym typeface="Arial"/>
              </a:rPr>
              <a:t>d</a:t>
            </a:r>
            <a:endParaRPr sz="1427">
              <a:solidFill>
                <a:schemeClr val="dk1"/>
              </a:solidFill>
              <a:latin typeface="Arial"/>
              <a:ea typeface="Arial"/>
              <a:cs typeface="Arial"/>
              <a:sym typeface="Arial"/>
            </a:endParaRPr>
          </a:p>
        </p:txBody>
      </p:sp>
      <p:sp>
        <p:nvSpPr>
          <p:cNvPr id="320" name="Google Shape;320;p13"/>
          <p:cNvSpPr/>
          <p:nvPr/>
        </p:nvSpPr>
        <p:spPr>
          <a:xfrm>
            <a:off x="2956495" y="3475312"/>
            <a:ext cx="422960" cy="371601"/>
          </a:xfrm>
          <a:custGeom>
            <a:avLst/>
            <a:gdLst/>
            <a:ahLst/>
            <a:cxnLst/>
            <a:rect l="l" t="t" r="r" b="b"/>
            <a:pathLst>
              <a:path w="266700" h="234314" extrusionOk="0">
                <a:moveTo>
                  <a:pt x="266203" y="54000"/>
                </a:moveTo>
                <a:lnTo>
                  <a:pt x="266203" y="144000"/>
                </a:lnTo>
              </a:path>
              <a:path w="266700" h="234314" extrusionOk="0">
                <a:moveTo>
                  <a:pt x="36000" y="54000"/>
                </a:moveTo>
                <a:lnTo>
                  <a:pt x="36000" y="234002"/>
                </a:lnTo>
              </a:path>
              <a:path w="266700" h="234314" extrusionOk="0">
                <a:moveTo>
                  <a:pt x="0" y="54000"/>
                </a:moveTo>
                <a:lnTo>
                  <a:pt x="36000" y="0"/>
                </a:lnTo>
                <a:lnTo>
                  <a:pt x="72001" y="5400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21" name="Google Shape;321;p13"/>
          <p:cNvSpPr txBox="1"/>
          <p:nvPr/>
        </p:nvSpPr>
        <p:spPr>
          <a:xfrm>
            <a:off x="3189227" y="3052225"/>
            <a:ext cx="582900" cy="470400"/>
          </a:xfrm>
          <a:prstGeom prst="rect">
            <a:avLst/>
          </a:prstGeom>
          <a:noFill/>
          <a:ln>
            <a:noFill/>
          </a:ln>
        </p:spPr>
        <p:txBody>
          <a:bodyPr spcFirstLastPara="1" wrap="square" lIns="0" tIns="20125" rIns="0" bIns="0" anchor="t" anchorCtr="0">
            <a:spAutoFit/>
          </a:bodyPr>
          <a:lstStyle/>
          <a:p>
            <a:pPr marL="0" marR="8056" lvl="0" indent="263846" algn="l" rtl="0">
              <a:lnSpc>
                <a:spcPct val="104900"/>
              </a:lnSpc>
              <a:spcBef>
                <a:spcPts val="0"/>
              </a:spcBef>
              <a:spcAft>
                <a:spcPts val="0"/>
              </a:spcAft>
              <a:buNone/>
            </a:pPr>
            <a:r>
              <a:rPr lang="en-US" sz="1427" i="1">
                <a:solidFill>
                  <a:schemeClr val="dk1"/>
                </a:solidFill>
                <a:latin typeface="Arial"/>
                <a:ea typeface="Arial"/>
                <a:cs typeface="Arial"/>
                <a:sym typeface="Arial"/>
              </a:rPr>
              <a:t>q  reset</a:t>
            </a:r>
            <a:endParaRPr sz="1427">
              <a:solidFill>
                <a:schemeClr val="dk1"/>
              </a:solidFill>
              <a:latin typeface="Arial"/>
              <a:ea typeface="Arial"/>
              <a:cs typeface="Arial"/>
              <a:sym typeface="Arial"/>
            </a:endParaRPr>
          </a:p>
        </p:txBody>
      </p:sp>
      <p:grpSp>
        <p:nvGrpSpPr>
          <p:cNvPr id="322" name="Google Shape;322;p13"/>
          <p:cNvGrpSpPr/>
          <p:nvPr/>
        </p:nvGrpSpPr>
        <p:grpSpPr>
          <a:xfrm>
            <a:off x="3901525" y="2926928"/>
            <a:ext cx="799596" cy="628398"/>
            <a:chOff x="2460128" y="1305841"/>
            <a:chExt cx="504190" cy="396240"/>
          </a:xfrm>
        </p:grpSpPr>
        <p:sp>
          <p:nvSpPr>
            <p:cNvPr id="323" name="Google Shape;323;p13"/>
            <p:cNvSpPr/>
            <p:nvPr/>
          </p:nvSpPr>
          <p:spPr>
            <a:xfrm>
              <a:off x="2460128" y="1305841"/>
              <a:ext cx="504190" cy="396240"/>
            </a:xfrm>
            <a:custGeom>
              <a:avLst/>
              <a:gdLst/>
              <a:ahLst/>
              <a:cxnLst/>
              <a:rect l="l" t="t" r="r" b="b"/>
              <a:pathLst>
                <a:path w="504189" h="396239" extrusionOk="0">
                  <a:moveTo>
                    <a:pt x="504005" y="0"/>
                  </a:moveTo>
                  <a:lnTo>
                    <a:pt x="0" y="0"/>
                  </a:lnTo>
                  <a:lnTo>
                    <a:pt x="0" y="396005"/>
                  </a:lnTo>
                  <a:lnTo>
                    <a:pt x="504005" y="396005"/>
                  </a:lnTo>
                  <a:lnTo>
                    <a:pt x="504005" y="0"/>
                  </a:lnTo>
                  <a:close/>
                </a:path>
              </a:pathLst>
            </a:custGeom>
            <a:solidFill>
              <a:srgbClr val="DFA1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24" name="Google Shape;324;p13"/>
            <p:cNvSpPr/>
            <p:nvPr/>
          </p:nvSpPr>
          <p:spPr>
            <a:xfrm>
              <a:off x="2460128" y="1305841"/>
              <a:ext cx="504190" cy="396240"/>
            </a:xfrm>
            <a:custGeom>
              <a:avLst/>
              <a:gdLst/>
              <a:ahLst/>
              <a:cxnLst/>
              <a:rect l="l" t="t" r="r" b="b"/>
              <a:pathLst>
                <a:path w="504189" h="396239" extrusionOk="0">
                  <a:moveTo>
                    <a:pt x="0" y="396005"/>
                  </a:moveTo>
                  <a:lnTo>
                    <a:pt x="504005" y="396005"/>
                  </a:lnTo>
                  <a:lnTo>
                    <a:pt x="504005" y="0"/>
                  </a:lnTo>
                  <a:lnTo>
                    <a:pt x="0" y="0"/>
                  </a:lnTo>
                  <a:lnTo>
                    <a:pt x="0" y="396005"/>
                  </a:lnTo>
                  <a:close/>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325" name="Google Shape;325;p13"/>
          <p:cNvSpPr txBox="1"/>
          <p:nvPr/>
        </p:nvSpPr>
        <p:spPr>
          <a:xfrm>
            <a:off x="3961708" y="3101883"/>
            <a:ext cx="116818" cy="238933"/>
          </a:xfrm>
          <a:prstGeom prst="rect">
            <a:avLst/>
          </a:prstGeom>
          <a:noFill/>
          <a:ln>
            <a:noFill/>
          </a:ln>
        </p:spPr>
        <p:txBody>
          <a:bodyPr spcFirstLastPara="1" wrap="square" lIns="0" tIns="19125" rIns="0" bIns="0" anchor="t" anchorCtr="0">
            <a:spAutoFit/>
          </a:bodyPr>
          <a:lstStyle/>
          <a:p>
            <a:pPr marL="0" marR="0" lvl="0" indent="0" algn="l" rtl="0">
              <a:spcBef>
                <a:spcPts val="0"/>
              </a:spcBef>
              <a:spcAft>
                <a:spcPts val="0"/>
              </a:spcAft>
              <a:buNone/>
            </a:pPr>
            <a:r>
              <a:rPr lang="en-US" sz="1427" i="1">
                <a:solidFill>
                  <a:schemeClr val="dk1"/>
                </a:solidFill>
                <a:latin typeface="Arial"/>
                <a:ea typeface="Arial"/>
                <a:cs typeface="Arial"/>
                <a:sym typeface="Arial"/>
              </a:rPr>
              <a:t>d</a:t>
            </a:r>
            <a:endParaRPr sz="1427">
              <a:solidFill>
                <a:schemeClr val="dk1"/>
              </a:solidFill>
              <a:latin typeface="Arial"/>
              <a:ea typeface="Arial"/>
              <a:cs typeface="Arial"/>
              <a:sym typeface="Arial"/>
            </a:endParaRPr>
          </a:p>
        </p:txBody>
      </p:sp>
      <p:sp>
        <p:nvSpPr>
          <p:cNvPr id="326" name="Google Shape;326;p13"/>
          <p:cNvSpPr/>
          <p:nvPr/>
        </p:nvSpPr>
        <p:spPr>
          <a:xfrm>
            <a:off x="4041260" y="3475312"/>
            <a:ext cx="422960" cy="371601"/>
          </a:xfrm>
          <a:custGeom>
            <a:avLst/>
            <a:gdLst/>
            <a:ahLst/>
            <a:cxnLst/>
            <a:rect l="l" t="t" r="r" b="b"/>
            <a:pathLst>
              <a:path w="266700" h="234314" extrusionOk="0">
                <a:moveTo>
                  <a:pt x="266203" y="54000"/>
                </a:moveTo>
                <a:lnTo>
                  <a:pt x="266203" y="144000"/>
                </a:lnTo>
              </a:path>
              <a:path w="266700" h="234314" extrusionOk="0">
                <a:moveTo>
                  <a:pt x="35999" y="54000"/>
                </a:moveTo>
                <a:lnTo>
                  <a:pt x="35999" y="234002"/>
                </a:lnTo>
              </a:path>
              <a:path w="266700" h="234314" extrusionOk="0">
                <a:moveTo>
                  <a:pt x="0" y="54000"/>
                </a:moveTo>
                <a:lnTo>
                  <a:pt x="35999" y="0"/>
                </a:lnTo>
                <a:lnTo>
                  <a:pt x="72000" y="5400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27" name="Google Shape;327;p13"/>
          <p:cNvSpPr txBox="1"/>
          <p:nvPr/>
        </p:nvSpPr>
        <p:spPr>
          <a:xfrm>
            <a:off x="4273975" y="3052225"/>
            <a:ext cx="678300" cy="470400"/>
          </a:xfrm>
          <a:prstGeom prst="rect">
            <a:avLst/>
          </a:prstGeom>
          <a:noFill/>
          <a:ln>
            <a:noFill/>
          </a:ln>
        </p:spPr>
        <p:txBody>
          <a:bodyPr spcFirstLastPara="1" wrap="square" lIns="0" tIns="20125" rIns="0" bIns="0" anchor="t" anchorCtr="0">
            <a:spAutoFit/>
          </a:bodyPr>
          <a:lstStyle/>
          <a:p>
            <a:pPr marL="0" marR="8056" lvl="0" indent="263846" algn="l" rtl="0">
              <a:lnSpc>
                <a:spcPct val="104900"/>
              </a:lnSpc>
              <a:spcBef>
                <a:spcPts val="0"/>
              </a:spcBef>
              <a:spcAft>
                <a:spcPts val="0"/>
              </a:spcAft>
              <a:buNone/>
            </a:pPr>
            <a:r>
              <a:rPr lang="en-US" sz="1427" i="1">
                <a:solidFill>
                  <a:schemeClr val="dk1"/>
                </a:solidFill>
                <a:latin typeface="Arial"/>
                <a:ea typeface="Arial"/>
                <a:cs typeface="Arial"/>
                <a:sym typeface="Arial"/>
              </a:rPr>
              <a:t>q  reset</a:t>
            </a:r>
            <a:endParaRPr sz="1427">
              <a:solidFill>
                <a:schemeClr val="dk1"/>
              </a:solidFill>
              <a:latin typeface="Arial"/>
              <a:ea typeface="Arial"/>
              <a:cs typeface="Arial"/>
              <a:sym typeface="Arial"/>
            </a:endParaRPr>
          </a:p>
        </p:txBody>
      </p:sp>
      <p:grpSp>
        <p:nvGrpSpPr>
          <p:cNvPr id="328" name="Google Shape;328;p13"/>
          <p:cNvGrpSpPr/>
          <p:nvPr/>
        </p:nvGrpSpPr>
        <p:grpSpPr>
          <a:xfrm>
            <a:off x="3622059" y="2926928"/>
            <a:ext cx="2163835" cy="628398"/>
            <a:chOff x="2283909" y="1305841"/>
            <a:chExt cx="1364418" cy="396240"/>
          </a:xfrm>
        </p:grpSpPr>
        <p:sp>
          <p:nvSpPr>
            <p:cNvPr id="329" name="Google Shape;329;p13"/>
            <p:cNvSpPr/>
            <p:nvPr/>
          </p:nvSpPr>
          <p:spPr>
            <a:xfrm>
              <a:off x="2283909" y="1503845"/>
              <a:ext cx="172720" cy="0"/>
            </a:xfrm>
            <a:custGeom>
              <a:avLst/>
              <a:gdLst/>
              <a:ahLst/>
              <a:cxnLst/>
              <a:rect l="l" t="t" r="r" b="b"/>
              <a:pathLst>
                <a:path w="172719" h="120000" extrusionOk="0">
                  <a:moveTo>
                    <a:pt x="172439" y="0"/>
                  </a:moveTo>
                  <a:lnTo>
                    <a:pt x="0" y="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30" name="Google Shape;330;p13"/>
            <p:cNvSpPr/>
            <p:nvPr/>
          </p:nvSpPr>
          <p:spPr>
            <a:xfrm>
              <a:off x="3144137" y="1305841"/>
              <a:ext cx="504190" cy="396240"/>
            </a:xfrm>
            <a:custGeom>
              <a:avLst/>
              <a:gdLst/>
              <a:ahLst/>
              <a:cxnLst/>
              <a:rect l="l" t="t" r="r" b="b"/>
              <a:pathLst>
                <a:path w="504189" h="396239" extrusionOk="0">
                  <a:moveTo>
                    <a:pt x="504005" y="0"/>
                  </a:moveTo>
                  <a:lnTo>
                    <a:pt x="0" y="0"/>
                  </a:lnTo>
                  <a:lnTo>
                    <a:pt x="0" y="396005"/>
                  </a:lnTo>
                  <a:lnTo>
                    <a:pt x="504005" y="396005"/>
                  </a:lnTo>
                  <a:lnTo>
                    <a:pt x="504005" y="0"/>
                  </a:lnTo>
                  <a:close/>
                </a:path>
              </a:pathLst>
            </a:custGeom>
            <a:solidFill>
              <a:srgbClr val="DFA1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31" name="Google Shape;331;p13"/>
            <p:cNvSpPr/>
            <p:nvPr/>
          </p:nvSpPr>
          <p:spPr>
            <a:xfrm>
              <a:off x="3144137" y="1305841"/>
              <a:ext cx="504190" cy="396240"/>
            </a:xfrm>
            <a:custGeom>
              <a:avLst/>
              <a:gdLst/>
              <a:ahLst/>
              <a:cxnLst/>
              <a:rect l="l" t="t" r="r" b="b"/>
              <a:pathLst>
                <a:path w="504189" h="396239" extrusionOk="0">
                  <a:moveTo>
                    <a:pt x="0" y="396005"/>
                  </a:moveTo>
                  <a:lnTo>
                    <a:pt x="504005" y="396005"/>
                  </a:lnTo>
                  <a:lnTo>
                    <a:pt x="504005" y="0"/>
                  </a:lnTo>
                  <a:lnTo>
                    <a:pt x="0" y="0"/>
                  </a:lnTo>
                  <a:lnTo>
                    <a:pt x="0" y="396005"/>
                  </a:lnTo>
                  <a:close/>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332" name="Google Shape;332;p13"/>
          <p:cNvSpPr txBox="1"/>
          <p:nvPr/>
        </p:nvSpPr>
        <p:spPr>
          <a:xfrm>
            <a:off x="5046459" y="3101883"/>
            <a:ext cx="116818" cy="238933"/>
          </a:xfrm>
          <a:prstGeom prst="rect">
            <a:avLst/>
          </a:prstGeom>
          <a:noFill/>
          <a:ln>
            <a:noFill/>
          </a:ln>
        </p:spPr>
        <p:txBody>
          <a:bodyPr spcFirstLastPara="1" wrap="square" lIns="0" tIns="19125" rIns="0" bIns="0" anchor="t" anchorCtr="0">
            <a:spAutoFit/>
          </a:bodyPr>
          <a:lstStyle/>
          <a:p>
            <a:pPr marL="0" marR="0" lvl="0" indent="0" algn="l" rtl="0">
              <a:spcBef>
                <a:spcPts val="0"/>
              </a:spcBef>
              <a:spcAft>
                <a:spcPts val="0"/>
              </a:spcAft>
              <a:buNone/>
            </a:pPr>
            <a:r>
              <a:rPr lang="en-US" sz="1427" i="1">
                <a:solidFill>
                  <a:schemeClr val="dk1"/>
                </a:solidFill>
                <a:latin typeface="Arial"/>
                <a:ea typeface="Arial"/>
                <a:cs typeface="Arial"/>
                <a:sym typeface="Arial"/>
              </a:rPr>
              <a:t>d</a:t>
            </a:r>
            <a:endParaRPr sz="1427">
              <a:solidFill>
                <a:schemeClr val="dk1"/>
              </a:solidFill>
              <a:latin typeface="Arial"/>
              <a:ea typeface="Arial"/>
              <a:cs typeface="Arial"/>
              <a:sym typeface="Arial"/>
            </a:endParaRPr>
          </a:p>
        </p:txBody>
      </p:sp>
      <p:sp>
        <p:nvSpPr>
          <p:cNvPr id="333" name="Google Shape;333;p13"/>
          <p:cNvSpPr/>
          <p:nvPr/>
        </p:nvSpPr>
        <p:spPr>
          <a:xfrm>
            <a:off x="5126034" y="3475312"/>
            <a:ext cx="422960" cy="371601"/>
          </a:xfrm>
          <a:custGeom>
            <a:avLst/>
            <a:gdLst/>
            <a:ahLst/>
            <a:cxnLst/>
            <a:rect l="l" t="t" r="r" b="b"/>
            <a:pathLst>
              <a:path w="266700" h="234314" extrusionOk="0">
                <a:moveTo>
                  <a:pt x="266207" y="54000"/>
                </a:moveTo>
                <a:lnTo>
                  <a:pt x="266207" y="144000"/>
                </a:lnTo>
              </a:path>
              <a:path w="266700" h="234314" extrusionOk="0">
                <a:moveTo>
                  <a:pt x="35999" y="54000"/>
                </a:moveTo>
                <a:lnTo>
                  <a:pt x="35999" y="234002"/>
                </a:lnTo>
              </a:path>
              <a:path w="266700" h="234314" extrusionOk="0">
                <a:moveTo>
                  <a:pt x="0" y="54000"/>
                </a:moveTo>
                <a:lnTo>
                  <a:pt x="35999" y="0"/>
                </a:lnTo>
                <a:lnTo>
                  <a:pt x="71998" y="5400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34" name="Google Shape;334;p13"/>
          <p:cNvSpPr txBox="1"/>
          <p:nvPr/>
        </p:nvSpPr>
        <p:spPr>
          <a:xfrm>
            <a:off x="5431696" y="3052227"/>
            <a:ext cx="308157" cy="472128"/>
          </a:xfrm>
          <a:prstGeom prst="rect">
            <a:avLst/>
          </a:prstGeom>
          <a:noFill/>
          <a:ln>
            <a:noFill/>
          </a:ln>
        </p:spPr>
        <p:txBody>
          <a:bodyPr spcFirstLastPara="1" wrap="square" lIns="0" tIns="20125" rIns="0" bIns="0" anchor="t" anchorCtr="0">
            <a:spAutoFit/>
          </a:bodyPr>
          <a:lstStyle/>
          <a:p>
            <a:pPr marL="0" marR="8056" lvl="0" indent="191339" algn="l" rtl="0">
              <a:lnSpc>
                <a:spcPct val="104900"/>
              </a:lnSpc>
              <a:spcBef>
                <a:spcPts val="0"/>
              </a:spcBef>
              <a:spcAft>
                <a:spcPts val="0"/>
              </a:spcAft>
              <a:buNone/>
            </a:pPr>
            <a:r>
              <a:rPr lang="en-US" sz="1427" i="1">
                <a:solidFill>
                  <a:schemeClr val="dk1"/>
                </a:solidFill>
                <a:latin typeface="Arial"/>
                <a:ea typeface="Arial"/>
                <a:cs typeface="Arial"/>
                <a:sym typeface="Arial"/>
              </a:rPr>
              <a:t>q  set</a:t>
            </a:r>
            <a:endParaRPr sz="1427">
              <a:solidFill>
                <a:schemeClr val="dk1"/>
              </a:solidFill>
              <a:latin typeface="Arial"/>
              <a:ea typeface="Arial"/>
              <a:cs typeface="Arial"/>
              <a:sym typeface="Arial"/>
            </a:endParaRPr>
          </a:p>
        </p:txBody>
      </p:sp>
      <p:grpSp>
        <p:nvGrpSpPr>
          <p:cNvPr id="335" name="Google Shape;335;p13"/>
          <p:cNvGrpSpPr/>
          <p:nvPr/>
        </p:nvGrpSpPr>
        <p:grpSpPr>
          <a:xfrm>
            <a:off x="2668033" y="2784199"/>
            <a:ext cx="3799593" cy="1062436"/>
            <a:chOff x="1682342" y="1215842"/>
            <a:chExt cx="2395855" cy="669925"/>
          </a:xfrm>
        </p:grpSpPr>
        <p:sp>
          <p:nvSpPr>
            <p:cNvPr id="336" name="Google Shape;336;p13"/>
            <p:cNvSpPr/>
            <p:nvPr/>
          </p:nvSpPr>
          <p:spPr>
            <a:xfrm>
              <a:off x="2967915" y="1503845"/>
              <a:ext cx="172720" cy="0"/>
            </a:xfrm>
            <a:custGeom>
              <a:avLst/>
              <a:gdLst/>
              <a:ahLst/>
              <a:cxnLst/>
              <a:rect l="l" t="t" r="r" b="b"/>
              <a:pathLst>
                <a:path w="172719" h="120000" extrusionOk="0">
                  <a:moveTo>
                    <a:pt x="172441" y="0"/>
                  </a:moveTo>
                  <a:lnTo>
                    <a:pt x="0" y="0"/>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37" name="Google Shape;337;p13"/>
            <p:cNvSpPr/>
            <p:nvPr/>
          </p:nvSpPr>
          <p:spPr>
            <a:xfrm>
              <a:off x="3651923" y="1409650"/>
              <a:ext cx="336901" cy="188388"/>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sp>
          <p:nvSpPr>
            <p:cNvPr id="338" name="Google Shape;338;p13"/>
            <p:cNvSpPr/>
            <p:nvPr/>
          </p:nvSpPr>
          <p:spPr>
            <a:xfrm>
              <a:off x="1682342" y="1215842"/>
              <a:ext cx="2395855" cy="669925"/>
            </a:xfrm>
            <a:custGeom>
              <a:avLst/>
              <a:gdLst/>
              <a:ahLst/>
              <a:cxnLst/>
              <a:rect l="l" t="t" r="r" b="b"/>
              <a:pathLst>
                <a:path w="2395854" h="669925" extrusionOk="0">
                  <a:moveTo>
                    <a:pt x="2305343" y="288002"/>
                  </a:moveTo>
                  <a:lnTo>
                    <a:pt x="2395348" y="288002"/>
                  </a:lnTo>
                  <a:lnTo>
                    <a:pt x="2395348" y="0"/>
                  </a:lnTo>
                  <a:lnTo>
                    <a:pt x="0" y="0"/>
                  </a:lnTo>
                  <a:lnTo>
                    <a:pt x="0" y="288002"/>
                  </a:lnTo>
                  <a:lnTo>
                    <a:pt x="90001" y="288002"/>
                  </a:lnTo>
                </a:path>
                <a:path w="2395854" h="669925" extrusionOk="0">
                  <a:moveTo>
                    <a:pt x="217892" y="669787"/>
                  </a:moveTo>
                  <a:lnTo>
                    <a:pt x="1585906" y="669787"/>
                  </a:lnTo>
                  <a:lnTo>
                    <a:pt x="1855915" y="669787"/>
                  </a:lnTo>
                </a:path>
                <a:path w="2395854" h="669925" extrusionOk="0">
                  <a:moveTo>
                    <a:pt x="448095" y="579785"/>
                  </a:moveTo>
                  <a:lnTo>
                    <a:pt x="1816113" y="579785"/>
                  </a:lnTo>
                  <a:lnTo>
                    <a:pt x="1942110" y="579785"/>
                  </a:lnTo>
                </a:path>
              </a:pathLst>
            </a:custGeom>
            <a:noFill/>
            <a:ln w="9525" cap="flat" cmpd="sng">
              <a:solidFill>
                <a:srgbClr val="C5591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grpSp>
      <p:sp>
        <p:nvSpPr>
          <p:cNvPr id="339" name="Google Shape;339;p13"/>
          <p:cNvSpPr txBox="1"/>
          <p:nvPr/>
        </p:nvSpPr>
        <p:spPr>
          <a:xfrm>
            <a:off x="638999" y="4121276"/>
            <a:ext cx="8007289" cy="1547565"/>
          </a:xfrm>
          <a:prstGeom prst="rect">
            <a:avLst/>
          </a:prstGeom>
          <a:noFill/>
          <a:ln>
            <a:noFill/>
          </a:ln>
        </p:spPr>
        <p:txBody>
          <a:bodyPr spcFirstLastPara="1" wrap="square" lIns="0" tIns="82575" rIns="0" bIns="0" anchor="t" anchorCtr="0">
            <a:spAutoFit/>
          </a:bodyPr>
          <a:lstStyle/>
          <a:p>
            <a:pPr marL="20141" marR="0" lvl="0" indent="0" algn="l" rtl="0">
              <a:spcBef>
                <a:spcPts val="0"/>
              </a:spcBef>
              <a:spcAft>
                <a:spcPts val="0"/>
              </a:spcAft>
              <a:buNone/>
            </a:pPr>
            <a:r>
              <a:rPr lang="en-US" sz="1903" dirty="0">
                <a:solidFill>
                  <a:schemeClr val="dk1"/>
                </a:solidFill>
                <a:latin typeface="Carlito"/>
                <a:ea typeface="Carlito"/>
                <a:cs typeface="Carlito"/>
                <a:sym typeface="Carlito"/>
              </a:rPr>
              <a:t>What is the modulus of an </a:t>
            </a:r>
            <a:r>
              <a:rPr lang="en-US" sz="1903" i="1" dirty="0">
                <a:solidFill>
                  <a:schemeClr val="dk1"/>
                </a:solidFill>
                <a:latin typeface="Arial"/>
                <a:ea typeface="Arial"/>
                <a:cs typeface="Arial"/>
                <a:sym typeface="Arial"/>
              </a:rPr>
              <a:t>n</a:t>
            </a:r>
            <a:r>
              <a:rPr lang="en-US" sz="1903" dirty="0">
                <a:solidFill>
                  <a:schemeClr val="dk1"/>
                </a:solidFill>
                <a:latin typeface="Carlito"/>
                <a:ea typeface="Carlito"/>
                <a:cs typeface="Carlito"/>
                <a:sym typeface="Carlito"/>
              </a:rPr>
              <a:t>-bit Johnson counter?</a:t>
            </a:r>
            <a:endParaRPr sz="1903" dirty="0">
              <a:solidFill>
                <a:schemeClr val="dk1"/>
              </a:solidFill>
              <a:latin typeface="Carlito"/>
              <a:ea typeface="Carlito"/>
              <a:cs typeface="Carlito"/>
              <a:sym typeface="Carlito"/>
            </a:endParaRPr>
          </a:p>
          <a:p>
            <a:pPr marL="20141" marR="0" lvl="0" indent="0" algn="l" rtl="0">
              <a:spcBef>
                <a:spcPts val="0"/>
              </a:spcBef>
              <a:spcAft>
                <a:spcPts val="0"/>
              </a:spcAft>
              <a:buNone/>
            </a:pPr>
            <a:r>
              <a:rPr lang="en-US" sz="1903" dirty="0">
                <a:solidFill>
                  <a:srgbClr val="333333"/>
                </a:solidFill>
                <a:latin typeface="Helvetica Neue"/>
                <a:ea typeface="Helvetica Neue"/>
                <a:cs typeface="Helvetica Neue"/>
                <a:sym typeface="Helvetica Neue"/>
              </a:rPr>
              <a:t>The MOD of the Johnson counter is 2n if n flip-flops are used. The main advantage of the Johnson counter is that it only needs half the number of flip-flops compared to the standard </a:t>
            </a:r>
            <a:r>
              <a:rPr lang="en-US" sz="1903" dirty="0">
                <a:solidFill>
                  <a:srgbClr val="428BCA"/>
                </a:solidFill>
                <a:latin typeface="Helvetica Neue"/>
                <a:ea typeface="Helvetica Neue"/>
                <a:cs typeface="Helvetica Neue"/>
                <a:sym typeface="Helvetica Neue"/>
              </a:rPr>
              <a:t>ring counter</a:t>
            </a:r>
            <a:r>
              <a:rPr lang="en-US" sz="1903" dirty="0">
                <a:solidFill>
                  <a:srgbClr val="333333"/>
                </a:solidFill>
                <a:latin typeface="Helvetica Neue"/>
                <a:ea typeface="Helvetica Neue"/>
                <a:cs typeface="Helvetica Neue"/>
                <a:sym typeface="Helvetica Neue"/>
              </a:rPr>
              <a:t> for the same MOD. ( 4ff=8 states(2n))</a:t>
            </a:r>
            <a:endParaRPr sz="1903" dirty="0">
              <a:solidFill>
                <a:schemeClr val="dk1"/>
              </a:solidFill>
              <a:latin typeface="Carlito"/>
              <a:ea typeface="Carlito"/>
              <a:cs typeface="Carlito"/>
              <a:sym typeface="Carlito"/>
            </a:endParaRPr>
          </a:p>
        </p:txBody>
      </p:sp>
      <p:sp>
        <p:nvSpPr>
          <p:cNvPr id="340" name="Google Shape;340;p13"/>
          <p:cNvSpPr/>
          <p:nvPr/>
        </p:nvSpPr>
        <p:spPr>
          <a:xfrm>
            <a:off x="390695" y="4340983"/>
            <a:ext cx="103402" cy="103402"/>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855">
              <a:solidFill>
                <a:schemeClr val="dk1"/>
              </a:solidFill>
              <a:latin typeface="Arial"/>
              <a:ea typeface="Arial"/>
              <a:cs typeface="Arial"/>
              <a:sym typeface="Arial"/>
            </a:endParaRPr>
          </a:p>
        </p:txBody>
      </p:sp>
      <p:pic>
        <p:nvPicPr>
          <p:cNvPr id="341" name="Google Shape;341;p13"/>
          <p:cNvPicPr preferRelativeResize="0"/>
          <p:nvPr/>
        </p:nvPicPr>
        <p:blipFill rotWithShape="1">
          <a:blip r:embed="rId9">
            <a:alphaModFix/>
          </a:blip>
          <a:srcRect/>
          <a:stretch/>
        </p:blipFill>
        <p:spPr>
          <a:xfrm>
            <a:off x="7845694" y="181484"/>
            <a:ext cx="1011091" cy="923313"/>
          </a:xfrm>
          <a:prstGeom prst="rect">
            <a:avLst/>
          </a:prstGeom>
          <a:noFill/>
          <a:ln>
            <a:noFill/>
          </a:ln>
        </p:spPr>
      </p:pic>
      <p:sp>
        <p:nvSpPr>
          <p:cNvPr id="342" name="Google Shape;342;p13"/>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Johnson counter using D flipflop(negative edge triggered)-summary </a:t>
            </a:r>
            <a:endParaRPr sz="3020" b="1" dirty="0">
              <a:solidFill>
                <a:srgbClr val="C55911"/>
              </a:solidFill>
              <a:latin typeface="Times New Roman"/>
              <a:ea typeface="Times New Roman"/>
              <a:cs typeface="Times New Roman"/>
              <a:sym typeface="Times New Roman"/>
            </a:endParaRPr>
          </a:p>
        </p:txBody>
      </p:sp>
      <p:cxnSp>
        <p:nvCxnSpPr>
          <p:cNvPr id="343" name="Google Shape;343;p13"/>
          <p:cNvCxnSpPr/>
          <p:nvPr/>
        </p:nvCxnSpPr>
        <p:spPr>
          <a:xfrm rot="10800000" flipH="1">
            <a:off x="4" y="1351208"/>
            <a:ext cx="7020900" cy="40800"/>
          </a:xfrm>
          <a:prstGeom prst="straightConnector1">
            <a:avLst/>
          </a:prstGeom>
          <a:noFill/>
          <a:ln w="38100" cap="flat" cmpd="sng">
            <a:solidFill>
              <a:srgbClr val="C55A11"/>
            </a:solidFill>
            <a:prstDash val="solid"/>
            <a:miter lim="800000"/>
            <a:headEnd type="none" w="sm" len="sm"/>
            <a:tailEnd type="none" w="sm" len="sm"/>
          </a:ln>
        </p:spPr>
      </p:cxnSp>
      <p:sp>
        <p:nvSpPr>
          <p:cNvPr id="344" name="Google Shape;344;p13"/>
          <p:cNvSpPr txBox="1"/>
          <p:nvPr/>
        </p:nvSpPr>
        <p:spPr>
          <a:xfrm>
            <a:off x="5831000" y="3458900"/>
            <a:ext cx="638400" cy="40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427" i="1">
                <a:solidFill>
                  <a:schemeClr val="dk1"/>
                </a:solidFill>
              </a:rPr>
              <a:t>reset</a:t>
            </a:r>
            <a:endParaRPr sz="1600">
              <a:solidFill>
                <a:schemeClr val="dk1"/>
              </a:solidFill>
            </a:endParaRPr>
          </a:p>
        </p:txBody>
      </p:sp>
      <p:sp>
        <p:nvSpPr>
          <p:cNvPr id="345" name="Google Shape;345;p13"/>
          <p:cNvSpPr txBox="1"/>
          <p:nvPr/>
        </p:nvSpPr>
        <p:spPr>
          <a:xfrm>
            <a:off x="5617925" y="3636100"/>
            <a:ext cx="638400" cy="40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427" i="1">
                <a:solidFill>
                  <a:schemeClr val="dk1"/>
                </a:solidFill>
              </a:rPr>
              <a:t>clk</a:t>
            </a:r>
            <a:endParaRPr sz="1600">
              <a:solidFill>
                <a:schemeClr val="dk1"/>
              </a:solidFill>
            </a:endParaRPr>
          </a:p>
        </p:txBody>
      </p:sp>
      <p:sp>
        <p:nvSpPr>
          <p:cNvPr id="346" name="Google Shape;346;p13"/>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5916DF27-96A3-4E95-3419-4332B1CE81F4}"/>
            </a:ext>
          </a:extLst>
        </p:cNvPr>
        <p:cNvGrpSpPr/>
        <p:nvPr/>
      </p:nvGrpSpPr>
      <p:grpSpPr>
        <a:xfrm>
          <a:off x="0" y="0"/>
          <a:ext cx="0" cy="0"/>
          <a:chOff x="0" y="0"/>
          <a:chExt cx="0" cy="0"/>
        </a:xfrm>
      </p:grpSpPr>
      <p:sp>
        <p:nvSpPr>
          <p:cNvPr id="397" name="Google Shape;397;p19">
            <a:extLst>
              <a:ext uri="{FF2B5EF4-FFF2-40B4-BE49-F238E27FC236}">
                <a16:creationId xmlns:a16="http://schemas.microsoft.com/office/drawing/2014/main" id="{BA7D8E07-D325-56A1-D1C8-71CB8BA78EEF}"/>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p>
            <a:r>
              <a:rPr lang="en-US" sz="2000" b="1" dirty="0"/>
              <a:t>Application: Instruction Pipeline Controller in Microprocessors</a:t>
            </a:r>
            <a:endParaRPr lang="en-US" sz="2000" dirty="0"/>
          </a:p>
          <a:p>
            <a:pPr algn="just"/>
            <a:r>
              <a:rPr lang="en-US" sz="2000" dirty="0"/>
              <a:t>In certain simple microcontrollers and DSP cores, a ring counter is used as the control unit for the pipeline stages (Fetch → Decode → Execute → Memory → Write-back).</a:t>
            </a:r>
          </a:p>
          <a:p>
            <a:pPr algn="just"/>
            <a:r>
              <a:rPr lang="en-US" sz="2000" dirty="0"/>
              <a:t>Why? A ring counter naturally cycles one “hot” bit through its outputs, so each stage gets activated in perfect round-robin order.</a:t>
            </a:r>
          </a:p>
          <a:p>
            <a:pPr algn="just"/>
            <a:r>
              <a:rPr lang="en-US" sz="2000" dirty="0"/>
              <a:t>This avoids the need for complex decoders and guarantees non-overlapping control signals, which is critical for synchronous CPU timing.</a:t>
            </a:r>
          </a:p>
          <a:p>
            <a:pPr algn="just"/>
            <a:r>
              <a:rPr lang="en-US" sz="2000" i="1" dirty="0"/>
              <a:t>Practical use:</a:t>
            </a:r>
            <a:r>
              <a:rPr lang="en-US" sz="2000" dirty="0"/>
              <a:t> Intel’s early pipeline controllers and some ARM/DSP cores have used ring counters in control sequencing because they are simple, reliable, and glitch-free.</a:t>
            </a:r>
          </a:p>
        </p:txBody>
      </p:sp>
      <p:pic>
        <p:nvPicPr>
          <p:cNvPr id="398" name="Google Shape;398;p19">
            <a:extLst>
              <a:ext uri="{FF2B5EF4-FFF2-40B4-BE49-F238E27FC236}">
                <a16:creationId xmlns:a16="http://schemas.microsoft.com/office/drawing/2014/main" id="{63708AC2-258E-272C-E943-ACC9C7EF3526}"/>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a:extLst>
              <a:ext uri="{FF2B5EF4-FFF2-40B4-BE49-F238E27FC236}">
                <a16:creationId xmlns:a16="http://schemas.microsoft.com/office/drawing/2014/main" id="{883DFBBD-FBF9-1102-26A3-26E7D85C616C}"/>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Ring Counter applications</a:t>
            </a:r>
            <a:endParaRPr sz="3020" b="1" dirty="0">
              <a:solidFill>
                <a:srgbClr val="C55911"/>
              </a:solidFill>
              <a:latin typeface="Times New Roman"/>
              <a:ea typeface="Times New Roman"/>
              <a:cs typeface="Times New Roman"/>
              <a:sym typeface="Times New Roman"/>
            </a:endParaRPr>
          </a:p>
        </p:txBody>
      </p:sp>
      <p:cxnSp>
        <p:nvCxnSpPr>
          <p:cNvPr id="400" name="Google Shape;400;p19">
            <a:extLst>
              <a:ext uri="{FF2B5EF4-FFF2-40B4-BE49-F238E27FC236}">
                <a16:creationId xmlns:a16="http://schemas.microsoft.com/office/drawing/2014/main" id="{8EF51461-0636-58E9-1845-C8EBEB9F927B}"/>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a:extLst>
              <a:ext uri="{FF2B5EF4-FFF2-40B4-BE49-F238E27FC236}">
                <a16:creationId xmlns:a16="http://schemas.microsoft.com/office/drawing/2014/main" id="{FBF72C03-7BFF-EF86-EFBD-F4386853E897}"/>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14660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D6E6C6A0-14CF-229D-F4A2-4D5457F9C74A}"/>
            </a:ext>
          </a:extLst>
        </p:cNvPr>
        <p:cNvGrpSpPr/>
        <p:nvPr/>
      </p:nvGrpSpPr>
      <p:grpSpPr>
        <a:xfrm>
          <a:off x="0" y="0"/>
          <a:ext cx="0" cy="0"/>
          <a:chOff x="0" y="0"/>
          <a:chExt cx="0" cy="0"/>
        </a:xfrm>
      </p:grpSpPr>
      <p:sp>
        <p:nvSpPr>
          <p:cNvPr id="397" name="Google Shape;397;p19">
            <a:extLst>
              <a:ext uri="{FF2B5EF4-FFF2-40B4-BE49-F238E27FC236}">
                <a16:creationId xmlns:a16="http://schemas.microsoft.com/office/drawing/2014/main" id="{FB30B04F-88AB-F311-0273-EEFD69909CE7}"/>
              </a:ext>
            </a:extLst>
          </p:cNvPr>
          <p:cNvSpPr txBox="1">
            <a:spLocks noGrp="1"/>
          </p:cNvSpPr>
          <p:nvPr>
            <p:ph type="body" idx="1"/>
          </p:nvPr>
        </p:nvSpPr>
        <p:spPr>
          <a:xfrm>
            <a:off x="311700" y="1258680"/>
            <a:ext cx="8229600" cy="5550579"/>
          </a:xfrm>
          <a:prstGeom prst="rect">
            <a:avLst/>
          </a:prstGeom>
          <a:noFill/>
          <a:ln>
            <a:noFill/>
          </a:ln>
        </p:spPr>
        <p:txBody>
          <a:bodyPr spcFirstLastPara="1" wrap="square" lIns="0" tIns="0" rIns="0" bIns="0" anchor="t" anchorCtr="0">
            <a:noAutofit/>
          </a:bodyPr>
          <a:lstStyle/>
          <a:p>
            <a:pPr marL="127000" indent="0">
              <a:buNone/>
            </a:pPr>
            <a:r>
              <a:rPr lang="en-US" b="1" dirty="0"/>
              <a:t>Johnson Counter in LED Chaser / Marquee Display</a:t>
            </a:r>
          </a:p>
          <a:p>
            <a:r>
              <a:rPr lang="en-US" dirty="0"/>
              <a:t>A Johnson counter (e.g., CD4017 IC) generates 10 sequential outputs (Q0–Q9).</a:t>
            </a:r>
          </a:p>
          <a:p>
            <a:r>
              <a:rPr lang="en-US" dirty="0"/>
              <a:t>Each clock pulse activates one output at a time</a:t>
            </a:r>
          </a:p>
          <a:p>
            <a:r>
              <a:rPr lang="en-US" dirty="0"/>
              <a:t>Connect 10 LEDs to Q0–Q9.On each clock tick:</a:t>
            </a:r>
          </a:p>
          <a:p>
            <a:r>
              <a:rPr lang="en-US" dirty="0"/>
              <a:t>Q0 HIGH → LED1 </a:t>
            </a:r>
          </a:p>
          <a:p>
            <a:r>
              <a:rPr lang="en-US" dirty="0" err="1"/>
              <a:t>ONNext</a:t>
            </a:r>
            <a:r>
              <a:rPr lang="en-US" dirty="0"/>
              <a:t> tick → Q1 HIGH → LED2 ON… continues until Q9, then loops back to Q0.</a:t>
            </a:r>
          </a:p>
          <a:p>
            <a:r>
              <a:rPr lang="en-US" dirty="0"/>
              <a:t>LEDs light up one after another in a running sequence → “chaser” or “marquee” effect.</a:t>
            </a:r>
          </a:p>
          <a:p>
            <a:pPr marL="127000" indent="0">
              <a:buNone/>
            </a:pPr>
            <a:r>
              <a:rPr lang="en-IN" b="1" dirty="0"/>
              <a:t>Applications:</a:t>
            </a:r>
          </a:p>
          <a:p>
            <a:r>
              <a:rPr lang="en-IN" dirty="0"/>
              <a:t>Advertising signboards</a:t>
            </a:r>
          </a:p>
          <a:p>
            <a:pPr marL="127000" indent="0">
              <a:buNone/>
            </a:pPr>
            <a:r>
              <a:rPr lang="en-US" b="1" dirty="0"/>
              <a:t>Why Johnson Counter?</a:t>
            </a:r>
          </a:p>
          <a:p>
            <a:r>
              <a:rPr lang="en-US" dirty="0"/>
              <a:t>Only 5 flip-flops → 10 outputs</a:t>
            </a:r>
          </a:p>
          <a:p>
            <a:r>
              <a:rPr lang="en-US" dirty="0"/>
              <a:t>No extra decoder needed</a:t>
            </a:r>
          </a:p>
          <a:p>
            <a:endParaRPr lang="en-US" dirty="0"/>
          </a:p>
        </p:txBody>
      </p:sp>
      <p:pic>
        <p:nvPicPr>
          <p:cNvPr id="398" name="Google Shape;398;p19">
            <a:extLst>
              <a:ext uri="{FF2B5EF4-FFF2-40B4-BE49-F238E27FC236}">
                <a16:creationId xmlns:a16="http://schemas.microsoft.com/office/drawing/2014/main" id="{5FE79504-E189-7CD7-E667-032AD96D70B2}"/>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a:extLst>
              <a:ext uri="{FF2B5EF4-FFF2-40B4-BE49-F238E27FC236}">
                <a16:creationId xmlns:a16="http://schemas.microsoft.com/office/drawing/2014/main" id="{EFC38A96-DB83-1CF1-5533-6F9323D19539}"/>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Johnson Counter applications</a:t>
            </a:r>
            <a:endParaRPr sz="3020" b="1" dirty="0">
              <a:solidFill>
                <a:srgbClr val="C55911"/>
              </a:solidFill>
              <a:latin typeface="Times New Roman"/>
              <a:ea typeface="Times New Roman"/>
              <a:cs typeface="Times New Roman"/>
              <a:sym typeface="Times New Roman"/>
            </a:endParaRPr>
          </a:p>
        </p:txBody>
      </p:sp>
      <p:cxnSp>
        <p:nvCxnSpPr>
          <p:cNvPr id="400" name="Google Shape;400;p19">
            <a:extLst>
              <a:ext uri="{FF2B5EF4-FFF2-40B4-BE49-F238E27FC236}">
                <a16:creationId xmlns:a16="http://schemas.microsoft.com/office/drawing/2014/main" id="{5D5BD73B-10BB-7436-5F5C-2B708CA49DD7}"/>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a:extLst>
              <a:ext uri="{FF2B5EF4-FFF2-40B4-BE49-F238E27FC236}">
                <a16:creationId xmlns:a16="http://schemas.microsoft.com/office/drawing/2014/main" id="{582F5D72-5974-CB9D-2531-D61FF099FEA0}"/>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93380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8870CD2C-2ACA-0AFB-158F-6D6E4FF26B3B}"/>
            </a:ext>
          </a:extLst>
        </p:cNvPr>
        <p:cNvGrpSpPr/>
        <p:nvPr/>
      </p:nvGrpSpPr>
      <p:grpSpPr>
        <a:xfrm>
          <a:off x="0" y="0"/>
          <a:ext cx="0" cy="0"/>
          <a:chOff x="0" y="0"/>
          <a:chExt cx="0" cy="0"/>
        </a:xfrm>
      </p:grpSpPr>
      <p:sp>
        <p:nvSpPr>
          <p:cNvPr id="397" name="Google Shape;397;p19">
            <a:extLst>
              <a:ext uri="{FF2B5EF4-FFF2-40B4-BE49-F238E27FC236}">
                <a16:creationId xmlns:a16="http://schemas.microsoft.com/office/drawing/2014/main" id="{39B70490-6726-4D25-4D3A-C8ECC890EEF2}"/>
              </a:ext>
            </a:extLst>
          </p:cNvPr>
          <p:cNvSpPr txBox="1">
            <a:spLocks noGrp="1"/>
          </p:cNvSpPr>
          <p:nvPr>
            <p:ph type="body" idx="1"/>
          </p:nvPr>
        </p:nvSpPr>
        <p:spPr>
          <a:xfrm>
            <a:off x="311700" y="1258680"/>
            <a:ext cx="8229600" cy="5550579"/>
          </a:xfrm>
          <a:prstGeom prst="rect">
            <a:avLst/>
          </a:prstGeom>
          <a:noFill/>
          <a:ln>
            <a:noFill/>
          </a:ln>
        </p:spPr>
        <p:txBody>
          <a:bodyPr spcFirstLastPara="1" wrap="square" lIns="0" tIns="0" rIns="0" bIns="0" anchor="t" anchorCtr="0">
            <a:noAutofit/>
          </a:bodyPr>
          <a:lstStyle/>
          <a:p>
            <a:r>
              <a:rPr lang="en-US" dirty="0"/>
              <a:t>A </a:t>
            </a:r>
            <a:r>
              <a:rPr lang="en-US" b="1" dirty="0"/>
              <a:t>4-bit synchronous counter with unused states</a:t>
            </a:r>
            <a:r>
              <a:rPr lang="en-US" dirty="0"/>
              <a:t> is designed to count only 6 states. If the counter accidentally enters an unused state, it eventually returns to the valid sequence. Such a counter is called:</a:t>
            </a:r>
          </a:p>
          <a:p>
            <a:pPr marL="127000" indent="0">
              <a:buNone/>
            </a:pPr>
            <a:r>
              <a:rPr lang="en-US" dirty="0"/>
              <a:t>(A) Non-deterministic counter</a:t>
            </a:r>
            <a:br>
              <a:rPr lang="en-US" dirty="0"/>
            </a:br>
            <a:r>
              <a:rPr lang="en-US" dirty="0"/>
              <a:t>(B) Self-correcting counter</a:t>
            </a:r>
            <a:br>
              <a:rPr lang="en-US" dirty="0"/>
            </a:br>
            <a:r>
              <a:rPr lang="en-US" dirty="0"/>
              <a:t>(C) Johnson counter</a:t>
            </a:r>
            <a:br>
              <a:rPr lang="en-US" dirty="0"/>
            </a:br>
            <a:r>
              <a:rPr lang="en-US" dirty="0"/>
              <a:t>(D) Binary coded decimal counter</a:t>
            </a:r>
          </a:p>
          <a:p>
            <a:pPr marL="127000" indent="0">
              <a:buNone/>
            </a:pPr>
            <a:r>
              <a:rPr lang="en-US" dirty="0"/>
              <a:t>A 4-bit </a:t>
            </a:r>
            <a:r>
              <a:rPr lang="en-US" b="1" dirty="0"/>
              <a:t>switch-tail ring counter</a:t>
            </a:r>
            <a:r>
              <a:rPr lang="en-US" dirty="0"/>
              <a:t> (Johnson counter) starts from all 0’s. Which of the following will be the </a:t>
            </a:r>
            <a:r>
              <a:rPr lang="en-US" b="1" dirty="0"/>
              <a:t>fifth state</a:t>
            </a:r>
            <a:r>
              <a:rPr lang="en-US" dirty="0"/>
              <a:t>?</a:t>
            </a:r>
          </a:p>
          <a:p>
            <a:pPr marL="127000" indent="0">
              <a:buNone/>
            </a:pPr>
            <a:r>
              <a:rPr lang="en-US" dirty="0"/>
              <a:t>(A) 1110</a:t>
            </a:r>
            <a:br>
              <a:rPr lang="en-US" dirty="0"/>
            </a:br>
            <a:r>
              <a:rPr lang="en-US" dirty="0"/>
              <a:t>(B) 1111</a:t>
            </a:r>
            <a:br>
              <a:rPr lang="en-US" dirty="0"/>
            </a:br>
            <a:r>
              <a:rPr lang="en-US" dirty="0"/>
              <a:t>(C) 0111</a:t>
            </a:r>
            <a:br>
              <a:rPr lang="en-US" dirty="0"/>
            </a:br>
            <a:r>
              <a:rPr lang="en-US" dirty="0"/>
              <a:t>(D) 1000</a:t>
            </a:r>
          </a:p>
          <a:p>
            <a:pPr marL="127000" indent="0">
              <a:buNone/>
            </a:pPr>
            <a:endParaRPr lang="en-US" dirty="0"/>
          </a:p>
          <a:p>
            <a:pPr marL="127000" indent="0">
              <a:buNone/>
            </a:pPr>
            <a:endParaRPr lang="en-US" dirty="0"/>
          </a:p>
        </p:txBody>
      </p:sp>
      <p:pic>
        <p:nvPicPr>
          <p:cNvPr id="398" name="Google Shape;398;p19">
            <a:extLst>
              <a:ext uri="{FF2B5EF4-FFF2-40B4-BE49-F238E27FC236}">
                <a16:creationId xmlns:a16="http://schemas.microsoft.com/office/drawing/2014/main" id="{B0ED9876-17C2-ED7A-3760-9F1B4D794838}"/>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a:extLst>
              <a:ext uri="{FF2B5EF4-FFF2-40B4-BE49-F238E27FC236}">
                <a16:creationId xmlns:a16="http://schemas.microsoft.com/office/drawing/2014/main" id="{103AC6C6-6881-00B8-D54F-1B5B6B886E98}"/>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MCQ</a:t>
            </a:r>
            <a:endParaRPr sz="3020" b="1" dirty="0">
              <a:solidFill>
                <a:srgbClr val="C55911"/>
              </a:solidFill>
              <a:latin typeface="Times New Roman"/>
              <a:ea typeface="Times New Roman"/>
              <a:cs typeface="Times New Roman"/>
              <a:sym typeface="Times New Roman"/>
            </a:endParaRPr>
          </a:p>
        </p:txBody>
      </p:sp>
      <p:cxnSp>
        <p:nvCxnSpPr>
          <p:cNvPr id="400" name="Google Shape;400;p19">
            <a:extLst>
              <a:ext uri="{FF2B5EF4-FFF2-40B4-BE49-F238E27FC236}">
                <a16:creationId xmlns:a16="http://schemas.microsoft.com/office/drawing/2014/main" id="{0E92D5C8-2AB4-DC67-FF76-585E360CCF48}"/>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a:extLst>
              <a:ext uri="{FF2B5EF4-FFF2-40B4-BE49-F238E27FC236}">
                <a16:creationId xmlns:a16="http://schemas.microsoft.com/office/drawing/2014/main" id="{8319C966-DD91-51D2-C797-B9A2868B633F}"/>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792891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8EA61AED-A9A4-A7D9-F01A-1E8E3A1B3F70}"/>
            </a:ext>
          </a:extLst>
        </p:cNvPr>
        <p:cNvGrpSpPr/>
        <p:nvPr/>
      </p:nvGrpSpPr>
      <p:grpSpPr>
        <a:xfrm>
          <a:off x="0" y="0"/>
          <a:ext cx="0" cy="0"/>
          <a:chOff x="0" y="0"/>
          <a:chExt cx="0" cy="0"/>
        </a:xfrm>
      </p:grpSpPr>
      <p:sp>
        <p:nvSpPr>
          <p:cNvPr id="397" name="Google Shape;397;p19">
            <a:extLst>
              <a:ext uri="{FF2B5EF4-FFF2-40B4-BE49-F238E27FC236}">
                <a16:creationId xmlns:a16="http://schemas.microsoft.com/office/drawing/2014/main" id="{233EE1E7-5048-D5F0-7A19-B9578C81B381}"/>
              </a:ext>
            </a:extLst>
          </p:cNvPr>
          <p:cNvSpPr txBox="1">
            <a:spLocks noGrp="1"/>
          </p:cNvSpPr>
          <p:nvPr>
            <p:ph type="body" idx="1"/>
          </p:nvPr>
        </p:nvSpPr>
        <p:spPr>
          <a:xfrm>
            <a:off x="311700" y="1258680"/>
            <a:ext cx="8718000" cy="5550579"/>
          </a:xfrm>
          <a:prstGeom prst="rect">
            <a:avLst/>
          </a:prstGeom>
          <a:noFill/>
          <a:ln>
            <a:noFill/>
          </a:ln>
        </p:spPr>
        <p:txBody>
          <a:bodyPr spcFirstLastPara="1" wrap="square" lIns="0" tIns="0" rIns="0" bIns="0" anchor="t" anchorCtr="0">
            <a:noAutofit/>
          </a:bodyPr>
          <a:lstStyle/>
          <a:p>
            <a:r>
              <a:rPr lang="en-US" dirty="0"/>
              <a:t>A </a:t>
            </a:r>
            <a:r>
              <a:rPr lang="en-US" b="1" dirty="0"/>
              <a:t>4-bit synchronous counter with unused states</a:t>
            </a:r>
            <a:r>
              <a:rPr lang="en-US" dirty="0"/>
              <a:t> is designed to count only 6 states. If the counter accidentally enters an unused state, it eventually returns to the valid sequence. Such a counter is called:</a:t>
            </a:r>
          </a:p>
          <a:p>
            <a:pPr marL="127000" indent="0">
              <a:buNone/>
            </a:pPr>
            <a:r>
              <a:rPr lang="en-US" dirty="0"/>
              <a:t>(A) Non-deterministic counter</a:t>
            </a:r>
            <a:br>
              <a:rPr lang="en-US" dirty="0"/>
            </a:br>
            <a:r>
              <a:rPr lang="en-US" dirty="0"/>
              <a:t>(B) Self-correcting counter</a:t>
            </a:r>
            <a:br>
              <a:rPr lang="en-US" dirty="0"/>
            </a:br>
            <a:r>
              <a:rPr lang="en-US" dirty="0"/>
              <a:t>(C) Johnson counter</a:t>
            </a:r>
            <a:br>
              <a:rPr lang="en-US" dirty="0"/>
            </a:br>
            <a:r>
              <a:rPr lang="en-US" dirty="0"/>
              <a:t>(D) Binary coded decimal counter</a:t>
            </a:r>
          </a:p>
          <a:p>
            <a:pPr marL="127000" indent="0">
              <a:buNone/>
            </a:pPr>
            <a:r>
              <a:rPr lang="en-US" b="1" dirty="0"/>
              <a:t>Answer:</a:t>
            </a:r>
            <a:r>
              <a:rPr lang="en-US" dirty="0"/>
              <a:t> (B) Self-correcting counter</a:t>
            </a:r>
            <a:br>
              <a:rPr lang="en-US" dirty="0"/>
            </a:br>
            <a:r>
              <a:rPr lang="en-US" b="1" dirty="0"/>
              <a:t>Explanation:</a:t>
            </a:r>
            <a:r>
              <a:rPr lang="en-US" dirty="0"/>
              <a:t> Self-correcting counters ensure that invalid states eventually lead back into the normal cycle. </a:t>
            </a:r>
          </a:p>
          <a:p>
            <a:r>
              <a:rPr lang="en-US" dirty="0"/>
              <a:t>A 4-bit </a:t>
            </a:r>
            <a:r>
              <a:rPr lang="en-US" b="1" dirty="0"/>
              <a:t>switch-tail ring counter</a:t>
            </a:r>
            <a:r>
              <a:rPr lang="en-US" dirty="0"/>
              <a:t> (Johnson counter) starts from all 0’s. Which of the following will be the </a:t>
            </a:r>
            <a:r>
              <a:rPr lang="en-US" b="1" dirty="0"/>
              <a:t>fifth state</a:t>
            </a:r>
            <a:r>
              <a:rPr lang="en-US" dirty="0"/>
              <a:t>?</a:t>
            </a:r>
          </a:p>
          <a:p>
            <a:pPr marL="127000" indent="0">
              <a:buNone/>
            </a:pPr>
            <a:r>
              <a:rPr lang="en-US" dirty="0"/>
              <a:t>(A) 1110</a:t>
            </a:r>
            <a:br>
              <a:rPr lang="en-US" dirty="0"/>
            </a:br>
            <a:r>
              <a:rPr lang="en-US" dirty="0"/>
              <a:t>(B) 1111</a:t>
            </a:r>
            <a:br>
              <a:rPr lang="en-US" dirty="0"/>
            </a:br>
            <a:r>
              <a:rPr lang="en-US" dirty="0"/>
              <a:t>(C) 0111</a:t>
            </a:r>
            <a:br>
              <a:rPr lang="en-US" dirty="0"/>
            </a:br>
            <a:r>
              <a:rPr lang="en-US" dirty="0"/>
              <a:t>(D) 1000</a:t>
            </a:r>
          </a:p>
          <a:p>
            <a:pPr marL="127000" indent="0">
              <a:buNone/>
            </a:pPr>
            <a:r>
              <a:rPr lang="en-US" b="1" dirty="0"/>
              <a:t>Answer:</a:t>
            </a:r>
            <a:r>
              <a:rPr lang="en-US" dirty="0"/>
              <a:t> (B) 1111</a:t>
            </a:r>
            <a:br>
              <a:rPr lang="en-US" dirty="0"/>
            </a:br>
            <a:r>
              <a:rPr lang="en-US" b="1" dirty="0"/>
              <a:t>Explanation:</a:t>
            </a:r>
            <a:r>
              <a:rPr lang="en-US" dirty="0"/>
              <a:t> Sequence: 0000 → 1000 → 1100 → 1110 → 1111 → … The 5th state = </a:t>
            </a:r>
            <a:r>
              <a:rPr lang="en-US" b="1" dirty="0"/>
              <a:t>1111</a:t>
            </a:r>
            <a:r>
              <a:rPr lang="en-US" dirty="0"/>
              <a:t>. </a:t>
            </a:r>
          </a:p>
          <a:p>
            <a:pPr marL="127000" indent="0">
              <a:buNone/>
            </a:pPr>
            <a:endParaRPr lang="en-US" dirty="0"/>
          </a:p>
          <a:p>
            <a:pPr marL="127000" indent="0">
              <a:buNone/>
            </a:pPr>
            <a:endParaRPr lang="en-US" dirty="0"/>
          </a:p>
        </p:txBody>
      </p:sp>
      <p:pic>
        <p:nvPicPr>
          <p:cNvPr id="398" name="Google Shape;398;p19">
            <a:extLst>
              <a:ext uri="{FF2B5EF4-FFF2-40B4-BE49-F238E27FC236}">
                <a16:creationId xmlns:a16="http://schemas.microsoft.com/office/drawing/2014/main" id="{B88F8F7F-A8F3-01AF-9625-0F40A35B4DFB}"/>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a:extLst>
              <a:ext uri="{FF2B5EF4-FFF2-40B4-BE49-F238E27FC236}">
                <a16:creationId xmlns:a16="http://schemas.microsoft.com/office/drawing/2014/main" id="{EF2902FC-733E-2A2F-F5CB-307340C4BE4D}"/>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MCQ</a:t>
            </a:r>
            <a:endParaRPr sz="3020" b="1" dirty="0">
              <a:solidFill>
                <a:srgbClr val="C55911"/>
              </a:solidFill>
              <a:latin typeface="Times New Roman"/>
              <a:ea typeface="Times New Roman"/>
              <a:cs typeface="Times New Roman"/>
              <a:sym typeface="Times New Roman"/>
            </a:endParaRPr>
          </a:p>
        </p:txBody>
      </p:sp>
      <p:cxnSp>
        <p:nvCxnSpPr>
          <p:cNvPr id="400" name="Google Shape;400;p19">
            <a:extLst>
              <a:ext uri="{FF2B5EF4-FFF2-40B4-BE49-F238E27FC236}">
                <a16:creationId xmlns:a16="http://schemas.microsoft.com/office/drawing/2014/main" id="{9E87A08C-D5CD-DEE5-153A-51E042811DA3}"/>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a:extLst>
              <a:ext uri="{FF2B5EF4-FFF2-40B4-BE49-F238E27FC236}">
                <a16:creationId xmlns:a16="http://schemas.microsoft.com/office/drawing/2014/main" id="{F4F8D681-B070-99EB-01F1-A19327C321B9}"/>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691254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CC01EBE0-3864-B125-23F6-0CAC471B0EB1}"/>
            </a:ext>
          </a:extLst>
        </p:cNvPr>
        <p:cNvGrpSpPr/>
        <p:nvPr/>
      </p:nvGrpSpPr>
      <p:grpSpPr>
        <a:xfrm>
          <a:off x="0" y="0"/>
          <a:ext cx="0" cy="0"/>
          <a:chOff x="0" y="0"/>
          <a:chExt cx="0" cy="0"/>
        </a:xfrm>
      </p:grpSpPr>
      <p:sp>
        <p:nvSpPr>
          <p:cNvPr id="397" name="Google Shape;397;p19">
            <a:extLst>
              <a:ext uri="{FF2B5EF4-FFF2-40B4-BE49-F238E27FC236}">
                <a16:creationId xmlns:a16="http://schemas.microsoft.com/office/drawing/2014/main" id="{310B1C5B-BAF3-706E-6E63-C3F0C169DEAD}"/>
              </a:ext>
            </a:extLst>
          </p:cNvPr>
          <p:cNvSpPr txBox="1">
            <a:spLocks noGrp="1"/>
          </p:cNvSpPr>
          <p:nvPr>
            <p:ph type="body" idx="1"/>
          </p:nvPr>
        </p:nvSpPr>
        <p:spPr>
          <a:xfrm>
            <a:off x="311700" y="1258680"/>
            <a:ext cx="8229600" cy="5550579"/>
          </a:xfrm>
          <a:prstGeom prst="rect">
            <a:avLst/>
          </a:prstGeom>
          <a:noFill/>
          <a:ln>
            <a:noFill/>
          </a:ln>
        </p:spPr>
        <p:txBody>
          <a:bodyPr spcFirstLastPara="1" wrap="square" lIns="0" tIns="0" rIns="0" bIns="0" anchor="t" anchorCtr="0">
            <a:noAutofit/>
          </a:bodyPr>
          <a:lstStyle/>
          <a:p>
            <a:r>
              <a:rPr lang="en-US" sz="2400" dirty="0"/>
              <a:t>A 3‑bit synchronous counter is implemented using T‑flip-flops and its present state is 101. What will be the next state?</a:t>
            </a:r>
          </a:p>
          <a:p>
            <a:pPr marL="127000" indent="0">
              <a:buNone/>
            </a:pPr>
            <a:r>
              <a:rPr lang="en-US" sz="2400" dirty="0"/>
              <a:t>A) 110</a:t>
            </a:r>
            <a:br>
              <a:rPr lang="en-US" sz="2400" dirty="0"/>
            </a:br>
            <a:r>
              <a:rPr lang="en-US" sz="2400" dirty="0"/>
              <a:t>B) 011</a:t>
            </a:r>
            <a:br>
              <a:rPr lang="en-US" sz="2400" dirty="0"/>
            </a:br>
            <a:r>
              <a:rPr lang="en-US" sz="2400" dirty="0"/>
              <a:t>C) 010</a:t>
            </a:r>
            <a:br>
              <a:rPr lang="en-US" sz="2400" dirty="0"/>
            </a:br>
            <a:r>
              <a:rPr lang="en-US" sz="2400" dirty="0"/>
              <a:t>D) 001</a:t>
            </a:r>
          </a:p>
        </p:txBody>
      </p:sp>
      <p:pic>
        <p:nvPicPr>
          <p:cNvPr id="398" name="Google Shape;398;p19">
            <a:extLst>
              <a:ext uri="{FF2B5EF4-FFF2-40B4-BE49-F238E27FC236}">
                <a16:creationId xmlns:a16="http://schemas.microsoft.com/office/drawing/2014/main" id="{65DD572C-0992-56A4-62BA-EF2724757DD7}"/>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a:extLst>
              <a:ext uri="{FF2B5EF4-FFF2-40B4-BE49-F238E27FC236}">
                <a16:creationId xmlns:a16="http://schemas.microsoft.com/office/drawing/2014/main" id="{99BB6C66-DC2C-7297-93D0-3BC2DAF5CEAB}"/>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MCQ</a:t>
            </a:r>
            <a:endParaRPr sz="3020" b="1" dirty="0">
              <a:solidFill>
                <a:srgbClr val="C55911"/>
              </a:solidFill>
              <a:latin typeface="Times New Roman"/>
              <a:ea typeface="Times New Roman"/>
              <a:cs typeface="Times New Roman"/>
              <a:sym typeface="Times New Roman"/>
            </a:endParaRPr>
          </a:p>
        </p:txBody>
      </p:sp>
      <p:cxnSp>
        <p:nvCxnSpPr>
          <p:cNvPr id="400" name="Google Shape;400;p19">
            <a:extLst>
              <a:ext uri="{FF2B5EF4-FFF2-40B4-BE49-F238E27FC236}">
                <a16:creationId xmlns:a16="http://schemas.microsoft.com/office/drawing/2014/main" id="{ACAB17DF-EEF4-06ED-E9AC-ED1ABFE0FA9E}"/>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a:extLst>
              <a:ext uri="{FF2B5EF4-FFF2-40B4-BE49-F238E27FC236}">
                <a16:creationId xmlns:a16="http://schemas.microsoft.com/office/drawing/2014/main" id="{2FCC023A-F989-DAFF-CD56-18BA15D8232D}"/>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75652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8FF2F1CA-6F9F-BC14-00BE-933B07BF803B}"/>
            </a:ext>
          </a:extLst>
        </p:cNvPr>
        <p:cNvGrpSpPr/>
        <p:nvPr/>
      </p:nvGrpSpPr>
      <p:grpSpPr>
        <a:xfrm>
          <a:off x="0" y="0"/>
          <a:ext cx="0" cy="0"/>
          <a:chOff x="0" y="0"/>
          <a:chExt cx="0" cy="0"/>
        </a:xfrm>
      </p:grpSpPr>
      <p:sp>
        <p:nvSpPr>
          <p:cNvPr id="397" name="Google Shape;397;p19">
            <a:extLst>
              <a:ext uri="{FF2B5EF4-FFF2-40B4-BE49-F238E27FC236}">
                <a16:creationId xmlns:a16="http://schemas.microsoft.com/office/drawing/2014/main" id="{AB790101-A795-E0BC-E252-DC1698452C52}"/>
              </a:ext>
            </a:extLst>
          </p:cNvPr>
          <p:cNvSpPr txBox="1">
            <a:spLocks noGrp="1"/>
          </p:cNvSpPr>
          <p:nvPr>
            <p:ph type="body" idx="1"/>
          </p:nvPr>
        </p:nvSpPr>
        <p:spPr>
          <a:xfrm>
            <a:off x="311700" y="1258680"/>
            <a:ext cx="8229600" cy="5550579"/>
          </a:xfrm>
          <a:prstGeom prst="rect">
            <a:avLst/>
          </a:prstGeom>
          <a:noFill/>
          <a:ln>
            <a:noFill/>
          </a:ln>
        </p:spPr>
        <p:txBody>
          <a:bodyPr spcFirstLastPara="1" wrap="square" lIns="0" tIns="0" rIns="0" bIns="0" anchor="t" anchorCtr="0">
            <a:noAutofit/>
          </a:bodyPr>
          <a:lstStyle/>
          <a:p>
            <a:r>
              <a:rPr lang="en-US" dirty="0"/>
              <a:t>A 3‑bit synchronous counter is implemented using T‑flip-flops and its present state is 101. What will be the next state?</a:t>
            </a:r>
          </a:p>
          <a:p>
            <a:r>
              <a:rPr lang="en-US" dirty="0"/>
              <a:t>A) 110</a:t>
            </a:r>
            <a:br>
              <a:rPr lang="en-US" dirty="0"/>
            </a:br>
            <a:r>
              <a:rPr lang="en-US" dirty="0"/>
              <a:t>B) 011</a:t>
            </a:r>
            <a:br>
              <a:rPr lang="en-US" dirty="0"/>
            </a:br>
            <a:r>
              <a:rPr lang="en-US" dirty="0"/>
              <a:t>C) 010</a:t>
            </a:r>
            <a:br>
              <a:rPr lang="en-US" dirty="0"/>
            </a:br>
            <a:r>
              <a:rPr lang="en-US" dirty="0"/>
              <a:t>D) 001</a:t>
            </a:r>
          </a:p>
          <a:p>
            <a:r>
              <a:rPr lang="en-US" b="1" dirty="0"/>
              <a:t>Answer:</a:t>
            </a:r>
            <a:r>
              <a:rPr lang="en-US" dirty="0"/>
              <a:t> (A) 110</a:t>
            </a:r>
            <a:br>
              <a:rPr lang="en-US" dirty="0"/>
            </a:br>
            <a:r>
              <a:rPr lang="en-US" b="1" dirty="0"/>
              <a:t>Explanation:</a:t>
            </a:r>
            <a:r>
              <a:rPr lang="en-US" dirty="0"/>
              <a:t> In a synchronous up counter using T-FFs, each output toggles if its T input is 1. For a typical design, all T inputs = 1, so the next state from 101 (5) is 110 (6).</a:t>
            </a:r>
          </a:p>
          <a:p>
            <a:pPr marL="127000" indent="0">
              <a:buNone/>
            </a:pPr>
            <a:r>
              <a:rPr lang="en-US" dirty="0"/>
              <a:t>T0 = 1 (LSB toggles on every clock).</a:t>
            </a:r>
          </a:p>
          <a:p>
            <a:pPr marL="127000" indent="0">
              <a:buNone/>
            </a:pPr>
            <a:r>
              <a:rPr lang="en-US" dirty="0"/>
              <a:t>T1 = Q0 (next bit toggles when Q0 = 1).</a:t>
            </a:r>
          </a:p>
          <a:p>
            <a:pPr marL="127000" indent="0">
              <a:buNone/>
            </a:pPr>
            <a:r>
              <a:rPr lang="en-US" dirty="0"/>
              <a:t>T2 = Q0·Q1 (next bit toggles when Q0 and Q1 = 1).</a:t>
            </a:r>
          </a:p>
          <a:p>
            <a:pPr marL="127000" indent="0">
              <a:buNone/>
            </a:pPr>
            <a:r>
              <a:rPr lang="en-IN" dirty="0"/>
              <a:t>In general, Tk=Q0⋅Q1⋅…⋅Qk−1T_k = Q_0 · Q_1 · … · Q_{k-1}</a:t>
            </a:r>
            <a:endParaRPr lang="en-US" dirty="0"/>
          </a:p>
        </p:txBody>
      </p:sp>
      <p:pic>
        <p:nvPicPr>
          <p:cNvPr id="398" name="Google Shape;398;p19">
            <a:extLst>
              <a:ext uri="{FF2B5EF4-FFF2-40B4-BE49-F238E27FC236}">
                <a16:creationId xmlns:a16="http://schemas.microsoft.com/office/drawing/2014/main" id="{E0D826DF-7512-0413-F5F3-D7F852FB5D3D}"/>
              </a:ext>
            </a:extLst>
          </p:cNvPr>
          <p:cNvPicPr preferRelativeResize="0"/>
          <p:nvPr/>
        </p:nvPicPr>
        <p:blipFill rotWithShape="1">
          <a:blip r:embed="rId3">
            <a:alphaModFix/>
          </a:blip>
          <a:srcRect/>
          <a:stretch/>
        </p:blipFill>
        <p:spPr>
          <a:xfrm>
            <a:off x="7845694" y="181484"/>
            <a:ext cx="1011091" cy="923313"/>
          </a:xfrm>
          <a:prstGeom prst="rect">
            <a:avLst/>
          </a:prstGeom>
          <a:noFill/>
          <a:ln>
            <a:noFill/>
          </a:ln>
        </p:spPr>
      </p:pic>
      <p:sp>
        <p:nvSpPr>
          <p:cNvPr id="399" name="Google Shape;399;p19">
            <a:extLst>
              <a:ext uri="{FF2B5EF4-FFF2-40B4-BE49-F238E27FC236}">
                <a16:creationId xmlns:a16="http://schemas.microsoft.com/office/drawing/2014/main" id="{95BD4884-4D6F-7126-B4C4-BCE9FBC4BEBA}"/>
              </a:ext>
            </a:extLst>
          </p:cNvPr>
          <p:cNvSpPr txBox="1"/>
          <p:nvPr/>
        </p:nvSpPr>
        <p:spPr>
          <a:xfrm>
            <a:off x="311700" y="257200"/>
            <a:ext cx="7363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20" b="1" dirty="0">
                <a:solidFill>
                  <a:srgbClr val="C55911"/>
                </a:solidFill>
                <a:latin typeface="Times New Roman"/>
                <a:ea typeface="Times New Roman"/>
                <a:cs typeface="Times New Roman"/>
                <a:sym typeface="Times New Roman"/>
              </a:rPr>
              <a:t>MCQ</a:t>
            </a:r>
            <a:endParaRPr sz="3020" b="1" dirty="0">
              <a:solidFill>
                <a:srgbClr val="C55911"/>
              </a:solidFill>
              <a:latin typeface="Times New Roman"/>
              <a:ea typeface="Times New Roman"/>
              <a:cs typeface="Times New Roman"/>
              <a:sym typeface="Times New Roman"/>
            </a:endParaRPr>
          </a:p>
        </p:txBody>
      </p:sp>
      <p:cxnSp>
        <p:nvCxnSpPr>
          <p:cNvPr id="400" name="Google Shape;400;p19">
            <a:extLst>
              <a:ext uri="{FF2B5EF4-FFF2-40B4-BE49-F238E27FC236}">
                <a16:creationId xmlns:a16="http://schemas.microsoft.com/office/drawing/2014/main" id="{FAA48AC3-BCEE-8B81-FC9A-70E9287E7884}"/>
              </a:ext>
            </a:extLst>
          </p:cNvPr>
          <p:cNvCxnSpPr/>
          <p:nvPr/>
        </p:nvCxnSpPr>
        <p:spPr>
          <a:xfrm rot="10800000" flipH="1">
            <a:off x="4" y="1073358"/>
            <a:ext cx="7533600" cy="46500"/>
          </a:xfrm>
          <a:prstGeom prst="straightConnector1">
            <a:avLst/>
          </a:prstGeom>
          <a:noFill/>
          <a:ln w="38100" cap="flat" cmpd="sng">
            <a:solidFill>
              <a:srgbClr val="C55A11"/>
            </a:solidFill>
            <a:prstDash val="solid"/>
            <a:miter lim="800000"/>
            <a:headEnd type="none" w="sm" len="sm"/>
            <a:tailEnd type="none" w="sm" len="sm"/>
          </a:ln>
        </p:spPr>
      </p:cxnSp>
      <p:sp>
        <p:nvSpPr>
          <p:cNvPr id="401" name="Google Shape;401;p19">
            <a:extLst>
              <a:ext uri="{FF2B5EF4-FFF2-40B4-BE49-F238E27FC236}">
                <a16:creationId xmlns:a16="http://schemas.microsoft.com/office/drawing/2014/main" id="{47A875F9-5C2D-2B00-24BA-8E4F0BE5C1B3}"/>
              </a:ext>
            </a:extLst>
          </p:cNvPr>
          <p:cNvSpPr txBox="1"/>
          <p:nvPr/>
        </p:nvSpPr>
        <p:spPr>
          <a:xfrm>
            <a:off x="6032275" y="6519300"/>
            <a:ext cx="28245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M. Morris Mano, Michael D. Ciletti, </a:t>
            </a:r>
            <a:r>
              <a:rPr lang="en-US" sz="500" b="0" i="1" u="none" strike="noStrike" cap="none">
                <a:solidFill>
                  <a:srgbClr val="000000"/>
                </a:solidFill>
                <a:latin typeface="Calibri"/>
                <a:ea typeface="Calibri"/>
                <a:cs typeface="Calibri"/>
                <a:sym typeface="Calibri"/>
              </a:rPr>
              <a:t>Digital Design: With an Introduction to the Verilog HDL</a:t>
            </a:r>
            <a:r>
              <a:rPr lang="en-US" sz="500" b="0" i="0" u="none" strike="noStrike" cap="none">
                <a:solidFill>
                  <a:srgbClr val="000000"/>
                </a:solidFill>
                <a:latin typeface="Calibri"/>
                <a:ea typeface="Calibri"/>
                <a:cs typeface="Calibri"/>
                <a:sym typeface="Calibri"/>
              </a:rPr>
              <a:t>, 5th ed., Prentice Hall, 2012, Section </a:t>
            </a:r>
            <a:r>
              <a:rPr lang="en-US" sz="500">
                <a:latin typeface="Calibri"/>
                <a:ea typeface="Calibri"/>
                <a:cs typeface="Calibri"/>
                <a:sym typeface="Calibri"/>
              </a:rPr>
              <a:t>6</a:t>
            </a:r>
            <a:r>
              <a:rPr lang="en-US" sz="500" b="0" i="0" u="none" strike="noStrike" cap="none">
                <a:solidFill>
                  <a:srgbClr val="000000"/>
                </a:solidFill>
                <a:latin typeface="Calibri"/>
                <a:ea typeface="Calibri"/>
                <a:cs typeface="Calibri"/>
                <a:sym typeface="Calibri"/>
              </a:rPr>
              <a:t>.5.</a:t>
            </a:r>
            <a:endParaRPr sz="5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43288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grpSp>
        <p:nvGrpSpPr>
          <p:cNvPr id="522" name="Google Shape;522;p69"/>
          <p:cNvGrpSpPr/>
          <p:nvPr/>
        </p:nvGrpSpPr>
        <p:grpSpPr>
          <a:xfrm>
            <a:off x="275627" y="1085523"/>
            <a:ext cx="8592749" cy="4686974"/>
            <a:chOff x="246976" y="233573"/>
            <a:chExt cx="8592749" cy="4686974"/>
          </a:xfrm>
        </p:grpSpPr>
        <p:pic>
          <p:nvPicPr>
            <p:cNvPr id="523" name="Google Shape;523;p69"/>
            <p:cNvPicPr preferRelativeResize="0"/>
            <p:nvPr/>
          </p:nvPicPr>
          <p:blipFill rotWithShape="1">
            <a:blip r:embed="rId3">
              <a:alphaModFix/>
            </a:blip>
            <a:srcRect/>
            <a:stretch/>
          </p:blipFill>
          <p:spPr>
            <a:xfrm>
              <a:off x="481350" y="1424875"/>
              <a:ext cx="2760100" cy="2760100"/>
            </a:xfrm>
            <a:prstGeom prst="rect">
              <a:avLst/>
            </a:prstGeom>
            <a:noFill/>
            <a:ln>
              <a:noFill/>
            </a:ln>
          </p:spPr>
        </p:pic>
        <p:sp>
          <p:nvSpPr>
            <p:cNvPr id="524" name="Google Shape;524;p69"/>
            <p:cNvSpPr/>
            <p:nvPr/>
          </p:nvSpPr>
          <p:spPr>
            <a:xfrm>
              <a:off x="7875464" y="233573"/>
              <a:ext cx="964261" cy="891156"/>
            </a:xfrm>
            <a:custGeom>
              <a:avLst/>
              <a:gdLst/>
              <a:ahLst/>
              <a:cxnLst/>
              <a:rect l="l" t="t" r="r" b="b"/>
              <a:pathLst>
                <a:path w="504189" h="504190" extrusionOk="0">
                  <a:moveTo>
                    <a:pt x="0" y="0"/>
                  </a:moveTo>
                  <a:lnTo>
                    <a:pt x="504006" y="0"/>
                  </a:lnTo>
                  <a:lnTo>
                    <a:pt x="504006" y="504006"/>
                  </a:lnTo>
                </a:path>
              </a:pathLst>
            </a:custGeom>
            <a:noFill/>
            <a:ln w="19800" cap="flat" cmpd="sng">
              <a:solidFill>
                <a:srgbClr val="C55911"/>
              </a:solidFill>
              <a:prstDash val="solid"/>
              <a:round/>
              <a:headEnd type="none" w="sm" len="sm"/>
              <a:tailEnd type="none" w="sm" len="sm"/>
            </a:ln>
          </p:spPr>
          <p:txBody>
            <a:bodyPr spcFirstLastPara="1" wrap="square" lIns="0" tIns="0" rIns="0" bIns="0" anchor="t" anchorCtr="0">
              <a:noAutofit/>
            </a:bodyPr>
            <a:lstStyle/>
            <a:p>
              <a:endParaRPr sz="1800" b="1">
                <a:latin typeface="Calibri"/>
                <a:ea typeface="Calibri"/>
                <a:cs typeface="Calibri"/>
                <a:sym typeface="Calibri"/>
              </a:endParaRPr>
            </a:p>
          </p:txBody>
        </p:sp>
        <p:sp>
          <p:nvSpPr>
            <p:cNvPr id="525" name="Google Shape;525;p69"/>
            <p:cNvSpPr/>
            <p:nvPr/>
          </p:nvSpPr>
          <p:spPr>
            <a:xfrm>
              <a:off x="246976" y="4029393"/>
              <a:ext cx="964263" cy="891154"/>
            </a:xfrm>
            <a:custGeom>
              <a:avLst/>
              <a:gdLst/>
              <a:ahLst/>
              <a:cxnLst/>
              <a:rect l="l" t="t" r="r" b="b"/>
              <a:pathLst>
                <a:path w="504190" h="504189" extrusionOk="0">
                  <a:moveTo>
                    <a:pt x="0" y="0"/>
                  </a:moveTo>
                  <a:lnTo>
                    <a:pt x="0" y="504006"/>
                  </a:lnTo>
                  <a:lnTo>
                    <a:pt x="504006" y="504006"/>
                  </a:lnTo>
                </a:path>
              </a:pathLst>
            </a:custGeom>
            <a:noFill/>
            <a:ln w="19800" cap="flat" cmpd="sng">
              <a:solidFill>
                <a:srgbClr val="C55911"/>
              </a:solidFill>
              <a:prstDash val="solid"/>
              <a:round/>
              <a:headEnd type="none" w="sm" len="sm"/>
              <a:tailEnd type="none" w="sm" len="sm"/>
            </a:ln>
          </p:spPr>
          <p:txBody>
            <a:bodyPr spcFirstLastPara="1" wrap="square" lIns="0" tIns="0" rIns="0" bIns="0" anchor="t" anchorCtr="0">
              <a:noAutofit/>
            </a:bodyPr>
            <a:lstStyle/>
            <a:p>
              <a:endParaRPr sz="1800">
                <a:latin typeface="Calibri"/>
                <a:ea typeface="Calibri"/>
                <a:cs typeface="Calibri"/>
                <a:sym typeface="Calibri"/>
              </a:endParaRPr>
            </a:p>
          </p:txBody>
        </p:sp>
        <p:sp>
          <p:nvSpPr>
            <p:cNvPr id="526" name="Google Shape;526;p69"/>
            <p:cNvSpPr txBox="1"/>
            <p:nvPr/>
          </p:nvSpPr>
          <p:spPr>
            <a:xfrm>
              <a:off x="3241450" y="1992050"/>
              <a:ext cx="5061000" cy="652777"/>
            </a:xfrm>
            <a:prstGeom prst="rect">
              <a:avLst/>
            </a:prstGeom>
            <a:noFill/>
            <a:ln>
              <a:noFill/>
            </a:ln>
          </p:spPr>
          <p:txBody>
            <a:bodyPr spcFirstLastPara="1" wrap="square" lIns="91425" tIns="91425" rIns="91425" bIns="91425" anchor="t" anchorCtr="0">
              <a:spAutoFit/>
            </a:bodyPr>
            <a:lstStyle/>
            <a:p>
              <a:pPr marL="12700" marR="5080">
                <a:lnSpc>
                  <a:spcPct val="117000"/>
                </a:lnSpc>
              </a:pPr>
              <a:r>
                <a:rPr lang="en" sz="2600" b="1">
                  <a:solidFill>
                    <a:srgbClr val="C55911"/>
                  </a:solidFill>
                  <a:latin typeface="Times New Roman"/>
                  <a:ea typeface="Times New Roman"/>
                  <a:cs typeface="Times New Roman"/>
                  <a:sym typeface="Times New Roman"/>
                </a:rPr>
                <a:t>THANK YOU</a:t>
              </a:r>
              <a:endParaRPr sz="2600">
                <a:solidFill>
                  <a:schemeClr val="dk1"/>
                </a:solidFill>
                <a:latin typeface="Times New Roman"/>
                <a:ea typeface="Times New Roman"/>
                <a:cs typeface="Times New Roman"/>
                <a:sym typeface="Times New Roman"/>
              </a:endParaRPr>
            </a:p>
          </p:txBody>
        </p:sp>
        <p:sp>
          <p:nvSpPr>
            <p:cNvPr id="527" name="Google Shape;527;p69"/>
            <p:cNvSpPr txBox="1"/>
            <p:nvPr/>
          </p:nvSpPr>
          <p:spPr>
            <a:xfrm>
              <a:off x="3241450" y="2904850"/>
              <a:ext cx="5384700" cy="971133"/>
            </a:xfrm>
            <a:prstGeom prst="rect">
              <a:avLst/>
            </a:prstGeom>
            <a:noFill/>
            <a:ln>
              <a:noFill/>
            </a:ln>
          </p:spPr>
          <p:txBody>
            <a:bodyPr spcFirstLastPara="1" wrap="square" lIns="91425" tIns="91425" rIns="91425" bIns="91425" anchor="t" anchorCtr="0">
              <a:spAutoFit/>
            </a:bodyPr>
            <a:lstStyle/>
            <a:p>
              <a:pPr marL="26841" marR="10736">
                <a:lnSpc>
                  <a:spcPct val="115851"/>
                </a:lnSpc>
                <a:spcBef>
                  <a:spcPts val="1268"/>
                </a:spcBef>
              </a:pPr>
              <a:r>
                <a:rPr lang="en" sz="1736" b="1">
                  <a:solidFill>
                    <a:schemeClr val="dk1"/>
                  </a:solidFill>
                  <a:latin typeface="Times New Roman"/>
                  <a:ea typeface="Times New Roman"/>
                  <a:cs typeface="Times New Roman"/>
                  <a:sym typeface="Times New Roman"/>
                </a:rPr>
                <a:t>Team DDCO</a:t>
              </a:r>
              <a:br>
                <a:rPr lang="en" sz="600" b="1">
                  <a:solidFill>
                    <a:schemeClr val="dk1"/>
                  </a:solidFill>
                  <a:latin typeface="Times New Roman"/>
                  <a:ea typeface="Times New Roman"/>
                  <a:cs typeface="Times New Roman"/>
                  <a:sym typeface="Times New Roman"/>
                </a:rPr>
              </a:br>
              <a:r>
                <a:rPr lang="en" sz="1736" b="1">
                  <a:solidFill>
                    <a:schemeClr val="dk1"/>
                  </a:solidFill>
                  <a:latin typeface="Times New Roman"/>
                  <a:ea typeface="Times New Roman"/>
                  <a:cs typeface="Times New Roman"/>
                  <a:sym typeface="Times New Roman"/>
                </a:rPr>
                <a:t>Department of Computer Science and Engineering</a:t>
              </a:r>
              <a:endParaRPr sz="1736" b="1">
                <a:solidFill>
                  <a:schemeClr val="dk1"/>
                </a:solidFill>
                <a:latin typeface="Times New Roman"/>
                <a:ea typeface="Times New Roman"/>
                <a:cs typeface="Times New Roman"/>
                <a:sym typeface="Times New Roman"/>
              </a:endParaRPr>
            </a:p>
          </p:txBody>
        </p:sp>
        <p:sp>
          <p:nvSpPr>
            <p:cNvPr id="528" name="Google Shape;528;p69"/>
            <p:cNvSpPr/>
            <p:nvPr/>
          </p:nvSpPr>
          <p:spPr>
            <a:xfrm>
              <a:off x="3311899" y="2740954"/>
              <a:ext cx="4563570" cy="0"/>
            </a:xfrm>
            <a:custGeom>
              <a:avLst/>
              <a:gdLst/>
              <a:ahLst/>
              <a:cxnLst/>
              <a:rect l="l" t="t" r="r" b="b"/>
              <a:pathLst>
                <a:path w="2160270" h="120000" extrusionOk="0">
                  <a:moveTo>
                    <a:pt x="0" y="0"/>
                  </a:moveTo>
                  <a:lnTo>
                    <a:pt x="2160027" y="0"/>
                  </a:lnTo>
                </a:path>
              </a:pathLst>
            </a:custGeom>
            <a:noFill/>
            <a:ln w="19800" cap="flat" cmpd="sng">
              <a:solidFill>
                <a:srgbClr val="C55911"/>
              </a:solidFill>
              <a:prstDash val="solid"/>
              <a:round/>
              <a:headEnd type="none" w="sm" len="sm"/>
              <a:tailEnd type="none" w="sm" len="sm"/>
            </a:ln>
          </p:spPr>
          <p:txBody>
            <a:bodyPr spcFirstLastPara="1" wrap="square" lIns="0" tIns="0" rIns="0" bIns="0" anchor="t" anchorCtr="0">
              <a:noAutofit/>
            </a:bodyPr>
            <a:lstStyle/>
            <a:p>
              <a:endParaRPr sz="3804">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rgbClr val="000000"/>
      </a:dk1>
      <a:lt1>
        <a:srgbClr val="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2813</Words>
  <Application>Microsoft Office PowerPoint</Application>
  <PresentationFormat>On-screen Show (4:3)</PresentationFormat>
  <Paragraphs>177</Paragraphs>
  <Slides>22</Slides>
  <Notes>22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0" baseType="lpstr">
      <vt:lpstr>Calibri</vt:lpstr>
      <vt:lpstr>Helvetica Neue</vt:lpstr>
      <vt:lpstr>Arial</vt:lpstr>
      <vt:lpstr>Carlito</vt:lpstr>
      <vt:lpstr>Times New Roman</vt:lpstr>
      <vt:lpstr>508 Lecture</vt:lpstr>
      <vt:lpstr>Simple Light</vt:lpstr>
      <vt:lpstr>PBrush</vt:lpstr>
      <vt:lpstr>PowerPoint Presentation</vt:lpstr>
      <vt:lpstr>PowerPoint Presentation</vt:lpstr>
      <vt:lpstr>PowerPoint Presentation</vt:lpstr>
      <vt:lpstr>Table 6.7 State Table for Counter.</vt:lpstr>
      <vt:lpstr>Figure 6.16 Counter with unused states.</vt:lpstr>
      <vt:lpstr>PowerPoint Presentation</vt:lpstr>
      <vt:lpstr>PowerPoint Presentation</vt:lpstr>
      <vt:lpstr>Figure 6.17 Generation of timing signals.</vt:lpstr>
      <vt:lpstr>PowerPoint Presentation</vt:lpstr>
      <vt:lpstr>PowerPoint Presentation</vt:lpstr>
      <vt:lpstr>PowerPoint Presentation</vt:lpstr>
      <vt:lpstr>PowerPoint Presentation</vt:lpstr>
      <vt:lpstr>PowerPoint Presentation</vt:lpstr>
      <vt:lpstr>PowerPoint Presentation</vt:lpstr>
      <vt:lpstr>COUNTERS - 2</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Echo Swinford</dc:creator>
  <cp:lastModifiedBy>prajwala talanki</cp:lastModifiedBy>
  <cp:revision>23</cp:revision>
  <dcterms:created xsi:type="dcterms:W3CDTF">2014-07-14T20:04:21Z</dcterms:created>
  <dcterms:modified xsi:type="dcterms:W3CDTF">2025-09-09T16:02:52Z</dcterms:modified>
</cp:coreProperties>
</file>