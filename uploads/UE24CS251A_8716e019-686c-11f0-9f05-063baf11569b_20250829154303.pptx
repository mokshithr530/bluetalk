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5" r:id="rId2"/>
  </p:sldMasterIdLst>
  <p:notesMasterIdLst>
    <p:notesMasterId r:id="rId22"/>
  </p:notesMasterIdLst>
  <p:sldIdLst>
    <p:sldId id="256" r:id="rId3"/>
    <p:sldId id="257" r:id="rId4"/>
    <p:sldId id="258" r:id="rId5"/>
    <p:sldId id="270" r:id="rId6"/>
    <p:sldId id="259" r:id="rId7"/>
    <p:sldId id="260" r:id="rId8"/>
    <p:sldId id="271" r:id="rId9"/>
    <p:sldId id="262" r:id="rId10"/>
    <p:sldId id="263" r:id="rId11"/>
    <p:sldId id="272" r:id="rId12"/>
    <p:sldId id="273" r:id="rId13"/>
    <p:sldId id="274" r:id="rId14"/>
    <p:sldId id="267" r:id="rId15"/>
    <p:sldId id="279" r:id="rId16"/>
    <p:sldId id="275" r:id="rId17"/>
    <p:sldId id="268" r:id="rId18"/>
    <p:sldId id="277" r:id="rId19"/>
    <p:sldId id="276" r:id="rId20"/>
    <p:sldId id="269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432">
          <p15:clr>
            <a:srgbClr val="A4A3A4"/>
          </p15:clr>
        </p15:guide>
        <p15:guide id="4" orient="horz" pos="864">
          <p15:clr>
            <a:srgbClr val="A4A3A4"/>
          </p15:clr>
        </p15:guide>
        <p15:guide id="5" orient="horz" pos="4017">
          <p15:clr>
            <a:srgbClr val="A4A3A4"/>
          </p15:clr>
        </p15:guide>
        <p15:guide id="6" pos="288">
          <p15:clr>
            <a:srgbClr val="A4A3A4"/>
          </p15:clr>
        </p15:guide>
        <p15:guide id="7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jQt5y8VLc0uc/SjDXEvu3j8mzQ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600" y="44"/>
      </p:cViewPr>
      <p:guideLst>
        <p:guide orient="horz" pos="2160"/>
        <p:guide pos="2880"/>
        <p:guide orient="horz" pos="432"/>
        <p:guide orient="horz" pos="864"/>
        <p:guide orient="horz" pos="4017"/>
        <p:guide pos="288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beb7964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beb7964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bdebb77e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36bdebb77e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2A694530-0533-E35D-D38E-B0F04CBB6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bdebb77e6_0_1:notes">
            <a:extLst>
              <a:ext uri="{FF2B5EF4-FFF2-40B4-BE49-F238E27FC236}">
                <a16:creationId xmlns:a16="http://schemas.microsoft.com/office/drawing/2014/main" id="{0527DD8A-158E-F5A8-A65D-A7D5C4232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36bdebb77e6_0_1:notes">
            <a:extLst>
              <a:ext uri="{FF2B5EF4-FFF2-40B4-BE49-F238E27FC236}">
                <a16:creationId xmlns:a16="http://schemas.microsoft.com/office/drawing/2014/main" id="{0302D2E2-CB73-F966-AD1A-47B3930C38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69439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143823E8-33B7-5977-E9D3-DF1D259D3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:notes">
            <a:extLst>
              <a:ext uri="{FF2B5EF4-FFF2-40B4-BE49-F238E27FC236}">
                <a16:creationId xmlns:a16="http://schemas.microsoft.com/office/drawing/2014/main" id="{63FF49F4-5AE0-5D7A-5B4E-1225E79E08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5:notes">
            <a:extLst>
              <a:ext uri="{FF2B5EF4-FFF2-40B4-BE49-F238E27FC236}">
                <a16:creationId xmlns:a16="http://schemas.microsoft.com/office/drawing/2014/main" id="{043BA156-53EC-E4F7-7BD4-8642C8AFB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4051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7" name="Google Shape;2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AA374CF7-474A-E79B-7DCB-D09C1E51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>
            <a:extLst>
              <a:ext uri="{FF2B5EF4-FFF2-40B4-BE49-F238E27FC236}">
                <a16:creationId xmlns:a16="http://schemas.microsoft.com/office/drawing/2014/main" id="{79025296-5C7D-AE08-1EF8-9224BCC68D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p8:notes">
            <a:extLst>
              <a:ext uri="{FF2B5EF4-FFF2-40B4-BE49-F238E27FC236}">
                <a16:creationId xmlns:a16="http://schemas.microsoft.com/office/drawing/2014/main" id="{5EB279DD-019B-319D-4839-181BE74AFE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88271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51C8D511-E045-08A6-274E-7DF85967C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>
            <a:extLst>
              <a:ext uri="{FF2B5EF4-FFF2-40B4-BE49-F238E27FC236}">
                <a16:creationId xmlns:a16="http://schemas.microsoft.com/office/drawing/2014/main" id="{CB0CDAE1-FD94-9B2A-6D1E-F1F284F4D1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p8:notes">
            <a:extLst>
              <a:ext uri="{FF2B5EF4-FFF2-40B4-BE49-F238E27FC236}">
                <a16:creationId xmlns:a16="http://schemas.microsoft.com/office/drawing/2014/main" id="{1D4A4263-3F26-F4C1-1EFD-37B5DF1F5A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4269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02DCF79A-7315-7C39-5BC3-CA43B3EA7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>
            <a:extLst>
              <a:ext uri="{FF2B5EF4-FFF2-40B4-BE49-F238E27FC236}">
                <a16:creationId xmlns:a16="http://schemas.microsoft.com/office/drawing/2014/main" id="{BB91B82E-407D-6781-C91B-354D65474E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7" name="Google Shape;287;p8:notes">
            <a:extLst>
              <a:ext uri="{FF2B5EF4-FFF2-40B4-BE49-F238E27FC236}">
                <a16:creationId xmlns:a16="http://schemas.microsoft.com/office/drawing/2014/main" id="{868296EB-94E3-1788-4C44-00238080C1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0805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>
          <a:extLst>
            <a:ext uri="{FF2B5EF4-FFF2-40B4-BE49-F238E27FC236}">
              <a16:creationId xmlns:a16="http://schemas.microsoft.com/office/drawing/2014/main" id="{9D282078-B2D1-2748-C24D-92E89E3F7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>
            <a:extLst>
              <a:ext uri="{FF2B5EF4-FFF2-40B4-BE49-F238E27FC236}">
                <a16:creationId xmlns:a16="http://schemas.microsoft.com/office/drawing/2014/main" id="{9EAE1E9B-EA6A-16AC-A5A1-CE996CCB64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p12:notes">
            <a:extLst>
              <a:ext uri="{FF2B5EF4-FFF2-40B4-BE49-F238E27FC236}">
                <a16:creationId xmlns:a16="http://schemas.microsoft.com/office/drawing/2014/main" id="{2DD9D581-8A1A-DD7A-9CE7-A29AB8C59D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83148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AC0301E-1BEA-B25C-B6DF-6B3F24B13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>
            <a:extLst>
              <a:ext uri="{FF2B5EF4-FFF2-40B4-BE49-F238E27FC236}">
                <a16:creationId xmlns:a16="http://schemas.microsoft.com/office/drawing/2014/main" id="{CEC585EA-46F0-E0E6-B2A3-1A4037476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13:notes">
            <a:extLst>
              <a:ext uri="{FF2B5EF4-FFF2-40B4-BE49-F238E27FC236}">
                <a16:creationId xmlns:a16="http://schemas.microsoft.com/office/drawing/2014/main" id="{60C1F543-9D15-C497-2CED-ED441BCA7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4080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193CEB79-4A62-0322-47FE-61020619B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>
            <a:extLst>
              <a:ext uri="{FF2B5EF4-FFF2-40B4-BE49-F238E27FC236}">
                <a16:creationId xmlns:a16="http://schemas.microsoft.com/office/drawing/2014/main" id="{C737AAD3-C2C8-878D-9112-894410D412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13:notes">
            <a:extLst>
              <a:ext uri="{FF2B5EF4-FFF2-40B4-BE49-F238E27FC236}">
                <a16:creationId xmlns:a16="http://schemas.microsoft.com/office/drawing/2014/main" id="{B542D78C-AD7E-43BC-F103-BAA3FA1DF9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877437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1AF6C93-0D8E-638B-E96E-EE0AE0D6C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>
            <a:extLst>
              <a:ext uri="{FF2B5EF4-FFF2-40B4-BE49-F238E27FC236}">
                <a16:creationId xmlns:a16="http://schemas.microsoft.com/office/drawing/2014/main" id="{CA03BCF5-9A1A-F7E5-16C4-535EDBD7A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13:notes">
            <a:extLst>
              <a:ext uri="{FF2B5EF4-FFF2-40B4-BE49-F238E27FC236}">
                <a16:creationId xmlns:a16="http://schemas.microsoft.com/office/drawing/2014/main" id="{74C0F834-235A-4579-A6F4-18A2EBFB7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0345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ctrTitle"/>
          </p:nvPr>
        </p:nvSpPr>
        <p:spPr>
          <a:xfrm>
            <a:off x="329465" y="-8955"/>
            <a:ext cx="4723057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1" i="0">
                <a:solidFill>
                  <a:srgbClr val="2E54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658368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/>
          <p:nvPr/>
        </p:nvSpPr>
        <p:spPr>
          <a:xfrm>
            <a:off x="6694295" y="6668577"/>
            <a:ext cx="68479" cy="64420"/>
          </a:xfrm>
          <a:custGeom>
            <a:avLst/>
            <a:gdLst/>
            <a:ahLst/>
            <a:cxnLst/>
            <a:rect l="l" t="t" r="r" b="b"/>
            <a:pathLst>
              <a:path w="43179" h="30480" extrusionOk="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7"/>
          <p:cNvSpPr/>
          <p:nvPr/>
        </p:nvSpPr>
        <p:spPr>
          <a:xfrm>
            <a:off x="6568030" y="6660204"/>
            <a:ext cx="40282" cy="80524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7"/>
          <p:cNvSpPr/>
          <p:nvPr/>
        </p:nvSpPr>
        <p:spPr>
          <a:xfrm>
            <a:off x="6850007" y="6660204"/>
            <a:ext cx="40282" cy="80524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7"/>
          <p:cNvSpPr/>
          <p:nvPr/>
        </p:nvSpPr>
        <p:spPr>
          <a:xfrm>
            <a:off x="7097938" y="6646783"/>
            <a:ext cx="101712" cy="107366"/>
          </a:xfrm>
          <a:custGeom>
            <a:avLst/>
            <a:gdLst/>
            <a:ahLst/>
            <a:cxnLst/>
            <a:rect l="l" t="t" r="r" b="b"/>
            <a:pathLst>
              <a:path w="64135" h="50800" extrusionOk="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 extrusionOk="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 extrusionOk="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6997757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7"/>
          <p:cNvSpPr/>
          <p:nvPr/>
        </p:nvSpPr>
        <p:spPr>
          <a:xfrm>
            <a:off x="7568473" y="6673624"/>
            <a:ext cx="60423" cy="0"/>
          </a:xfrm>
          <a:custGeom>
            <a:avLst/>
            <a:gdLst/>
            <a:ahLst/>
            <a:cxnLst/>
            <a:rect l="l" t="t" r="r" b="b"/>
            <a:pathLst>
              <a:path w="38100" h="120000" extrusionOk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7"/>
          <p:cNvSpPr/>
          <p:nvPr/>
        </p:nvSpPr>
        <p:spPr>
          <a:xfrm>
            <a:off x="7427485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7"/>
          <p:cNvSpPr/>
          <p:nvPr/>
        </p:nvSpPr>
        <p:spPr>
          <a:xfrm>
            <a:off x="7548332" y="6646781"/>
            <a:ext cx="80564" cy="107366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F3D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7"/>
          <p:cNvSpPr/>
          <p:nvPr/>
        </p:nvSpPr>
        <p:spPr>
          <a:xfrm>
            <a:off x="7978060" y="6646781"/>
            <a:ext cx="80564" cy="53683"/>
          </a:xfrm>
          <a:custGeom>
            <a:avLst/>
            <a:gdLst/>
            <a:ahLst/>
            <a:cxnLst/>
            <a:rect l="l" t="t" r="r" b="b"/>
            <a:pathLst>
              <a:path w="50800" h="25400" extrusionOk="0">
                <a:moveTo>
                  <a:pt x="0" y="0"/>
                </a:moveTo>
                <a:lnTo>
                  <a:pt x="38100" y="0"/>
                </a:lnTo>
              </a:path>
              <a:path w="50800" h="25400" extrusionOk="0">
                <a:moveTo>
                  <a:pt x="12700" y="12700"/>
                </a:moveTo>
                <a:lnTo>
                  <a:pt x="50800" y="12700"/>
                </a:lnTo>
              </a:path>
              <a:path w="50800" h="25400" extrusionOk="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7"/>
          <p:cNvSpPr/>
          <p:nvPr/>
        </p:nvSpPr>
        <p:spPr>
          <a:xfrm>
            <a:off x="7857212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7"/>
          <p:cNvSpPr/>
          <p:nvPr/>
        </p:nvSpPr>
        <p:spPr>
          <a:xfrm>
            <a:off x="7978060" y="6727308"/>
            <a:ext cx="80564" cy="26841"/>
          </a:xfrm>
          <a:custGeom>
            <a:avLst/>
            <a:gdLst/>
            <a:ahLst/>
            <a:cxnLst/>
            <a:rect l="l" t="t" r="r" b="b"/>
            <a:pathLst>
              <a:path w="50800" h="12700" extrusionOk="0">
                <a:moveTo>
                  <a:pt x="0" y="0"/>
                </a:moveTo>
                <a:lnTo>
                  <a:pt x="38100" y="0"/>
                </a:lnTo>
              </a:path>
              <a:path w="50800" h="12700" extrusionOk="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w="9525" cap="flat" cmpd="sng">
            <a:solidFill>
              <a:srgbClr val="F3D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7"/>
          <p:cNvSpPr/>
          <p:nvPr/>
        </p:nvSpPr>
        <p:spPr>
          <a:xfrm>
            <a:off x="8407787" y="6646783"/>
            <a:ext cx="80564" cy="107366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12700"/>
                </a:moveTo>
                <a:lnTo>
                  <a:pt x="50800" y="1270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7"/>
          <p:cNvSpPr/>
          <p:nvPr/>
        </p:nvSpPr>
        <p:spPr>
          <a:xfrm>
            <a:off x="8885854" y="6711203"/>
            <a:ext cx="32226" cy="42946"/>
          </a:xfrm>
          <a:custGeom>
            <a:avLst/>
            <a:gdLst/>
            <a:ahLst/>
            <a:cxnLst/>
            <a:rect l="l" t="t" r="r" b="b"/>
            <a:pathLst>
              <a:path w="20320" h="20319" extrusionOk="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7"/>
          <p:cNvSpPr/>
          <p:nvPr/>
        </p:nvSpPr>
        <p:spPr>
          <a:xfrm>
            <a:off x="8842934" y="6655205"/>
            <a:ext cx="48338" cy="64420"/>
          </a:xfrm>
          <a:custGeom>
            <a:avLst/>
            <a:gdLst/>
            <a:ahLst/>
            <a:cxnLst/>
            <a:rect l="l" t="t" r="r" b="b"/>
            <a:pathLst>
              <a:path w="30479" h="30480" extrusionOk="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7"/>
          <p:cNvSpPr/>
          <p:nvPr/>
        </p:nvSpPr>
        <p:spPr>
          <a:xfrm>
            <a:off x="8692501" y="6646783"/>
            <a:ext cx="370592" cy="107366"/>
          </a:xfrm>
          <a:custGeom>
            <a:avLst/>
            <a:gdLst/>
            <a:ahLst/>
            <a:cxnLst/>
            <a:rect l="l" t="t" r="r" b="b"/>
            <a:pathLst>
              <a:path w="233679" h="50800" extrusionOk="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 extrusionOk="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 extrusionOk="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 extrusionOk="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92944" y="190259"/>
            <a:ext cx="696522" cy="139988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7"/>
          <p:cNvSpPr txBox="1">
            <a:spLocks noGrp="1"/>
          </p:cNvSpPr>
          <p:nvPr>
            <p:ph type="title"/>
          </p:nvPr>
        </p:nvSpPr>
        <p:spPr>
          <a:xfrm>
            <a:off x="329465" y="-8955"/>
            <a:ext cx="4723057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1" i="0">
                <a:solidFill>
                  <a:srgbClr val="2E54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body" idx="1"/>
          </p:nvPr>
        </p:nvSpPr>
        <p:spPr>
          <a:xfrm>
            <a:off x="139154" y="1153725"/>
            <a:ext cx="4490429" cy="268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44" b="0" i="0">
                <a:solidFill>
                  <a:srgbClr val="2E54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658368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/>
          <p:nvPr/>
        </p:nvSpPr>
        <p:spPr>
          <a:xfrm>
            <a:off x="6694295" y="6668577"/>
            <a:ext cx="68479" cy="64420"/>
          </a:xfrm>
          <a:custGeom>
            <a:avLst/>
            <a:gdLst/>
            <a:ahLst/>
            <a:cxnLst/>
            <a:rect l="l" t="t" r="r" b="b"/>
            <a:pathLst>
              <a:path w="43179" h="30480" extrusionOk="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4"/>
          <p:cNvSpPr/>
          <p:nvPr/>
        </p:nvSpPr>
        <p:spPr>
          <a:xfrm>
            <a:off x="6568030" y="6660204"/>
            <a:ext cx="40282" cy="80524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4"/>
          <p:cNvSpPr/>
          <p:nvPr/>
        </p:nvSpPr>
        <p:spPr>
          <a:xfrm>
            <a:off x="6850007" y="6660204"/>
            <a:ext cx="40282" cy="80524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4"/>
          <p:cNvSpPr/>
          <p:nvPr/>
        </p:nvSpPr>
        <p:spPr>
          <a:xfrm>
            <a:off x="7097938" y="6646783"/>
            <a:ext cx="101712" cy="107366"/>
          </a:xfrm>
          <a:custGeom>
            <a:avLst/>
            <a:gdLst/>
            <a:ahLst/>
            <a:cxnLst/>
            <a:rect l="l" t="t" r="r" b="b"/>
            <a:pathLst>
              <a:path w="64135" h="50800" extrusionOk="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 extrusionOk="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 extrusionOk="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4"/>
          <p:cNvSpPr/>
          <p:nvPr/>
        </p:nvSpPr>
        <p:spPr>
          <a:xfrm>
            <a:off x="6997757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4"/>
          <p:cNvSpPr/>
          <p:nvPr/>
        </p:nvSpPr>
        <p:spPr>
          <a:xfrm>
            <a:off x="7568473" y="6673624"/>
            <a:ext cx="60423" cy="0"/>
          </a:xfrm>
          <a:custGeom>
            <a:avLst/>
            <a:gdLst/>
            <a:ahLst/>
            <a:cxnLst/>
            <a:rect l="l" t="t" r="r" b="b"/>
            <a:pathLst>
              <a:path w="38100" h="120000" extrusionOk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4"/>
          <p:cNvSpPr/>
          <p:nvPr/>
        </p:nvSpPr>
        <p:spPr>
          <a:xfrm>
            <a:off x="7427485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4"/>
          <p:cNvSpPr/>
          <p:nvPr/>
        </p:nvSpPr>
        <p:spPr>
          <a:xfrm>
            <a:off x="7548332" y="6646781"/>
            <a:ext cx="80564" cy="107366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F3D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4"/>
          <p:cNvSpPr/>
          <p:nvPr/>
        </p:nvSpPr>
        <p:spPr>
          <a:xfrm>
            <a:off x="7978060" y="6646781"/>
            <a:ext cx="80564" cy="53683"/>
          </a:xfrm>
          <a:custGeom>
            <a:avLst/>
            <a:gdLst/>
            <a:ahLst/>
            <a:cxnLst/>
            <a:rect l="l" t="t" r="r" b="b"/>
            <a:pathLst>
              <a:path w="50800" h="25400" extrusionOk="0">
                <a:moveTo>
                  <a:pt x="0" y="0"/>
                </a:moveTo>
                <a:lnTo>
                  <a:pt x="38100" y="0"/>
                </a:lnTo>
              </a:path>
              <a:path w="50800" h="25400" extrusionOk="0">
                <a:moveTo>
                  <a:pt x="12700" y="12700"/>
                </a:moveTo>
                <a:lnTo>
                  <a:pt x="50800" y="12700"/>
                </a:lnTo>
              </a:path>
              <a:path w="50800" h="25400" extrusionOk="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4"/>
          <p:cNvSpPr/>
          <p:nvPr/>
        </p:nvSpPr>
        <p:spPr>
          <a:xfrm>
            <a:off x="7857212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4"/>
          <p:cNvSpPr/>
          <p:nvPr/>
        </p:nvSpPr>
        <p:spPr>
          <a:xfrm>
            <a:off x="7978060" y="6727308"/>
            <a:ext cx="80564" cy="26841"/>
          </a:xfrm>
          <a:custGeom>
            <a:avLst/>
            <a:gdLst/>
            <a:ahLst/>
            <a:cxnLst/>
            <a:rect l="l" t="t" r="r" b="b"/>
            <a:pathLst>
              <a:path w="50800" h="12700" extrusionOk="0">
                <a:moveTo>
                  <a:pt x="0" y="0"/>
                </a:moveTo>
                <a:lnTo>
                  <a:pt x="38100" y="0"/>
                </a:lnTo>
              </a:path>
              <a:path w="50800" h="12700" extrusionOk="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w="9525" cap="flat" cmpd="sng">
            <a:solidFill>
              <a:srgbClr val="F3D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4"/>
          <p:cNvSpPr/>
          <p:nvPr/>
        </p:nvSpPr>
        <p:spPr>
          <a:xfrm>
            <a:off x="8407787" y="6646783"/>
            <a:ext cx="80564" cy="107366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12700"/>
                </a:moveTo>
                <a:lnTo>
                  <a:pt x="50800" y="1270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4"/>
          <p:cNvSpPr/>
          <p:nvPr/>
        </p:nvSpPr>
        <p:spPr>
          <a:xfrm>
            <a:off x="8885854" y="6711203"/>
            <a:ext cx="32226" cy="42946"/>
          </a:xfrm>
          <a:custGeom>
            <a:avLst/>
            <a:gdLst/>
            <a:ahLst/>
            <a:cxnLst/>
            <a:rect l="l" t="t" r="r" b="b"/>
            <a:pathLst>
              <a:path w="20320" h="20319" extrusionOk="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4"/>
          <p:cNvSpPr/>
          <p:nvPr/>
        </p:nvSpPr>
        <p:spPr>
          <a:xfrm>
            <a:off x="8842934" y="6655205"/>
            <a:ext cx="48338" cy="64420"/>
          </a:xfrm>
          <a:custGeom>
            <a:avLst/>
            <a:gdLst/>
            <a:ahLst/>
            <a:cxnLst/>
            <a:rect l="l" t="t" r="r" b="b"/>
            <a:pathLst>
              <a:path w="30479" h="30480" extrusionOk="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4"/>
          <p:cNvSpPr/>
          <p:nvPr/>
        </p:nvSpPr>
        <p:spPr>
          <a:xfrm>
            <a:off x="8692501" y="6646783"/>
            <a:ext cx="370592" cy="107366"/>
          </a:xfrm>
          <a:custGeom>
            <a:avLst/>
            <a:gdLst/>
            <a:ahLst/>
            <a:cxnLst/>
            <a:rect l="l" t="t" r="r" b="b"/>
            <a:pathLst>
              <a:path w="233679" h="50800" extrusionOk="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 extrusionOk="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 extrusionOk="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 extrusionOk="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92944" y="190259"/>
            <a:ext cx="696522" cy="139988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4"/>
          <p:cNvSpPr/>
          <p:nvPr/>
        </p:nvSpPr>
        <p:spPr>
          <a:xfrm>
            <a:off x="-3" y="1316309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4"/>
          <p:cNvSpPr txBox="1">
            <a:spLocks noGrp="1"/>
          </p:cNvSpPr>
          <p:nvPr>
            <p:ph type="title"/>
          </p:nvPr>
        </p:nvSpPr>
        <p:spPr>
          <a:xfrm>
            <a:off x="329465" y="-8955"/>
            <a:ext cx="4723057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1" i="0">
                <a:solidFill>
                  <a:srgbClr val="2E54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sldNum" idx="12"/>
          </p:nvPr>
        </p:nvSpPr>
        <p:spPr>
          <a:xfrm>
            <a:off x="658368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5"/>
          <p:cNvSpPr/>
          <p:nvPr/>
        </p:nvSpPr>
        <p:spPr>
          <a:xfrm>
            <a:off x="6694295" y="6668577"/>
            <a:ext cx="68479" cy="64420"/>
          </a:xfrm>
          <a:custGeom>
            <a:avLst/>
            <a:gdLst/>
            <a:ahLst/>
            <a:cxnLst/>
            <a:rect l="l" t="t" r="r" b="b"/>
            <a:pathLst>
              <a:path w="43179" h="30480" extrusionOk="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5"/>
          <p:cNvSpPr/>
          <p:nvPr/>
        </p:nvSpPr>
        <p:spPr>
          <a:xfrm>
            <a:off x="6568030" y="6660204"/>
            <a:ext cx="40282" cy="80524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5"/>
          <p:cNvSpPr/>
          <p:nvPr/>
        </p:nvSpPr>
        <p:spPr>
          <a:xfrm>
            <a:off x="6850007" y="6660204"/>
            <a:ext cx="40282" cy="80524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5"/>
          <p:cNvSpPr/>
          <p:nvPr/>
        </p:nvSpPr>
        <p:spPr>
          <a:xfrm>
            <a:off x="7097938" y="6646783"/>
            <a:ext cx="101712" cy="107366"/>
          </a:xfrm>
          <a:custGeom>
            <a:avLst/>
            <a:gdLst/>
            <a:ahLst/>
            <a:cxnLst/>
            <a:rect l="l" t="t" r="r" b="b"/>
            <a:pathLst>
              <a:path w="64135" h="50800" extrusionOk="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 extrusionOk="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 extrusionOk="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5"/>
          <p:cNvSpPr/>
          <p:nvPr/>
        </p:nvSpPr>
        <p:spPr>
          <a:xfrm>
            <a:off x="6997757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5"/>
          <p:cNvSpPr/>
          <p:nvPr/>
        </p:nvSpPr>
        <p:spPr>
          <a:xfrm>
            <a:off x="7568473" y="6673624"/>
            <a:ext cx="60423" cy="0"/>
          </a:xfrm>
          <a:custGeom>
            <a:avLst/>
            <a:gdLst/>
            <a:ahLst/>
            <a:cxnLst/>
            <a:rect l="l" t="t" r="r" b="b"/>
            <a:pathLst>
              <a:path w="38100" h="120000" extrusionOk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5"/>
          <p:cNvSpPr/>
          <p:nvPr/>
        </p:nvSpPr>
        <p:spPr>
          <a:xfrm>
            <a:off x="7427485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5"/>
          <p:cNvSpPr/>
          <p:nvPr/>
        </p:nvSpPr>
        <p:spPr>
          <a:xfrm>
            <a:off x="7548332" y="6646781"/>
            <a:ext cx="80564" cy="107366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F3D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5"/>
          <p:cNvSpPr/>
          <p:nvPr/>
        </p:nvSpPr>
        <p:spPr>
          <a:xfrm>
            <a:off x="7978060" y="6646781"/>
            <a:ext cx="80564" cy="53683"/>
          </a:xfrm>
          <a:custGeom>
            <a:avLst/>
            <a:gdLst/>
            <a:ahLst/>
            <a:cxnLst/>
            <a:rect l="l" t="t" r="r" b="b"/>
            <a:pathLst>
              <a:path w="50800" h="25400" extrusionOk="0">
                <a:moveTo>
                  <a:pt x="0" y="0"/>
                </a:moveTo>
                <a:lnTo>
                  <a:pt x="38100" y="0"/>
                </a:lnTo>
              </a:path>
              <a:path w="50800" h="25400" extrusionOk="0">
                <a:moveTo>
                  <a:pt x="12700" y="12700"/>
                </a:moveTo>
                <a:lnTo>
                  <a:pt x="50800" y="12700"/>
                </a:lnTo>
              </a:path>
              <a:path w="50800" h="25400" extrusionOk="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5"/>
          <p:cNvSpPr/>
          <p:nvPr/>
        </p:nvSpPr>
        <p:spPr>
          <a:xfrm>
            <a:off x="7857212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5"/>
          <p:cNvSpPr/>
          <p:nvPr/>
        </p:nvSpPr>
        <p:spPr>
          <a:xfrm>
            <a:off x="7978060" y="6727308"/>
            <a:ext cx="80564" cy="26841"/>
          </a:xfrm>
          <a:custGeom>
            <a:avLst/>
            <a:gdLst/>
            <a:ahLst/>
            <a:cxnLst/>
            <a:rect l="l" t="t" r="r" b="b"/>
            <a:pathLst>
              <a:path w="50800" h="12700" extrusionOk="0">
                <a:moveTo>
                  <a:pt x="0" y="0"/>
                </a:moveTo>
                <a:lnTo>
                  <a:pt x="38100" y="0"/>
                </a:lnTo>
              </a:path>
              <a:path w="50800" h="12700" extrusionOk="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w="9525" cap="flat" cmpd="sng">
            <a:solidFill>
              <a:srgbClr val="F3D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5"/>
          <p:cNvSpPr/>
          <p:nvPr/>
        </p:nvSpPr>
        <p:spPr>
          <a:xfrm>
            <a:off x="8407787" y="6646783"/>
            <a:ext cx="80564" cy="107366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12700"/>
                </a:moveTo>
                <a:lnTo>
                  <a:pt x="50800" y="1270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5"/>
          <p:cNvSpPr/>
          <p:nvPr/>
        </p:nvSpPr>
        <p:spPr>
          <a:xfrm>
            <a:off x="8885854" y="6711203"/>
            <a:ext cx="32226" cy="42946"/>
          </a:xfrm>
          <a:custGeom>
            <a:avLst/>
            <a:gdLst/>
            <a:ahLst/>
            <a:cxnLst/>
            <a:rect l="l" t="t" r="r" b="b"/>
            <a:pathLst>
              <a:path w="20320" h="20319" extrusionOk="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5"/>
          <p:cNvSpPr/>
          <p:nvPr/>
        </p:nvSpPr>
        <p:spPr>
          <a:xfrm>
            <a:off x="8842934" y="6655205"/>
            <a:ext cx="48338" cy="64420"/>
          </a:xfrm>
          <a:custGeom>
            <a:avLst/>
            <a:gdLst/>
            <a:ahLst/>
            <a:cxnLst/>
            <a:rect l="l" t="t" r="r" b="b"/>
            <a:pathLst>
              <a:path w="30479" h="30480" extrusionOk="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5"/>
          <p:cNvSpPr/>
          <p:nvPr/>
        </p:nvSpPr>
        <p:spPr>
          <a:xfrm>
            <a:off x="8692501" y="6646783"/>
            <a:ext cx="370592" cy="107366"/>
          </a:xfrm>
          <a:custGeom>
            <a:avLst/>
            <a:gdLst/>
            <a:ahLst/>
            <a:cxnLst/>
            <a:rect l="l" t="t" r="r" b="b"/>
            <a:pathLst>
              <a:path w="233679" h="50800" extrusionOk="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 extrusionOk="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 extrusionOk="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 extrusionOk="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92944" y="190259"/>
            <a:ext cx="696522" cy="139988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5"/>
          <p:cNvSpPr/>
          <p:nvPr/>
        </p:nvSpPr>
        <p:spPr>
          <a:xfrm>
            <a:off x="-3" y="1316294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5"/>
          <p:cNvSpPr txBox="1">
            <a:spLocks noGrp="1"/>
          </p:cNvSpPr>
          <p:nvPr>
            <p:ph type="title"/>
          </p:nvPr>
        </p:nvSpPr>
        <p:spPr>
          <a:xfrm>
            <a:off x="329465" y="-8955"/>
            <a:ext cx="4723057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1" i="0">
                <a:solidFill>
                  <a:srgbClr val="2E54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sldNum" idx="12"/>
          </p:nvPr>
        </p:nvSpPr>
        <p:spPr>
          <a:xfrm>
            <a:off x="658368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/>
          <p:nvPr/>
        </p:nvSpPr>
        <p:spPr>
          <a:xfrm>
            <a:off x="6694295" y="6668577"/>
            <a:ext cx="68479" cy="64420"/>
          </a:xfrm>
          <a:custGeom>
            <a:avLst/>
            <a:gdLst/>
            <a:ahLst/>
            <a:cxnLst/>
            <a:rect l="l" t="t" r="r" b="b"/>
            <a:pathLst>
              <a:path w="43179" h="30480" extrusionOk="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6568030" y="6660204"/>
            <a:ext cx="40282" cy="80524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6"/>
          <p:cNvSpPr/>
          <p:nvPr/>
        </p:nvSpPr>
        <p:spPr>
          <a:xfrm>
            <a:off x="6850007" y="6660204"/>
            <a:ext cx="40282" cy="80524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6"/>
          <p:cNvSpPr/>
          <p:nvPr/>
        </p:nvSpPr>
        <p:spPr>
          <a:xfrm>
            <a:off x="7097938" y="6646783"/>
            <a:ext cx="101712" cy="107366"/>
          </a:xfrm>
          <a:custGeom>
            <a:avLst/>
            <a:gdLst/>
            <a:ahLst/>
            <a:cxnLst/>
            <a:rect l="l" t="t" r="r" b="b"/>
            <a:pathLst>
              <a:path w="64135" h="50800" extrusionOk="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 extrusionOk="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 extrusionOk="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6"/>
          <p:cNvSpPr/>
          <p:nvPr/>
        </p:nvSpPr>
        <p:spPr>
          <a:xfrm>
            <a:off x="6997757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6"/>
          <p:cNvSpPr/>
          <p:nvPr/>
        </p:nvSpPr>
        <p:spPr>
          <a:xfrm>
            <a:off x="7568473" y="6673624"/>
            <a:ext cx="60423" cy="0"/>
          </a:xfrm>
          <a:custGeom>
            <a:avLst/>
            <a:gdLst/>
            <a:ahLst/>
            <a:cxnLst/>
            <a:rect l="l" t="t" r="r" b="b"/>
            <a:pathLst>
              <a:path w="38100" h="120000" extrusionOk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7427485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7548332" y="6646781"/>
            <a:ext cx="80564" cy="107366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F3D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7978060" y="6646781"/>
            <a:ext cx="80564" cy="53683"/>
          </a:xfrm>
          <a:custGeom>
            <a:avLst/>
            <a:gdLst/>
            <a:ahLst/>
            <a:cxnLst/>
            <a:rect l="l" t="t" r="r" b="b"/>
            <a:pathLst>
              <a:path w="50800" h="25400" extrusionOk="0">
                <a:moveTo>
                  <a:pt x="0" y="0"/>
                </a:moveTo>
                <a:lnTo>
                  <a:pt x="38100" y="0"/>
                </a:lnTo>
              </a:path>
              <a:path w="50800" h="25400" extrusionOk="0">
                <a:moveTo>
                  <a:pt x="12700" y="12700"/>
                </a:moveTo>
                <a:lnTo>
                  <a:pt x="50800" y="12700"/>
                </a:lnTo>
              </a:path>
              <a:path w="50800" h="25400" extrusionOk="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6"/>
          <p:cNvSpPr/>
          <p:nvPr/>
        </p:nvSpPr>
        <p:spPr>
          <a:xfrm>
            <a:off x="7857212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6"/>
          <p:cNvSpPr/>
          <p:nvPr/>
        </p:nvSpPr>
        <p:spPr>
          <a:xfrm>
            <a:off x="7978060" y="6727308"/>
            <a:ext cx="80564" cy="26841"/>
          </a:xfrm>
          <a:custGeom>
            <a:avLst/>
            <a:gdLst/>
            <a:ahLst/>
            <a:cxnLst/>
            <a:rect l="l" t="t" r="r" b="b"/>
            <a:pathLst>
              <a:path w="50800" h="12700" extrusionOk="0">
                <a:moveTo>
                  <a:pt x="0" y="0"/>
                </a:moveTo>
                <a:lnTo>
                  <a:pt x="38100" y="0"/>
                </a:lnTo>
              </a:path>
              <a:path w="50800" h="12700" extrusionOk="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w="9525" cap="flat" cmpd="sng">
            <a:solidFill>
              <a:srgbClr val="F3D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6"/>
          <p:cNvSpPr/>
          <p:nvPr/>
        </p:nvSpPr>
        <p:spPr>
          <a:xfrm>
            <a:off x="8407787" y="6646783"/>
            <a:ext cx="80564" cy="107366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12700"/>
                </a:moveTo>
                <a:lnTo>
                  <a:pt x="50800" y="1270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/>
          <p:nvPr/>
        </p:nvSpPr>
        <p:spPr>
          <a:xfrm>
            <a:off x="8885854" y="6711203"/>
            <a:ext cx="32226" cy="42946"/>
          </a:xfrm>
          <a:custGeom>
            <a:avLst/>
            <a:gdLst/>
            <a:ahLst/>
            <a:cxnLst/>
            <a:rect l="l" t="t" r="r" b="b"/>
            <a:pathLst>
              <a:path w="20320" h="20319" extrusionOk="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6"/>
          <p:cNvSpPr/>
          <p:nvPr/>
        </p:nvSpPr>
        <p:spPr>
          <a:xfrm>
            <a:off x="8842934" y="6655205"/>
            <a:ext cx="48338" cy="64420"/>
          </a:xfrm>
          <a:custGeom>
            <a:avLst/>
            <a:gdLst/>
            <a:ahLst/>
            <a:cxnLst/>
            <a:rect l="l" t="t" r="r" b="b"/>
            <a:pathLst>
              <a:path w="30479" h="30480" extrusionOk="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6"/>
          <p:cNvSpPr/>
          <p:nvPr/>
        </p:nvSpPr>
        <p:spPr>
          <a:xfrm>
            <a:off x="8692501" y="6646783"/>
            <a:ext cx="370592" cy="107366"/>
          </a:xfrm>
          <a:custGeom>
            <a:avLst/>
            <a:gdLst/>
            <a:ahLst/>
            <a:cxnLst/>
            <a:rect l="l" t="t" r="r" b="b"/>
            <a:pathLst>
              <a:path w="233679" h="50800" extrusionOk="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 extrusionOk="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 extrusionOk="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 extrusionOk="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92944" y="190259"/>
            <a:ext cx="696522" cy="139988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6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sldNum" idx="12"/>
          </p:nvPr>
        </p:nvSpPr>
        <p:spPr>
          <a:xfrm>
            <a:off x="658368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beb796442_0_6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6" name="Google Shape;126;g36beb796442_0_6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7" name="Google Shape;127;g36beb796442_0_6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 txBox="1">
            <a:spLocks noGrp="1"/>
          </p:cNvSpPr>
          <p:nvPr>
            <p:ph type="title"/>
          </p:nvPr>
        </p:nvSpPr>
        <p:spPr>
          <a:xfrm>
            <a:off x="329465" y="75866"/>
            <a:ext cx="6156086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1" i="0">
                <a:solidFill>
                  <a:srgbClr val="2E54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body" idx="1"/>
          </p:nvPr>
        </p:nvSpPr>
        <p:spPr>
          <a:xfrm>
            <a:off x="159295" y="3283321"/>
            <a:ext cx="3911376" cy="219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27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9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9"/>
          <p:cNvSpPr txBox="1">
            <a:spLocks noGrp="1"/>
          </p:cNvSpPr>
          <p:nvPr>
            <p:ph type="sldNum" idx="12"/>
          </p:nvPr>
        </p:nvSpPr>
        <p:spPr>
          <a:xfrm>
            <a:off x="658368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5" name="Google Shape;15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5684" y="180911"/>
            <a:ext cx="1122859" cy="1496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>
            <a:spLocks noGrp="1"/>
          </p:cNvSpPr>
          <p:nvPr>
            <p:ph type="title"/>
          </p:nvPr>
        </p:nvSpPr>
        <p:spPr>
          <a:xfrm>
            <a:off x="329465" y="75866"/>
            <a:ext cx="6156086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1" i="0">
                <a:solidFill>
                  <a:srgbClr val="2E54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2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sldNum" idx="12"/>
          </p:nvPr>
        </p:nvSpPr>
        <p:spPr>
          <a:xfrm>
            <a:off x="658368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4" name="Google Shape;194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79450" y="170233"/>
            <a:ext cx="1035086" cy="1379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3"/>
          <p:cNvSpPr txBox="1">
            <a:spLocks noGrp="1"/>
          </p:cNvSpPr>
          <p:nvPr>
            <p:ph type="sldNum" idx="12"/>
          </p:nvPr>
        </p:nvSpPr>
        <p:spPr>
          <a:xfrm>
            <a:off x="658368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9" name="Google Shape;199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79450" y="170233"/>
            <a:ext cx="1035086" cy="1379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6694295" y="6668577"/>
            <a:ext cx="68479" cy="64420"/>
          </a:xfrm>
          <a:custGeom>
            <a:avLst/>
            <a:gdLst/>
            <a:ahLst/>
            <a:cxnLst/>
            <a:rect l="l" t="t" r="r" b="b"/>
            <a:pathLst>
              <a:path w="43179" h="30480" extrusionOk="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5"/>
          <p:cNvSpPr/>
          <p:nvPr/>
        </p:nvSpPr>
        <p:spPr>
          <a:xfrm>
            <a:off x="6568030" y="6660204"/>
            <a:ext cx="40282" cy="80524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5"/>
          <p:cNvSpPr/>
          <p:nvPr/>
        </p:nvSpPr>
        <p:spPr>
          <a:xfrm>
            <a:off x="6850007" y="6660204"/>
            <a:ext cx="40282" cy="80524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5"/>
          <p:cNvSpPr/>
          <p:nvPr/>
        </p:nvSpPr>
        <p:spPr>
          <a:xfrm>
            <a:off x="7097938" y="6646783"/>
            <a:ext cx="101712" cy="107366"/>
          </a:xfrm>
          <a:custGeom>
            <a:avLst/>
            <a:gdLst/>
            <a:ahLst/>
            <a:cxnLst/>
            <a:rect l="l" t="t" r="r" b="b"/>
            <a:pathLst>
              <a:path w="64135" h="50800" extrusionOk="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 extrusionOk="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 extrusionOk="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5"/>
          <p:cNvSpPr/>
          <p:nvPr/>
        </p:nvSpPr>
        <p:spPr>
          <a:xfrm>
            <a:off x="6997757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5"/>
          <p:cNvSpPr/>
          <p:nvPr/>
        </p:nvSpPr>
        <p:spPr>
          <a:xfrm>
            <a:off x="7568473" y="6673624"/>
            <a:ext cx="60423" cy="0"/>
          </a:xfrm>
          <a:custGeom>
            <a:avLst/>
            <a:gdLst/>
            <a:ahLst/>
            <a:cxnLst/>
            <a:rect l="l" t="t" r="r" b="b"/>
            <a:pathLst>
              <a:path w="38100" h="120000" extrusionOk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5"/>
          <p:cNvSpPr/>
          <p:nvPr/>
        </p:nvSpPr>
        <p:spPr>
          <a:xfrm>
            <a:off x="7427485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5"/>
          <p:cNvSpPr/>
          <p:nvPr/>
        </p:nvSpPr>
        <p:spPr>
          <a:xfrm>
            <a:off x="7548332" y="6646781"/>
            <a:ext cx="80564" cy="107366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F3D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5"/>
          <p:cNvSpPr/>
          <p:nvPr/>
        </p:nvSpPr>
        <p:spPr>
          <a:xfrm>
            <a:off x="7978060" y="6646781"/>
            <a:ext cx="80564" cy="53683"/>
          </a:xfrm>
          <a:custGeom>
            <a:avLst/>
            <a:gdLst/>
            <a:ahLst/>
            <a:cxnLst/>
            <a:rect l="l" t="t" r="r" b="b"/>
            <a:pathLst>
              <a:path w="50800" h="25400" extrusionOk="0">
                <a:moveTo>
                  <a:pt x="0" y="0"/>
                </a:moveTo>
                <a:lnTo>
                  <a:pt x="38100" y="0"/>
                </a:lnTo>
              </a:path>
              <a:path w="50800" h="25400" extrusionOk="0">
                <a:moveTo>
                  <a:pt x="12700" y="12700"/>
                </a:moveTo>
                <a:lnTo>
                  <a:pt x="50800" y="12700"/>
                </a:lnTo>
              </a:path>
              <a:path w="50800" h="25400" extrusionOk="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5"/>
          <p:cNvSpPr/>
          <p:nvPr/>
        </p:nvSpPr>
        <p:spPr>
          <a:xfrm>
            <a:off x="7857212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5"/>
          <p:cNvSpPr/>
          <p:nvPr/>
        </p:nvSpPr>
        <p:spPr>
          <a:xfrm>
            <a:off x="7978060" y="6727308"/>
            <a:ext cx="80564" cy="26841"/>
          </a:xfrm>
          <a:custGeom>
            <a:avLst/>
            <a:gdLst/>
            <a:ahLst/>
            <a:cxnLst/>
            <a:rect l="l" t="t" r="r" b="b"/>
            <a:pathLst>
              <a:path w="50800" h="12700" extrusionOk="0">
                <a:moveTo>
                  <a:pt x="0" y="0"/>
                </a:moveTo>
                <a:lnTo>
                  <a:pt x="38100" y="0"/>
                </a:lnTo>
              </a:path>
              <a:path w="50800" h="12700" extrusionOk="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w="9525" cap="flat" cmpd="sng">
            <a:solidFill>
              <a:srgbClr val="F3D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5"/>
          <p:cNvSpPr/>
          <p:nvPr/>
        </p:nvSpPr>
        <p:spPr>
          <a:xfrm>
            <a:off x="8407787" y="6646783"/>
            <a:ext cx="80564" cy="107366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12700"/>
                </a:moveTo>
                <a:lnTo>
                  <a:pt x="50800" y="1270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5"/>
          <p:cNvSpPr/>
          <p:nvPr/>
        </p:nvSpPr>
        <p:spPr>
          <a:xfrm>
            <a:off x="8885854" y="6711203"/>
            <a:ext cx="32226" cy="42946"/>
          </a:xfrm>
          <a:custGeom>
            <a:avLst/>
            <a:gdLst/>
            <a:ahLst/>
            <a:cxnLst/>
            <a:rect l="l" t="t" r="r" b="b"/>
            <a:pathLst>
              <a:path w="20320" h="20319" extrusionOk="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5"/>
          <p:cNvSpPr/>
          <p:nvPr/>
        </p:nvSpPr>
        <p:spPr>
          <a:xfrm>
            <a:off x="8842934" y="6655205"/>
            <a:ext cx="48338" cy="64420"/>
          </a:xfrm>
          <a:custGeom>
            <a:avLst/>
            <a:gdLst/>
            <a:ahLst/>
            <a:cxnLst/>
            <a:rect l="l" t="t" r="r" b="b"/>
            <a:pathLst>
              <a:path w="30479" h="30480" extrusionOk="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5"/>
          <p:cNvSpPr/>
          <p:nvPr/>
        </p:nvSpPr>
        <p:spPr>
          <a:xfrm>
            <a:off x="8692501" y="6646783"/>
            <a:ext cx="370592" cy="107366"/>
          </a:xfrm>
          <a:custGeom>
            <a:avLst/>
            <a:gdLst/>
            <a:ahLst/>
            <a:cxnLst/>
            <a:rect l="l" t="t" r="r" b="b"/>
            <a:pathLst>
              <a:path w="233679" h="50800" extrusionOk="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 extrusionOk="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 extrusionOk="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 extrusionOk="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5"/>
          <p:cNvSpPr txBox="1">
            <a:spLocks noGrp="1"/>
          </p:cNvSpPr>
          <p:nvPr>
            <p:ph type="title"/>
          </p:nvPr>
        </p:nvSpPr>
        <p:spPr>
          <a:xfrm>
            <a:off x="329465" y="-8955"/>
            <a:ext cx="472305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1" i="0" u="none" strike="noStrike" cap="none">
                <a:solidFill>
                  <a:srgbClr val="2E54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body" idx="1"/>
          </p:nvPr>
        </p:nvSpPr>
        <p:spPr>
          <a:xfrm>
            <a:off x="139154" y="1153725"/>
            <a:ext cx="4490429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rgbClr val="2E54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658368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/>
          <p:nvPr/>
        </p:nvSpPr>
        <p:spPr>
          <a:xfrm>
            <a:off x="6694295" y="6668577"/>
            <a:ext cx="68479" cy="64420"/>
          </a:xfrm>
          <a:custGeom>
            <a:avLst/>
            <a:gdLst/>
            <a:ahLst/>
            <a:cxnLst/>
            <a:rect l="l" t="t" r="r" b="b"/>
            <a:pathLst>
              <a:path w="43179" h="30480" extrusionOk="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6568030" y="6660204"/>
            <a:ext cx="40282" cy="80524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6850007" y="6660204"/>
            <a:ext cx="40282" cy="80524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7097938" y="6646783"/>
            <a:ext cx="101712" cy="107366"/>
          </a:xfrm>
          <a:custGeom>
            <a:avLst/>
            <a:gdLst/>
            <a:ahLst/>
            <a:cxnLst/>
            <a:rect l="l" t="t" r="r" b="b"/>
            <a:pathLst>
              <a:path w="64135" h="50800" extrusionOk="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 extrusionOk="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 extrusionOk="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6997757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7568473" y="6673624"/>
            <a:ext cx="60423" cy="0"/>
          </a:xfrm>
          <a:custGeom>
            <a:avLst/>
            <a:gdLst/>
            <a:ahLst/>
            <a:cxnLst/>
            <a:rect l="l" t="t" r="r" b="b"/>
            <a:pathLst>
              <a:path w="38100" h="120000" extrusionOk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7427485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7548332" y="6646781"/>
            <a:ext cx="80564" cy="107366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F3D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7978060" y="6646781"/>
            <a:ext cx="80564" cy="53683"/>
          </a:xfrm>
          <a:custGeom>
            <a:avLst/>
            <a:gdLst/>
            <a:ahLst/>
            <a:cxnLst/>
            <a:rect l="l" t="t" r="r" b="b"/>
            <a:pathLst>
              <a:path w="50800" h="25400" extrusionOk="0">
                <a:moveTo>
                  <a:pt x="0" y="0"/>
                </a:moveTo>
                <a:lnTo>
                  <a:pt x="38100" y="0"/>
                </a:lnTo>
              </a:path>
              <a:path w="50800" h="25400" extrusionOk="0">
                <a:moveTo>
                  <a:pt x="12700" y="12700"/>
                </a:moveTo>
                <a:lnTo>
                  <a:pt x="50800" y="12700"/>
                </a:lnTo>
              </a:path>
              <a:path w="50800" h="25400" extrusionOk="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7857212" y="6660204"/>
            <a:ext cx="322256" cy="80524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7978060" y="6727308"/>
            <a:ext cx="80564" cy="26841"/>
          </a:xfrm>
          <a:custGeom>
            <a:avLst/>
            <a:gdLst/>
            <a:ahLst/>
            <a:cxnLst/>
            <a:rect l="l" t="t" r="r" b="b"/>
            <a:pathLst>
              <a:path w="50800" h="12700" extrusionOk="0">
                <a:moveTo>
                  <a:pt x="0" y="0"/>
                </a:moveTo>
                <a:lnTo>
                  <a:pt x="38100" y="0"/>
                </a:lnTo>
              </a:path>
              <a:path w="50800" h="12700" extrusionOk="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w="9525" cap="flat" cmpd="sng">
            <a:solidFill>
              <a:srgbClr val="F3D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8407787" y="6646783"/>
            <a:ext cx="80564" cy="107366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12700"/>
                </a:moveTo>
                <a:lnTo>
                  <a:pt x="50800" y="1270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8885854" y="6711203"/>
            <a:ext cx="32226" cy="42946"/>
          </a:xfrm>
          <a:custGeom>
            <a:avLst/>
            <a:gdLst/>
            <a:ahLst/>
            <a:cxnLst/>
            <a:rect l="l" t="t" r="r" b="b"/>
            <a:pathLst>
              <a:path w="20320" h="20319" extrusionOk="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8842934" y="6655205"/>
            <a:ext cx="48338" cy="64420"/>
          </a:xfrm>
          <a:custGeom>
            <a:avLst/>
            <a:gdLst/>
            <a:ahLst/>
            <a:cxnLst/>
            <a:rect l="l" t="t" r="r" b="b"/>
            <a:pathLst>
              <a:path w="30479" h="30480" extrusionOk="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8692501" y="6646783"/>
            <a:ext cx="370592" cy="107366"/>
          </a:xfrm>
          <a:custGeom>
            <a:avLst/>
            <a:gdLst/>
            <a:ahLst/>
            <a:cxnLst/>
            <a:rect l="l" t="t" r="r" b="b"/>
            <a:pathLst>
              <a:path w="233679" h="50800" extrusionOk="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 extrusionOk="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 extrusionOk="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 extrusionOk="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 txBox="1">
            <a:spLocks noGrp="1"/>
          </p:cNvSpPr>
          <p:nvPr>
            <p:ph type="title"/>
          </p:nvPr>
        </p:nvSpPr>
        <p:spPr>
          <a:xfrm>
            <a:off x="329465" y="75866"/>
            <a:ext cx="615608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1" i="0" u="none" strike="noStrike" cap="none">
                <a:solidFill>
                  <a:srgbClr val="2E54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body" idx="1"/>
          </p:nvPr>
        </p:nvSpPr>
        <p:spPr>
          <a:xfrm>
            <a:off x="159295" y="3283321"/>
            <a:ext cx="3911376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sldNum" idx="12"/>
          </p:nvPr>
        </p:nvSpPr>
        <p:spPr>
          <a:xfrm>
            <a:off x="6583680" y="6377939"/>
            <a:ext cx="21031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9" r:id="rId2"/>
    <p:sldLayoutId id="214748366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g36beb796442_0_0"/>
          <p:cNvGrpSpPr/>
          <p:nvPr/>
        </p:nvGrpSpPr>
        <p:grpSpPr>
          <a:xfrm>
            <a:off x="275626" y="304356"/>
            <a:ext cx="8592750" cy="6249143"/>
            <a:chOff x="246976" y="233573"/>
            <a:chExt cx="8592750" cy="4686974"/>
          </a:xfrm>
        </p:grpSpPr>
        <p:pic>
          <p:nvPicPr>
            <p:cNvPr id="205" name="Google Shape;205;g36beb796442_0_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81350" y="1424875"/>
              <a:ext cx="2760100" cy="276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g36beb796442_0_0"/>
            <p:cNvSpPr/>
            <p:nvPr/>
          </p:nvSpPr>
          <p:spPr>
            <a:xfrm>
              <a:off x="7875464" y="233573"/>
              <a:ext cx="964261" cy="891156"/>
            </a:xfrm>
            <a:custGeom>
              <a:avLst/>
              <a:gdLst/>
              <a:ahLst/>
              <a:cxnLst/>
              <a:rect l="l" t="t" r="r" b="b"/>
              <a:pathLst>
                <a:path w="504189" h="504190" extrusionOk="0">
                  <a:moveTo>
                    <a:pt x="0" y="0"/>
                  </a:moveTo>
                  <a:lnTo>
                    <a:pt x="504006" y="0"/>
                  </a:lnTo>
                  <a:lnTo>
                    <a:pt x="504006" y="504006"/>
                  </a:lnTo>
                </a:path>
              </a:pathLst>
            </a:custGeom>
            <a:noFill/>
            <a:ln w="19800" cap="flat" cmpd="sng">
              <a:solidFill>
                <a:srgbClr val="C559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g36beb796442_0_0"/>
            <p:cNvSpPr/>
            <p:nvPr/>
          </p:nvSpPr>
          <p:spPr>
            <a:xfrm>
              <a:off x="246976" y="4029393"/>
              <a:ext cx="964263" cy="891154"/>
            </a:xfrm>
            <a:custGeom>
              <a:avLst/>
              <a:gdLst/>
              <a:ahLst/>
              <a:cxnLst/>
              <a:rect l="l" t="t" r="r" b="b"/>
              <a:pathLst>
                <a:path w="504190" h="504189" extrusionOk="0">
                  <a:moveTo>
                    <a:pt x="0" y="0"/>
                  </a:moveTo>
                  <a:lnTo>
                    <a:pt x="0" y="504006"/>
                  </a:lnTo>
                  <a:lnTo>
                    <a:pt x="504006" y="504006"/>
                  </a:lnTo>
                </a:path>
              </a:pathLst>
            </a:custGeom>
            <a:noFill/>
            <a:ln w="19800" cap="flat" cmpd="sng">
              <a:solidFill>
                <a:srgbClr val="C559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g36beb796442_0_0"/>
            <p:cNvSpPr txBox="1"/>
            <p:nvPr/>
          </p:nvSpPr>
          <p:spPr>
            <a:xfrm>
              <a:off x="3241450" y="1424875"/>
              <a:ext cx="5061000" cy="78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12700" marR="5080" lvl="0" indent="0" algn="l" rtl="0">
                <a:lnSpc>
                  <a:spcPct val="11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>
                  <a:solidFill>
                    <a:srgbClr val="C5591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DIGITAL DESIGN AND  COMPUTER ORGANIZATION</a:t>
              </a:r>
              <a:endParaRPr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9" name="Google Shape;209;g36beb796442_0_0"/>
            <p:cNvSpPr txBox="1"/>
            <p:nvPr/>
          </p:nvSpPr>
          <p:spPr>
            <a:xfrm>
              <a:off x="3241450" y="2477875"/>
              <a:ext cx="5384700" cy="121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26841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93" b="1">
                  <a:solidFill>
                    <a:srgbClr val="2E549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Multiplexers</a:t>
              </a:r>
              <a:endParaRPr sz="259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11"/>
                </a:spcBef>
                <a:spcAft>
                  <a:spcPts val="0"/>
                </a:spcAft>
                <a:buNone/>
              </a:pPr>
              <a:endParaRPr sz="195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26841" marR="10736" lvl="0" indent="0" algn="l" rtl="0">
                <a:lnSpc>
                  <a:spcPct val="115851"/>
                </a:lnSpc>
                <a:spcBef>
                  <a:spcPts val="1268"/>
                </a:spcBef>
                <a:spcAft>
                  <a:spcPts val="0"/>
                </a:spcAft>
                <a:buNone/>
              </a:pPr>
              <a:r>
                <a:rPr lang="en-US" sz="1736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Team DDCO</a:t>
              </a:r>
              <a:br>
                <a:rPr lang="en-US" sz="600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-US" sz="1736" b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Computer Science and Engineering</a:t>
              </a:r>
              <a:endParaRPr sz="1736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0" name="Google Shape;210;g36beb796442_0_0"/>
            <p:cNvSpPr/>
            <p:nvPr/>
          </p:nvSpPr>
          <p:spPr>
            <a:xfrm>
              <a:off x="3374349" y="3223554"/>
              <a:ext cx="4563570" cy="0"/>
            </a:xfrm>
            <a:custGeom>
              <a:avLst/>
              <a:gdLst/>
              <a:ahLst/>
              <a:cxnLst/>
              <a:rect l="l" t="t" r="r" b="b"/>
              <a:pathLst>
                <a:path w="2160270" h="120000" extrusionOk="0">
                  <a:moveTo>
                    <a:pt x="0" y="0"/>
                  </a:moveTo>
                  <a:lnTo>
                    <a:pt x="2160027" y="0"/>
                  </a:lnTo>
                </a:path>
              </a:pathLst>
            </a:custGeom>
            <a:noFill/>
            <a:ln w="19800" cap="flat" cmpd="sng">
              <a:solidFill>
                <a:srgbClr val="C559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80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"/>
          <p:cNvSpPr/>
          <p:nvPr/>
        </p:nvSpPr>
        <p:spPr>
          <a:xfrm>
            <a:off x="6694295" y="5859872"/>
            <a:ext cx="68479" cy="48338"/>
          </a:xfrm>
          <a:custGeom>
            <a:avLst/>
            <a:gdLst/>
            <a:ahLst/>
            <a:cxnLst/>
            <a:rect l="l" t="t" r="r" b="b"/>
            <a:pathLst>
              <a:path w="43179" h="30480" extrusionOk="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5"/>
              <a:buFont typeface="Calibri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"/>
          <p:cNvSpPr/>
          <p:nvPr/>
        </p:nvSpPr>
        <p:spPr>
          <a:xfrm>
            <a:off x="6568030" y="5853589"/>
            <a:ext cx="40282" cy="60423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5"/>
              <a:buFont typeface="Calibri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"/>
          <p:cNvSpPr/>
          <p:nvPr/>
        </p:nvSpPr>
        <p:spPr>
          <a:xfrm>
            <a:off x="6850007" y="5853589"/>
            <a:ext cx="40282" cy="60423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DE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5"/>
              <a:buFont typeface="Calibri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2"/>
          <p:cNvGrpSpPr/>
          <p:nvPr/>
        </p:nvGrpSpPr>
        <p:grpSpPr>
          <a:xfrm>
            <a:off x="6997757" y="5843519"/>
            <a:ext cx="322256" cy="80564"/>
            <a:chOff x="4412475" y="3144913"/>
            <a:chExt cx="203200" cy="50800"/>
          </a:xfrm>
        </p:grpSpPr>
        <p:sp>
          <p:nvSpPr>
            <p:cNvPr id="219" name="Google Shape;219;p2"/>
            <p:cNvSpPr/>
            <p:nvPr/>
          </p:nvSpPr>
          <p:spPr>
            <a:xfrm>
              <a:off x="4475644" y="3144913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 extrusionOk="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 extrusionOk="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 extrusionOk="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noFill/>
            <a:ln w="9525" cap="flat" cmpd="sng">
              <a:solidFill>
                <a:srgbClr val="E7BD9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55"/>
                <a:buFont typeface="Calibri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4412475" y="315126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 extrusionOk="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 extrusionOk="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F3DEC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55"/>
                <a:buFont typeface="Calibri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2"/>
          <p:cNvGrpSpPr/>
          <p:nvPr/>
        </p:nvGrpSpPr>
        <p:grpSpPr>
          <a:xfrm>
            <a:off x="7427485" y="5843518"/>
            <a:ext cx="322256" cy="80564"/>
            <a:chOff x="4683442" y="3144912"/>
            <a:chExt cx="203200" cy="50800"/>
          </a:xfrm>
        </p:grpSpPr>
        <p:sp>
          <p:nvSpPr>
            <p:cNvPr id="222" name="Google Shape;222;p2"/>
            <p:cNvSpPr/>
            <p:nvPr/>
          </p:nvSpPr>
          <p:spPr>
            <a:xfrm>
              <a:off x="4772343" y="315761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120000" extrusionOk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9525" cap="flat" cmpd="sng">
              <a:solidFill>
                <a:srgbClr val="E7BD9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55"/>
                <a:buFont typeface="Calibri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4683442" y="315126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 extrusionOk="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 extrusionOk="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F3DEC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55"/>
                <a:buFont typeface="Calibri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4759643" y="314491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0" y="0"/>
                  </a:moveTo>
                  <a:lnTo>
                    <a:pt x="38100" y="0"/>
                  </a:lnTo>
                </a:path>
                <a:path w="50800" h="50800" extrusionOk="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 extrusionOk="0">
                  <a:moveTo>
                    <a:pt x="0" y="38100"/>
                  </a:moveTo>
                  <a:lnTo>
                    <a:pt x="38100" y="38100"/>
                  </a:lnTo>
                </a:path>
                <a:path w="50800" h="50800" extrusionOk="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noFill/>
            <a:ln w="9525" cap="flat" cmpd="sng">
              <a:solidFill>
                <a:srgbClr val="F3DE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55"/>
                <a:buFont typeface="Calibri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2"/>
          <p:cNvGrpSpPr/>
          <p:nvPr/>
        </p:nvGrpSpPr>
        <p:grpSpPr>
          <a:xfrm>
            <a:off x="7857212" y="5843518"/>
            <a:ext cx="322256" cy="80566"/>
            <a:chOff x="4954409" y="3144912"/>
            <a:chExt cx="203200" cy="50801"/>
          </a:xfrm>
        </p:grpSpPr>
        <p:sp>
          <p:nvSpPr>
            <p:cNvPr id="226" name="Google Shape;226;p2"/>
            <p:cNvSpPr/>
            <p:nvPr/>
          </p:nvSpPr>
          <p:spPr>
            <a:xfrm>
              <a:off x="5030610" y="314491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 extrusionOk="0">
                  <a:moveTo>
                    <a:pt x="0" y="0"/>
                  </a:moveTo>
                  <a:lnTo>
                    <a:pt x="38100" y="0"/>
                  </a:lnTo>
                </a:path>
                <a:path w="50800" h="25400" extrusionOk="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 extrusionOk="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noFill/>
            <a:ln w="9525" cap="flat" cmpd="sng">
              <a:solidFill>
                <a:srgbClr val="E7BD9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55"/>
                <a:buFont typeface="Calibri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4954409" y="315126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 extrusionOk="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 extrusionOk="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F3DEC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55"/>
                <a:buFont typeface="Calibri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5030610" y="318301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 extrusionOk="0">
                  <a:moveTo>
                    <a:pt x="0" y="0"/>
                  </a:moveTo>
                  <a:lnTo>
                    <a:pt x="38100" y="0"/>
                  </a:lnTo>
                </a:path>
                <a:path w="50800" h="12700" extrusionOk="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noFill/>
            <a:ln w="9525" cap="flat" cmpd="sng">
              <a:solidFill>
                <a:srgbClr val="F3DEC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55"/>
                <a:buFont typeface="Calibri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2"/>
          <p:cNvSpPr/>
          <p:nvPr/>
        </p:nvSpPr>
        <p:spPr>
          <a:xfrm>
            <a:off x="8407787" y="5843518"/>
            <a:ext cx="80564" cy="80564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12700"/>
                </a:moveTo>
                <a:lnTo>
                  <a:pt x="50800" y="1270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E7BD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5"/>
              <a:buFont typeface="Calibri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0" name="Google Shape;230;p2"/>
          <p:cNvGrpSpPr/>
          <p:nvPr/>
        </p:nvGrpSpPr>
        <p:grpSpPr>
          <a:xfrm>
            <a:off x="8692500" y="5843519"/>
            <a:ext cx="370592" cy="80564"/>
            <a:chOff x="5481104" y="3144913"/>
            <a:chExt cx="233679" cy="50800"/>
          </a:xfrm>
        </p:grpSpPr>
        <p:sp>
          <p:nvSpPr>
            <p:cNvPr id="231" name="Google Shape;231;p2"/>
            <p:cNvSpPr/>
            <p:nvPr/>
          </p:nvSpPr>
          <p:spPr>
            <a:xfrm>
              <a:off x="5603025" y="317539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noFill/>
            <a:ln w="9525" cap="flat" cmpd="sng">
              <a:solidFill>
                <a:srgbClr val="E7BD9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55"/>
                <a:buFont typeface="Calibri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5575961" y="314889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 extrusionOk="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noFill/>
            <a:ln w="9525" cap="flat" cmpd="sng">
              <a:solidFill>
                <a:srgbClr val="E7BD9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55"/>
                <a:buFont typeface="Calibri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5481104" y="3144913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 extrusionOk="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 extrusionOk="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 extrusionOk="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 extrusionOk="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noFill/>
            <a:ln w="9525" cap="flat" cmpd="sng">
              <a:solidFill>
                <a:srgbClr val="E7BD9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55"/>
                <a:buFont typeface="Calibri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"/>
          <p:cNvSpPr/>
          <p:nvPr/>
        </p:nvSpPr>
        <p:spPr>
          <a:xfrm>
            <a:off x="285461" y="4909574"/>
            <a:ext cx="799596" cy="799596"/>
          </a:xfrm>
          <a:custGeom>
            <a:avLst/>
            <a:gdLst/>
            <a:ahLst/>
            <a:cxnLst/>
            <a:rect l="l" t="t" r="r" b="b"/>
            <a:pathLst>
              <a:path w="504190" h="504189" extrusionOk="0">
                <a:moveTo>
                  <a:pt x="0" y="0"/>
                </a:moveTo>
                <a:lnTo>
                  <a:pt x="0" y="504006"/>
                </a:lnTo>
                <a:lnTo>
                  <a:pt x="504006" y="504006"/>
                </a:lnTo>
              </a:path>
            </a:pathLst>
          </a:custGeom>
          <a:noFill/>
          <a:ln w="19800" cap="flat" cmpd="sng">
            <a:solidFill>
              <a:srgbClr val="DFA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5"/>
              <a:buFont typeface="Calibri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"/>
          <p:cNvSpPr/>
          <p:nvPr/>
        </p:nvSpPr>
        <p:spPr>
          <a:xfrm>
            <a:off x="196672" y="3177399"/>
            <a:ext cx="5935183" cy="0"/>
          </a:xfrm>
          <a:custGeom>
            <a:avLst/>
            <a:gdLst/>
            <a:ahLst/>
            <a:cxnLst/>
            <a:rect l="l" t="t" r="r" b="b"/>
            <a:pathLst>
              <a:path w="3744595" h="120000" extrusionOk="0">
                <a:moveTo>
                  <a:pt x="0" y="0"/>
                </a:moveTo>
                <a:lnTo>
                  <a:pt x="3744048" y="0"/>
                </a:lnTo>
              </a:path>
            </a:pathLst>
          </a:custGeom>
          <a:noFill/>
          <a:ln w="19800" cap="flat" cmpd="sng">
            <a:solidFill>
              <a:srgbClr val="DFA1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55"/>
              <a:buFont typeface="Calibri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"/>
          <p:cNvSpPr txBox="1">
            <a:spLocks noGrp="1"/>
          </p:cNvSpPr>
          <p:nvPr>
            <p:ph type="title"/>
          </p:nvPr>
        </p:nvSpPr>
        <p:spPr>
          <a:xfrm>
            <a:off x="614924" y="1681137"/>
            <a:ext cx="3682776" cy="861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275" rIns="0" bIns="0" anchor="t" anchorCtr="0">
            <a:spAutoFit/>
          </a:bodyPr>
          <a:lstStyle/>
          <a:p>
            <a:pPr marL="20141" marR="8056" lvl="0" indent="0" algn="l" rtl="0">
              <a:lnSpc>
                <a:spcPct val="121307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</a:rPr>
              <a:t>DIGITAL DESIGN AND  COMPUTER ORGANIZATION</a:t>
            </a:r>
            <a:endParaRPr/>
          </a:p>
        </p:txBody>
      </p:sp>
      <p:sp>
        <p:nvSpPr>
          <p:cNvPr id="237" name="Google Shape;237;p2"/>
          <p:cNvSpPr txBox="1"/>
          <p:nvPr/>
        </p:nvSpPr>
        <p:spPr>
          <a:xfrm>
            <a:off x="494047" y="3987357"/>
            <a:ext cx="73632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497"/>
              </a:buClr>
              <a:buSzPts val="2855"/>
              <a:buFont typeface="Calibri"/>
              <a:buNone/>
            </a:pPr>
            <a:r>
              <a:rPr lang="en-US" sz="2855" b="1" i="0" u="none" strike="noStrike" cap="none">
                <a:solidFill>
                  <a:srgbClr val="2E5497"/>
                </a:solidFill>
                <a:latin typeface="Calibri"/>
                <a:ea typeface="Calibri"/>
                <a:cs typeface="Calibri"/>
                <a:sym typeface="Calibri"/>
              </a:rPr>
              <a:t>Multiplexers</a:t>
            </a:r>
            <a:endParaRPr sz="2696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"/>
          <p:cNvSpPr txBox="1"/>
          <p:nvPr/>
        </p:nvSpPr>
        <p:spPr>
          <a:xfrm>
            <a:off x="581487" y="4477316"/>
            <a:ext cx="4715588" cy="75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6075" rIns="0" bIns="0" anchor="t" anchorCtr="0">
            <a:spAutoFit/>
          </a:bodyPr>
          <a:lstStyle/>
          <a:p>
            <a:pPr marL="20141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3"/>
              <a:buFont typeface="Calibri"/>
              <a:buNone/>
            </a:pPr>
            <a:endParaRPr sz="190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141" marR="8056" lvl="0" indent="0" algn="l" rtl="0">
              <a:lnSpc>
                <a:spcPct val="110700"/>
              </a:lnSpc>
              <a:spcBef>
                <a:spcPts val="619"/>
              </a:spcBef>
              <a:spcAft>
                <a:spcPts val="0"/>
              </a:spcAft>
              <a:buClr>
                <a:srgbClr val="000000"/>
              </a:buClr>
              <a:buSzPts val="1427"/>
              <a:buFont typeface="Calibri"/>
              <a:buNone/>
            </a:pPr>
            <a:r>
              <a:rPr lang="en-US" sz="1427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 Engineering</a:t>
            </a:r>
            <a:endParaRPr sz="1427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90194" y="1010329"/>
            <a:ext cx="1578549" cy="157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bdebb77e6_0_1"/>
          <p:cNvSpPr txBox="1">
            <a:spLocks noGrp="1"/>
          </p:cNvSpPr>
          <p:nvPr>
            <p:ph type="body" idx="1"/>
          </p:nvPr>
        </p:nvSpPr>
        <p:spPr>
          <a:xfrm>
            <a:off x="139154" y="1153725"/>
            <a:ext cx="4490400" cy="19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95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A multiplexer (also called a mux) </a:t>
            </a: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multiplexes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many inputs onto a single output</a:t>
            </a:r>
            <a:endParaRPr dirty="0"/>
          </a:p>
          <a:p>
            <a:pPr marL="289560" lvl="0" indent="0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SzPts val="1400"/>
              <a:buNone/>
            </a:pPr>
            <a:r>
              <a:rPr lang="en-US" sz="1800" dirty="0"/>
              <a:t>Data selector</a:t>
            </a:r>
            <a:endParaRPr sz="18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Many to one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N:1 MUX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2</a:t>
            </a:r>
            <a:r>
              <a:rPr lang="en-US" baseline="30000" dirty="0"/>
              <a:t>N </a:t>
            </a:r>
            <a:r>
              <a:rPr lang="en-US" dirty="0"/>
              <a:t>inputs n select lines  , one output</a:t>
            </a:r>
            <a:endParaRPr dirty="0"/>
          </a:p>
        </p:txBody>
      </p:sp>
      <p:pic>
        <p:nvPicPr>
          <p:cNvPr id="245" name="Google Shape;245;g36bdebb77e6_0_1" descr="Multiplexer (Mux) - Types, Cascading, Multiplexing Techniques, Applicat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1944546"/>
            <a:ext cx="3990975" cy="340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6bdebb77e6_0_1" descr="Multiplexer | Types and Block Diagra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466214"/>
            <a:ext cx="3381375" cy="262978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6bdebb77e6_0_1"/>
          <p:cNvSpPr txBox="1"/>
          <p:nvPr/>
        </p:nvSpPr>
        <p:spPr>
          <a:xfrm>
            <a:off x="5521124" y="6119367"/>
            <a:ext cx="3358901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M. Morris Mano, Michael D. Ciletti, </a:t>
            </a:r>
            <a:r>
              <a:rPr lang="en-US" sz="1200" b="0" i="1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Digital Design: With an Introduction to the Verilog HDL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5th ed., Prentice Hall, 2012, Section 4.11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6bdebb77e6_0_1"/>
          <p:cNvSpPr/>
          <p:nvPr/>
        </p:nvSpPr>
        <p:spPr>
          <a:xfrm>
            <a:off x="152400" y="1143000"/>
            <a:ext cx="621397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6bdebb77e6_0_1"/>
          <p:cNvSpPr txBox="1">
            <a:spLocks noGrp="1"/>
          </p:cNvSpPr>
          <p:nvPr>
            <p:ph type="title"/>
          </p:nvPr>
        </p:nvSpPr>
        <p:spPr>
          <a:xfrm>
            <a:off x="301050" y="167600"/>
            <a:ext cx="73152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</a:t>
            </a:r>
            <a:endParaRPr dirty="0">
              <a:solidFill>
                <a:srgbClr val="C5591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ACB4EDD9-7B45-FA4D-4EE4-F805250FE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bdebb77e6_0_1">
            <a:extLst>
              <a:ext uri="{FF2B5EF4-FFF2-40B4-BE49-F238E27FC236}">
                <a16:creationId xmlns:a16="http://schemas.microsoft.com/office/drawing/2014/main" id="{B080C467-4567-E5BF-2B79-A9C30E757D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9153" y="1153725"/>
            <a:ext cx="7870527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9560" lvl="0" indent="0" algn="just"/>
            <a:r>
              <a:rPr lang="en-US" sz="2000" dirty="0"/>
              <a:t>A multiplexer is a combinational circuit that selects binary information from one of many input lines and directs it to a single output line. The selection of a particular input line is controlled by a set of selection lines. Normally, there are 2</a:t>
            </a:r>
            <a:r>
              <a:rPr lang="en-US" sz="2000" baseline="30000" dirty="0"/>
              <a:t>n</a:t>
            </a:r>
            <a:r>
              <a:rPr lang="en-US" sz="2000" dirty="0"/>
              <a:t> input lines and n selection lines whose bit combinations determine which input is selected. </a:t>
            </a:r>
            <a:endParaRPr sz="2000" dirty="0"/>
          </a:p>
        </p:txBody>
      </p:sp>
      <p:sp>
        <p:nvSpPr>
          <p:cNvPr id="247" name="Google Shape;247;g36bdebb77e6_0_1">
            <a:extLst>
              <a:ext uri="{FF2B5EF4-FFF2-40B4-BE49-F238E27FC236}">
                <a16:creationId xmlns:a16="http://schemas.microsoft.com/office/drawing/2014/main" id="{71E52EBB-23D6-6538-C933-1383EC5B8725}"/>
              </a:ext>
            </a:extLst>
          </p:cNvPr>
          <p:cNvSpPr txBox="1"/>
          <p:nvPr/>
        </p:nvSpPr>
        <p:spPr>
          <a:xfrm>
            <a:off x="6446125" y="6265725"/>
            <a:ext cx="2433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M. Morris Mano, Michael D. Ciletti, </a:t>
            </a:r>
            <a:r>
              <a:rPr lang="en-US" sz="7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Digital Design: With an Introduction to the Verilog HDL</a:t>
            </a:r>
            <a:r>
              <a:rPr lang="en-US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5th ed., Prentice Hall, 2012, Section 4.11</a:t>
            </a:r>
            <a:endParaRPr sz="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6bdebb77e6_0_1">
            <a:extLst>
              <a:ext uri="{FF2B5EF4-FFF2-40B4-BE49-F238E27FC236}">
                <a16:creationId xmlns:a16="http://schemas.microsoft.com/office/drawing/2014/main" id="{7CCB8804-8643-B5D1-7388-0F6607AFC5FA}"/>
              </a:ext>
            </a:extLst>
          </p:cNvPr>
          <p:cNvSpPr/>
          <p:nvPr/>
        </p:nvSpPr>
        <p:spPr>
          <a:xfrm>
            <a:off x="152400" y="1143000"/>
            <a:ext cx="621397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6bdebb77e6_0_1">
            <a:extLst>
              <a:ext uri="{FF2B5EF4-FFF2-40B4-BE49-F238E27FC236}">
                <a16:creationId xmlns:a16="http://schemas.microsoft.com/office/drawing/2014/main" id="{CF6A9827-347A-0482-E8A8-D3D8C70DB8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1050" y="167600"/>
            <a:ext cx="73152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</a:t>
            </a:r>
            <a:endParaRPr dirty="0">
              <a:solidFill>
                <a:srgbClr val="C559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12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"/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"/>
          <p:cNvSpPr txBox="1">
            <a:spLocks noGrp="1"/>
          </p:cNvSpPr>
          <p:nvPr>
            <p:ph type="title"/>
          </p:nvPr>
        </p:nvSpPr>
        <p:spPr>
          <a:xfrm>
            <a:off x="304800" y="152400"/>
            <a:ext cx="7315200" cy="81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</a:t>
            </a:r>
            <a:endParaRPr dirty="0">
              <a:solidFill>
                <a:srgbClr val="C55911"/>
              </a:solidFill>
            </a:endParaRPr>
          </a:p>
        </p:txBody>
      </p:sp>
      <p:sp>
        <p:nvSpPr>
          <p:cNvPr id="256" name="Google Shape;256;p4"/>
          <p:cNvSpPr txBox="1"/>
          <p:nvPr/>
        </p:nvSpPr>
        <p:spPr>
          <a:xfrm>
            <a:off x="1066800" y="1322195"/>
            <a:ext cx="50337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to One Line Multiplexer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p4" descr="Part ay: logic diagram. Inputs I sub 0 and S prime and inputs I sub 1 and S enter separate and gates. The and gate outputs enter the same r gate, which generates Y. Part b: block diagram. Inputs I sub 0 and I sub 1 enter the M U X at 0 and 1, yielding S and Y.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135" y="2209801"/>
            <a:ext cx="7603730" cy="205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" descr="Verilog: Mux 2 to 1 (Multiplexer) | by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7800" y="4586542"/>
            <a:ext cx="3124200" cy="205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"/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 txBox="1">
            <a:spLocks noGrp="1"/>
          </p:cNvSpPr>
          <p:nvPr>
            <p:ph type="title"/>
          </p:nvPr>
        </p:nvSpPr>
        <p:spPr>
          <a:xfrm>
            <a:off x="304800" y="152400"/>
            <a:ext cx="9762956" cy="81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</a:t>
            </a:r>
            <a:endParaRPr dirty="0">
              <a:solidFill>
                <a:srgbClr val="C55911"/>
              </a:solidFill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1066800" y="1322195"/>
            <a:ext cx="50337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Four to One Line Multiplexer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6" name="Google Shape;266;p5" descr="Part ay: logic diagram. The structure has inputs I sub 0 to I sub 3, as well as S sub 0 and S sub 1. The structure includes 4 and gates sending outputs to an or gate that yields Y. The and gates receive the following inputs. First gate: I sub 0, S sub 1 prime, S sub 0 prime. Second gate: I sub 1, S sub 1 prime, S sub 0 prime. Third gate: I sub 2, S sub 1, S sub 0 prime. Fourth gate: I sub 3, S sub 1, S sub 0. Part b: function table. The table has columns for the following values from left to right: S sub 1, S sub 0, Y. The row entries are as follows: 0 0 I sub 0, 0 1 I sub 1, 1 0 I sub 2, 1 1 I sub 3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980718"/>
            <a:ext cx="5791200" cy="434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5" descr="The 4:1 multiplexer block diagram and truth table | Download Scientific  Diagra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86278" y="1268094"/>
            <a:ext cx="3667103" cy="178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D12159B2-1F41-B83F-7270-88D852B56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">
            <a:extLst>
              <a:ext uri="{FF2B5EF4-FFF2-40B4-BE49-F238E27FC236}">
                <a16:creationId xmlns:a16="http://schemas.microsoft.com/office/drawing/2014/main" id="{35DF7233-513C-890B-70ED-593929748ACA}"/>
              </a:ext>
            </a:extLst>
          </p:cNvPr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>
            <a:extLst>
              <a:ext uri="{FF2B5EF4-FFF2-40B4-BE49-F238E27FC236}">
                <a16:creationId xmlns:a16="http://schemas.microsoft.com/office/drawing/2014/main" id="{D671B5F4-239F-2A3E-5C42-C4B8F2E83A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152400"/>
            <a:ext cx="9762956" cy="81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</a:t>
            </a:r>
            <a:endParaRPr dirty="0">
              <a:solidFill>
                <a:srgbClr val="C5591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CD53C-DDA0-18C1-0820-CD0421C0E9E3}"/>
              </a:ext>
            </a:extLst>
          </p:cNvPr>
          <p:cNvSpPr txBox="1"/>
          <p:nvPr/>
        </p:nvSpPr>
        <p:spPr>
          <a:xfrm>
            <a:off x="422477" y="1322195"/>
            <a:ext cx="5034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Implementing 4:1 MUX using 2:1 MUX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6537CA-5621-5539-6158-2306FE1E0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667" y="2360865"/>
            <a:ext cx="3048425" cy="2715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094180-98D0-2CDE-6BA9-4EB71040F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530" y="1777336"/>
            <a:ext cx="4391638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64393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"/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 txBox="1">
            <a:spLocks noGrp="1"/>
          </p:cNvSpPr>
          <p:nvPr>
            <p:ph type="title"/>
          </p:nvPr>
        </p:nvSpPr>
        <p:spPr>
          <a:xfrm>
            <a:off x="304800" y="152400"/>
            <a:ext cx="9762956" cy="811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/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Multiplexers-</a:t>
            </a:r>
            <a:r>
              <a:rPr lang="en-IN" sz="2458" dirty="0">
                <a:solidFill>
                  <a:srgbClr val="C55911"/>
                </a:solidFill>
              </a:rPr>
              <a:t>Boolean Function Implementation </a:t>
            </a:r>
            <a:endParaRPr sz="2458" dirty="0">
              <a:solidFill>
                <a:srgbClr val="C55911"/>
              </a:solidFill>
            </a:endParaRPr>
          </a:p>
        </p:txBody>
      </p:sp>
      <p:sp>
        <p:nvSpPr>
          <p:cNvPr id="281" name="Google Shape;281;p7"/>
          <p:cNvSpPr txBox="1"/>
          <p:nvPr/>
        </p:nvSpPr>
        <p:spPr>
          <a:xfrm>
            <a:off x="1066800" y="1322195"/>
            <a:ext cx="56388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a Boolean Function with a Multiplexer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2" name="Google Shape;282;p7" descr="Part ay: truth table. The table has columns with the following headings from left to right: x, y, z, F. The table is divided into sections for different values of F. For F = z, the row entries are as follows: 0 0 0 0, 0 0 1 1. For F = z prime, the row entries are as follows: 0 1 0 1, 0 1 1 0. For F = 0, the row entries are as follows: 1 0 0 0, 1 0 1 0. For F = 1, the row entries are as follows: 1 1 0 1, 1 1 1 1. Part b: multiplexer implementation. The 4 by 1 M U X receives the following inputs: y at S sub 0, x at S sub 1, z at 0, z prime at 1, 0 at 2, 1 at 3. The M UX outputs F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9232" y="2094131"/>
            <a:ext cx="7310536" cy="2451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7"/>
          <p:cNvSpPr txBox="1">
            <a:spLocks noGrp="1"/>
          </p:cNvSpPr>
          <p:nvPr>
            <p:ph type="body" idx="1"/>
          </p:nvPr>
        </p:nvSpPr>
        <p:spPr>
          <a:xfrm>
            <a:off x="495300" y="5257800"/>
            <a:ext cx="81534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Connect input variables to select inputs of multiplexer </a:t>
            </a: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(n-1 for n variables)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Set data inputs to multiplexer equal to values of function for corresponding assignment of select variables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Using a variable at data inputs reduces size of the multiplexer</a:t>
            </a:r>
            <a:endParaRPr/>
          </a:p>
        </p:txBody>
      </p:sp>
      <p:sp>
        <p:nvSpPr>
          <p:cNvPr id="284" name="Google Shape;284;p7"/>
          <p:cNvSpPr txBox="1"/>
          <p:nvPr/>
        </p:nvSpPr>
        <p:spPr>
          <a:xfrm>
            <a:off x="1336145" y="1887357"/>
            <a:ext cx="50337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z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(1, 2, 6, 7)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"/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>
            <a:spLocks noGrp="1"/>
          </p:cNvSpPr>
          <p:nvPr>
            <p:ph type="title"/>
          </p:nvPr>
        </p:nvSpPr>
        <p:spPr>
          <a:xfrm>
            <a:off x="304800" y="152400"/>
            <a:ext cx="9762956" cy="81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</a:t>
            </a:r>
            <a:endParaRPr dirty="0">
              <a:solidFill>
                <a:srgbClr val="C55911"/>
              </a:solidFill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1066799" y="1322195"/>
            <a:ext cx="621751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Implementing a four input  Function with a 8X1 Multiplexer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2" name="Google Shape;292;p8" descr="The table has columns with the following headings from left to right: Ay, B, C, D, F. The table is divided into sections for different F values, with 2 rows for each definition of F. The following list provides the row entries for each F. F = D: 0 0 0 0 0, 0 0 0 1 1. F = D: 0 0 1 0 0, 0 0 1 1 1. F = D prime: 0 1 0 0 1, 0 1 0 1 0. F = 0: 0 1 1 0 0, 0 1 1 1 0. F = 0: 1 0 0 0 0, 1 0 0 1 0. F = D: 1 0 1 0 0, 1 0 1 1 1. F = 1: 1 1 0 0 1, 1 1 0 1 1. F = 1: 1 1 1 0 1, 1 1 1 1 1. The block diagram shows an 8by 1 M U X receiving the following inputs: C at S sub 0, B at S sub 1, Ay at S sub 2, D at 0, D at 1, D prime at 2, 0 at 2, 0 at 4, D at 5, 1 at 6, 1 at 7. The M U X produces F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9200" y="2429256"/>
            <a:ext cx="6458464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"/>
          <p:cNvSpPr txBox="1"/>
          <p:nvPr/>
        </p:nvSpPr>
        <p:spPr>
          <a:xfrm>
            <a:off x="1752600" y="1829559"/>
            <a:ext cx="50337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lang="en-US" sz="1800" b="0" i="1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(1, 3, 4, 11, 12, 13, 14, 15)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>
          <a:extLst>
            <a:ext uri="{FF2B5EF4-FFF2-40B4-BE49-F238E27FC236}">
              <a16:creationId xmlns:a16="http://schemas.microsoft.com/office/drawing/2014/main" id="{9AF96F5C-E7E3-2F83-6AEE-C5E8D7F0D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">
            <a:extLst>
              <a:ext uri="{FF2B5EF4-FFF2-40B4-BE49-F238E27FC236}">
                <a16:creationId xmlns:a16="http://schemas.microsoft.com/office/drawing/2014/main" id="{4731264D-CFD9-4140-689F-F2DC57E7BA58}"/>
              </a:ext>
            </a:extLst>
          </p:cNvPr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>
            <a:extLst>
              <a:ext uri="{FF2B5EF4-FFF2-40B4-BE49-F238E27FC236}">
                <a16:creationId xmlns:a16="http://schemas.microsoft.com/office/drawing/2014/main" id="{E1A3DF96-8706-CEB2-C79D-B9E36FC4BB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152400"/>
            <a:ext cx="9762956" cy="81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Multiplexers- Three State Gates</a:t>
            </a:r>
            <a:endParaRPr dirty="0">
              <a:solidFill>
                <a:srgbClr val="C55911"/>
              </a:solidFill>
            </a:endParaRPr>
          </a:p>
        </p:txBody>
      </p:sp>
      <p:pic>
        <p:nvPicPr>
          <p:cNvPr id="2" name="Google Shape;300;p9">
            <a:extLst>
              <a:ext uri="{FF2B5EF4-FFF2-40B4-BE49-F238E27FC236}">
                <a16:creationId xmlns:a16="http://schemas.microsoft.com/office/drawing/2014/main" id="{BA73EB80-17D2-0C0C-AA3D-C51BC5FF54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558" y="1537815"/>
            <a:ext cx="6075164" cy="199246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C18F2F-C93C-A1C8-40FC-9BABC295B044}"/>
              </a:ext>
            </a:extLst>
          </p:cNvPr>
          <p:cNvSpPr txBox="1"/>
          <p:nvPr/>
        </p:nvSpPr>
        <p:spPr>
          <a:xfrm>
            <a:off x="152400" y="4217406"/>
            <a:ext cx="85151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dirty="0"/>
              <a:t>Two of the states are signals equivalent to logic 1 and logic 0 as in a conventional gate. The third state is a high-impedance state in which (1) the logic behaves like an </a:t>
            </a:r>
            <a:r>
              <a:rPr lang="en-US" sz="1800" b="1" dirty="0"/>
              <a:t>open circuit</a:t>
            </a:r>
            <a:r>
              <a:rPr lang="en-US" sz="1800" dirty="0"/>
              <a:t>, which means that the output appears to be disconnected, (2) the circuit has </a:t>
            </a:r>
            <a:r>
              <a:rPr lang="en-US" sz="1800" b="1" dirty="0"/>
              <a:t>no logic significance</a:t>
            </a:r>
            <a:r>
              <a:rPr lang="en-US" sz="1800" dirty="0"/>
              <a:t>, and (3) the circuit connected to the </a:t>
            </a:r>
            <a:r>
              <a:rPr lang="en-US" sz="1800" b="1" dirty="0"/>
              <a:t>output</a:t>
            </a:r>
            <a:r>
              <a:rPr lang="en-US" sz="1800" dirty="0"/>
              <a:t> of the </a:t>
            </a:r>
            <a:r>
              <a:rPr lang="en-US" sz="1800" b="1" dirty="0"/>
              <a:t>three-state gate is not affected by the inputs to the gate.</a:t>
            </a:r>
          </a:p>
        </p:txBody>
      </p:sp>
    </p:spTree>
    <p:extLst>
      <p:ext uri="{BB962C8B-B14F-4D97-AF65-F5344CB8AC3E}">
        <p14:creationId xmlns:p14="http://schemas.microsoft.com/office/powerpoint/2010/main" val="798884996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>
          <a:extLst>
            <a:ext uri="{FF2B5EF4-FFF2-40B4-BE49-F238E27FC236}">
              <a16:creationId xmlns:a16="http://schemas.microsoft.com/office/drawing/2014/main" id="{000C43E7-152B-8A83-1197-2CD5C48AE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">
            <a:extLst>
              <a:ext uri="{FF2B5EF4-FFF2-40B4-BE49-F238E27FC236}">
                <a16:creationId xmlns:a16="http://schemas.microsoft.com/office/drawing/2014/main" id="{DC0E7BE3-B224-81FB-7C57-256788C6B48A}"/>
              </a:ext>
            </a:extLst>
          </p:cNvPr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>
            <a:extLst>
              <a:ext uri="{FF2B5EF4-FFF2-40B4-BE49-F238E27FC236}">
                <a16:creationId xmlns:a16="http://schemas.microsoft.com/office/drawing/2014/main" id="{7BD930CA-893F-8E28-E6C7-D1FD5383D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152400"/>
            <a:ext cx="9762956" cy="81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Multiplexers- Three State Gates</a:t>
            </a:r>
            <a:endParaRPr dirty="0">
              <a:solidFill>
                <a:srgbClr val="C5591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22A350-3618-858A-25A4-5FCD0BC20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416" y="1163266"/>
            <a:ext cx="3286584" cy="2219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03A0BE-875C-9BFB-B699-44DA2D2C7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390" y="3770957"/>
            <a:ext cx="2762636" cy="5430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91A690-9851-31C6-CB84-3B110E39CE85}"/>
              </a:ext>
            </a:extLst>
          </p:cNvPr>
          <p:cNvSpPr txBox="1"/>
          <p:nvPr/>
        </p:nvSpPr>
        <p:spPr>
          <a:xfrm>
            <a:off x="596097" y="4702014"/>
            <a:ext cx="8050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The construction of multiplexers with three-state buffers is demonstrated in Fig. 4.30 . Figure 4.30(a) shows the construction of a two-to-one-line multiplexer with 2 three-state buffers and an inverter. The two outputs are connected together to form a single output line. </a:t>
            </a:r>
            <a:endParaRPr lang="en-IN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E5204D-B0EA-843A-7652-B1FF0DD0A28B}"/>
              </a:ext>
            </a:extLst>
          </p:cNvPr>
          <p:cNvSpPr txBox="1"/>
          <p:nvPr/>
        </p:nvSpPr>
        <p:spPr>
          <a:xfrm>
            <a:off x="5032769" y="2282919"/>
            <a:ext cx="38565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/>
              <a:t>When the select input is 0, the upper buffer is enabled by its control input and the lower buffer is disabled. Output Y is then equal to input A . When the select input is 1, the lower buffer is enabled and Y is equal to B 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603421179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>
          <a:extLst>
            <a:ext uri="{FF2B5EF4-FFF2-40B4-BE49-F238E27FC236}">
              <a16:creationId xmlns:a16="http://schemas.microsoft.com/office/drawing/2014/main" id="{F9FB2D05-2D68-E6B8-AE73-92307E73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">
            <a:extLst>
              <a:ext uri="{FF2B5EF4-FFF2-40B4-BE49-F238E27FC236}">
                <a16:creationId xmlns:a16="http://schemas.microsoft.com/office/drawing/2014/main" id="{9BE72665-246B-52DA-10A6-07D583A19C80}"/>
              </a:ext>
            </a:extLst>
          </p:cNvPr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>
            <a:extLst>
              <a:ext uri="{FF2B5EF4-FFF2-40B4-BE49-F238E27FC236}">
                <a16:creationId xmlns:a16="http://schemas.microsoft.com/office/drawing/2014/main" id="{558F17E8-6935-49AD-31DB-0B9141B7B1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152400"/>
            <a:ext cx="9762956" cy="81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Multiplexers- Three State Gates</a:t>
            </a:r>
            <a:endParaRPr dirty="0">
              <a:solidFill>
                <a:srgbClr val="C5591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F4D26E-47FD-AF1F-0002-EDC3EB2F4C5C}"/>
              </a:ext>
            </a:extLst>
          </p:cNvPr>
          <p:cNvSpPr txBox="1"/>
          <p:nvPr/>
        </p:nvSpPr>
        <p:spPr>
          <a:xfrm>
            <a:off x="596097" y="4702014"/>
            <a:ext cx="80501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4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way to ensure that no more than one control input is active at any given time is to use a decoder, as shown in the diagram</a:t>
            </a:r>
            <a:endParaRPr lang="en-US" sz="1800" dirty="0"/>
          </a:p>
          <a:p>
            <a:pPr lvl="0" algn="just">
              <a:buSzPts val="1400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input of the decoder is 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all of its four outputs are 0 and 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bus line is in a high-impedance state because all four buffers are disabled.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</a:t>
            </a:r>
            <a:r>
              <a:rPr lang="en-US" sz="1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input is active, one of the three state buffers will be active, depending on the binary value in the select inputs of the decoder.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7558E6-EF74-2924-FCD3-D9573F2CF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322195"/>
            <a:ext cx="3597797" cy="30574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CE344F-7940-7215-76DB-0B3D34D107C7}"/>
              </a:ext>
            </a:extLst>
          </p:cNvPr>
          <p:cNvSpPr txBox="1"/>
          <p:nvPr/>
        </p:nvSpPr>
        <p:spPr>
          <a:xfrm>
            <a:off x="3852424" y="3686351"/>
            <a:ext cx="50349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more than one buffer may be in the active state at any given time.</a:t>
            </a:r>
            <a:endParaRPr lang="en-US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5247559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"/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 txBox="1">
            <a:spLocks noGrp="1"/>
          </p:cNvSpPr>
          <p:nvPr>
            <p:ph type="title"/>
          </p:nvPr>
        </p:nvSpPr>
        <p:spPr>
          <a:xfrm>
            <a:off x="304800" y="152399"/>
            <a:ext cx="6217517" cy="811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Multiplexers- Think about it</a:t>
            </a:r>
            <a:endParaRPr dirty="0">
              <a:solidFill>
                <a:srgbClr val="C55911"/>
              </a:solidFill>
            </a:endParaRPr>
          </a:p>
        </p:txBody>
      </p:sp>
      <p:grpSp>
        <p:nvGrpSpPr>
          <p:cNvPr id="323" name="Google Shape;323;p12"/>
          <p:cNvGrpSpPr/>
          <p:nvPr/>
        </p:nvGrpSpPr>
        <p:grpSpPr>
          <a:xfrm>
            <a:off x="609600" y="1981200"/>
            <a:ext cx="4154579" cy="2344308"/>
            <a:chOff x="87743" y="1056767"/>
            <a:chExt cx="2619693" cy="1478216"/>
          </a:xfrm>
        </p:grpSpPr>
        <p:pic>
          <p:nvPicPr>
            <p:cNvPr id="324" name="Google Shape;324;p1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7744" y="1056792"/>
              <a:ext cx="2619692" cy="1646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1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38544" y="2433383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1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9344" y="2420683"/>
              <a:ext cx="2518091" cy="114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1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656668" y="1107567"/>
              <a:ext cx="50767" cy="13258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12"/>
            <p:cNvSpPr/>
            <p:nvPr/>
          </p:nvSpPr>
          <p:spPr>
            <a:xfrm>
              <a:off x="87743" y="1215096"/>
              <a:ext cx="2569210" cy="1269365"/>
            </a:xfrm>
            <a:custGeom>
              <a:avLst/>
              <a:gdLst/>
              <a:ahLst/>
              <a:cxnLst/>
              <a:rect l="l" t="t" r="r" b="b"/>
              <a:pathLst>
                <a:path w="2569210" h="1269364" extrusionOk="0">
                  <a:moveTo>
                    <a:pt x="2568925" y="0"/>
                  </a:moveTo>
                  <a:lnTo>
                    <a:pt x="0" y="0"/>
                  </a:lnTo>
                  <a:lnTo>
                    <a:pt x="0" y="1218286"/>
                  </a:lnTo>
                  <a:lnTo>
                    <a:pt x="4008" y="1238011"/>
                  </a:lnTo>
                  <a:lnTo>
                    <a:pt x="14922" y="1254164"/>
                  </a:lnTo>
                  <a:lnTo>
                    <a:pt x="31075" y="1265078"/>
                  </a:lnTo>
                  <a:lnTo>
                    <a:pt x="50800" y="1269087"/>
                  </a:lnTo>
                  <a:lnTo>
                    <a:pt x="2518124" y="1269087"/>
                  </a:lnTo>
                  <a:lnTo>
                    <a:pt x="2537849" y="1265078"/>
                  </a:lnTo>
                  <a:lnTo>
                    <a:pt x="2554002" y="1254164"/>
                  </a:lnTo>
                  <a:lnTo>
                    <a:pt x="2564916" y="1238011"/>
                  </a:lnTo>
                  <a:lnTo>
                    <a:pt x="2568925" y="1218286"/>
                  </a:lnTo>
                  <a:lnTo>
                    <a:pt x="2568925" y="0"/>
                  </a:lnTo>
                  <a:close/>
                </a:path>
              </a:pathLst>
            </a:custGeom>
            <a:solidFill>
              <a:srgbClr val="F9EEE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55"/>
                <a:buFont typeface="Arial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2"/>
            <p:cNvSpPr/>
            <p:nvPr/>
          </p:nvSpPr>
          <p:spPr>
            <a:xfrm>
              <a:off x="2656668" y="1094867"/>
              <a:ext cx="0" cy="1357630"/>
            </a:xfrm>
            <a:custGeom>
              <a:avLst/>
              <a:gdLst/>
              <a:ahLst/>
              <a:cxnLst/>
              <a:rect l="l" t="t" r="r" b="b"/>
              <a:pathLst>
                <a:path w="120000" h="1357630" extrusionOk="0">
                  <a:moveTo>
                    <a:pt x="0" y="135756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7F7F7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55"/>
                <a:buFont typeface="Arial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2"/>
            <p:cNvSpPr/>
            <p:nvPr/>
          </p:nvSpPr>
          <p:spPr>
            <a:xfrm>
              <a:off x="2656668" y="10821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AFAFA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55"/>
                <a:buFont typeface="Arial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2"/>
            <p:cNvSpPr/>
            <p:nvPr/>
          </p:nvSpPr>
          <p:spPr>
            <a:xfrm>
              <a:off x="2656668" y="10694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CECE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55"/>
                <a:buFont typeface="Arial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2"/>
            <p:cNvSpPr/>
            <p:nvPr/>
          </p:nvSpPr>
          <p:spPr>
            <a:xfrm>
              <a:off x="2656668" y="10567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120000" h="12700" extrusionOk="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55"/>
                <a:buFont typeface="Arial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>
              <a:off x="1228186" y="1244190"/>
              <a:ext cx="360045" cy="1080135"/>
            </a:xfrm>
            <a:custGeom>
              <a:avLst/>
              <a:gdLst/>
              <a:ahLst/>
              <a:cxnLst/>
              <a:rect l="l" t="t" r="r" b="b"/>
              <a:pathLst>
                <a:path w="360044" h="1080135" extrusionOk="0">
                  <a:moveTo>
                    <a:pt x="0" y="0"/>
                  </a:moveTo>
                  <a:lnTo>
                    <a:pt x="0" y="1080013"/>
                  </a:lnTo>
                  <a:lnTo>
                    <a:pt x="360004" y="872111"/>
                  </a:lnTo>
                  <a:lnTo>
                    <a:pt x="360004" y="2079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A1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55"/>
                <a:buFont typeface="Arial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>
              <a:off x="972403" y="1244190"/>
              <a:ext cx="800100" cy="1191895"/>
            </a:xfrm>
            <a:custGeom>
              <a:avLst/>
              <a:gdLst/>
              <a:ahLst/>
              <a:cxnLst/>
              <a:rect l="l" t="t" r="r" b="b"/>
              <a:pathLst>
                <a:path w="800100" h="1191895" extrusionOk="0">
                  <a:moveTo>
                    <a:pt x="255783" y="1080013"/>
                  </a:moveTo>
                  <a:lnTo>
                    <a:pt x="255783" y="0"/>
                  </a:lnTo>
                  <a:lnTo>
                    <a:pt x="615787" y="207902"/>
                  </a:lnTo>
                  <a:lnTo>
                    <a:pt x="615787" y="872111"/>
                  </a:lnTo>
                  <a:lnTo>
                    <a:pt x="255783" y="1080013"/>
                  </a:lnTo>
                  <a:close/>
                </a:path>
                <a:path w="800100" h="1191895" extrusionOk="0">
                  <a:moveTo>
                    <a:pt x="252003" y="177482"/>
                  </a:moveTo>
                  <a:lnTo>
                    <a:pt x="0" y="177482"/>
                  </a:lnTo>
                </a:path>
                <a:path w="800100" h="1191895" extrusionOk="0">
                  <a:moveTo>
                    <a:pt x="252003" y="358744"/>
                  </a:moveTo>
                  <a:lnTo>
                    <a:pt x="0" y="358744"/>
                  </a:lnTo>
                </a:path>
                <a:path w="800100" h="1191895" extrusionOk="0">
                  <a:moveTo>
                    <a:pt x="252003" y="540006"/>
                  </a:moveTo>
                  <a:lnTo>
                    <a:pt x="0" y="540006"/>
                  </a:lnTo>
                </a:path>
                <a:path w="800100" h="1191895" extrusionOk="0">
                  <a:moveTo>
                    <a:pt x="252003" y="721268"/>
                  </a:moveTo>
                  <a:lnTo>
                    <a:pt x="0" y="721268"/>
                  </a:lnTo>
                </a:path>
                <a:path w="800100" h="1191895" extrusionOk="0">
                  <a:moveTo>
                    <a:pt x="252003" y="902531"/>
                  </a:moveTo>
                  <a:lnTo>
                    <a:pt x="0" y="902531"/>
                  </a:lnTo>
                </a:path>
                <a:path w="800100" h="1191895" extrusionOk="0">
                  <a:moveTo>
                    <a:pt x="343894" y="1030726"/>
                  </a:moveTo>
                  <a:lnTo>
                    <a:pt x="343894" y="1191794"/>
                  </a:lnTo>
                </a:path>
                <a:path w="800100" h="1191895" extrusionOk="0">
                  <a:moveTo>
                    <a:pt x="435785" y="977659"/>
                  </a:moveTo>
                  <a:lnTo>
                    <a:pt x="435785" y="1191794"/>
                  </a:lnTo>
                </a:path>
                <a:path w="800100" h="1191895" extrusionOk="0">
                  <a:moveTo>
                    <a:pt x="527676" y="924592"/>
                  </a:moveTo>
                  <a:lnTo>
                    <a:pt x="527676" y="1191794"/>
                  </a:lnTo>
                </a:path>
                <a:path w="800100" h="1191895" extrusionOk="0">
                  <a:moveTo>
                    <a:pt x="619567" y="540006"/>
                  </a:moveTo>
                  <a:lnTo>
                    <a:pt x="799569" y="540006"/>
                  </a:lnTo>
                </a:path>
              </a:pathLst>
            </a:custGeom>
            <a:noFill/>
            <a:ln w="9525" cap="flat" cmpd="sng">
              <a:solidFill>
                <a:srgbClr val="C559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55"/>
                <a:buFont typeface="Arial"/>
                <a:buNone/>
              </a:pPr>
              <a:endParaRPr sz="2855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2"/>
          <p:cNvSpPr txBox="1"/>
          <p:nvPr/>
        </p:nvSpPr>
        <p:spPr>
          <a:xfrm>
            <a:off x="533400" y="1590015"/>
            <a:ext cx="1143000" cy="29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125" rIns="0" bIns="0" anchor="t" anchorCtr="0">
            <a:spAutoFit/>
          </a:bodyPr>
          <a:lstStyle/>
          <a:p>
            <a:pPr marL="20141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5:1 Mux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12"/>
          <p:cNvSpPr txBox="1">
            <a:spLocks noGrp="1"/>
          </p:cNvSpPr>
          <p:nvPr>
            <p:ph type="body" idx="1"/>
          </p:nvPr>
        </p:nvSpPr>
        <p:spPr>
          <a:xfrm>
            <a:off x="851292" y="4800600"/>
            <a:ext cx="7683107" cy="588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25" rIns="0" bIns="0" anchor="t" anchorCtr="0">
            <a:spAutoFit/>
          </a:bodyPr>
          <a:lstStyle/>
          <a:p>
            <a:pPr marL="80564" marR="68479" lvl="0" indent="0" algn="l" rtl="0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A combinational logic circuit having </a:t>
            </a:r>
            <a:r>
              <a:rPr lang="en-US" sz="1800" i="1" dirty="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data  inputs, </a:t>
            </a:r>
            <a:r>
              <a:rPr lang="en-US" sz="1800" i="1" dirty="0"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lang="en-US" sz="1800" baseline="-25000" dirty="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1800" i="1" dirty="0">
                <a:latin typeface="Times New Roman"/>
                <a:ea typeface="Times New Roman"/>
                <a:cs typeface="Times New Roman"/>
                <a:sym typeface="Times New Roman"/>
              </a:rPr>
              <a:t>n| 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control inputs and one  output, that connects the data input indicated by the control inputs to the  output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6CF8E-344F-ABFC-BB48-0ED610A5F4E1}"/>
              </a:ext>
            </a:extLst>
          </p:cNvPr>
          <p:cNvSpPr txBox="1"/>
          <p:nvPr/>
        </p:nvSpPr>
        <p:spPr>
          <a:xfrm>
            <a:off x="304801" y="5795797"/>
            <a:ext cx="8483206" cy="654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6173" marR="48338" lvl="0" indent="-285750" algn="l" rtl="0">
              <a:lnSpc>
                <a:spcPct val="1038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Boolean formula for a 3:1 mux?  Construct a 3:1 mux using 2:1 muxes</a:t>
            </a:r>
          </a:p>
          <a:p>
            <a:pPr marL="62437" marR="0" lvl="0" algn="l" rtl="0">
              <a:lnSpc>
                <a:spcPct val="105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AND, OR and NOT gates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>
          <a:extLst>
            <a:ext uri="{FF2B5EF4-FFF2-40B4-BE49-F238E27FC236}">
              <a16:creationId xmlns:a16="http://schemas.microsoft.com/office/drawing/2014/main" id="{98F83231-CBDF-79E9-08C4-C9FD236BE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">
            <a:extLst>
              <a:ext uri="{FF2B5EF4-FFF2-40B4-BE49-F238E27FC236}">
                <a16:creationId xmlns:a16="http://schemas.microsoft.com/office/drawing/2014/main" id="{F7540B08-F7CC-C1E9-DA4F-2F2628CFC110}"/>
              </a:ext>
            </a:extLst>
          </p:cNvPr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>
            <a:extLst>
              <a:ext uri="{FF2B5EF4-FFF2-40B4-BE49-F238E27FC236}">
                <a16:creationId xmlns:a16="http://schemas.microsoft.com/office/drawing/2014/main" id="{18E02CF8-9EDB-3BE8-3BE7-3C72E0B387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152399"/>
            <a:ext cx="6217517" cy="811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Multiplexers- Think about it</a:t>
            </a:r>
            <a:endParaRPr dirty="0">
              <a:solidFill>
                <a:srgbClr val="C55911"/>
              </a:solidFill>
            </a:endParaRPr>
          </a:p>
        </p:txBody>
      </p:sp>
      <p:sp>
        <p:nvSpPr>
          <p:cNvPr id="336" name="Google Shape;336;p12">
            <a:extLst>
              <a:ext uri="{FF2B5EF4-FFF2-40B4-BE49-F238E27FC236}">
                <a16:creationId xmlns:a16="http://schemas.microsoft.com/office/drawing/2014/main" id="{852AF8A7-1CAB-5094-A69D-03190FC0E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4800" y="1738175"/>
            <a:ext cx="7683107" cy="119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25" rIns="0" bIns="0" anchor="t" anchorCtr="0">
            <a:spAutoFit/>
          </a:bodyPr>
          <a:lstStyle/>
          <a:p>
            <a:pPr marL="80564" marR="68479" lvl="0" indent="0" algn="l" rtl="0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dirty="0"/>
              <a:t>Using 2 X 1 MUX design y=AB</a:t>
            </a:r>
          </a:p>
          <a:p>
            <a:pPr marL="80564" marR="68479" lvl="0" indent="0" algn="l" rtl="0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sz="2400" dirty="0"/>
          </a:p>
          <a:p>
            <a:pPr marL="80564" marR="68479" lvl="0" indent="0" algn="l" rtl="0">
              <a:lnSpc>
                <a:spcPct val="1057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dirty="0"/>
              <a:t>Using 4 X 1 MUX design y=AB`+ B`C`+A`BC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364764701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88D9F975-D565-6CD4-59E9-BB6DC198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>
            <a:extLst>
              <a:ext uri="{FF2B5EF4-FFF2-40B4-BE49-F238E27FC236}">
                <a16:creationId xmlns:a16="http://schemas.microsoft.com/office/drawing/2014/main" id="{9CAE6494-2635-02D4-7F11-52BF549CBB22}"/>
              </a:ext>
            </a:extLst>
          </p:cNvPr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>
            <a:extLst>
              <a:ext uri="{FF2B5EF4-FFF2-40B4-BE49-F238E27FC236}">
                <a16:creationId xmlns:a16="http://schemas.microsoft.com/office/drawing/2014/main" id="{3C39B942-2649-1AC5-D72C-890F30C976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152400"/>
            <a:ext cx="9762956" cy="81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Multiplexers-</a:t>
            </a:r>
            <a:endParaRPr dirty="0">
              <a:solidFill>
                <a:srgbClr val="C5591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35C18-0A03-FD1F-00B0-F2AA4E169E77}"/>
              </a:ext>
            </a:extLst>
          </p:cNvPr>
          <p:cNvSpPr txBox="1"/>
          <p:nvPr/>
        </p:nvSpPr>
        <p:spPr>
          <a:xfrm>
            <a:off x="152400" y="1322195"/>
            <a:ext cx="5034986" cy="6159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4-to-1 multiplexer is used to implement the Boolean function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F(A,B,C)=∑m(1,3,5,7)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 variables should be connected to the select lines of the MUX?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A) A and B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B) B and C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C) A and C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D) Any two variables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  <a:buNone/>
            </a:pPr>
            <a:endParaRPr lang="en-IN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800"/>
              <a:t> </a:t>
            </a:r>
            <a:r>
              <a:rPr lang="en-IN" sz="1800" dirty="0"/>
              <a:t>How many select lines are required for a </a:t>
            </a:r>
            <a:r>
              <a:rPr lang="en-IN" sz="1800" b="1" dirty="0"/>
              <a:t>5:1 multiplexer</a:t>
            </a:r>
            <a:r>
              <a:rPr lang="en-IN" sz="1800" dirty="0"/>
              <a:t>?</a:t>
            </a:r>
          </a:p>
          <a:p>
            <a:r>
              <a:rPr lang="en-IN" sz="1800" dirty="0"/>
              <a:t>A) 2</a:t>
            </a:r>
            <a:br>
              <a:rPr lang="en-IN" sz="1800" dirty="0"/>
            </a:br>
            <a:r>
              <a:rPr lang="en-IN" sz="1800" dirty="0"/>
              <a:t>B) 3</a:t>
            </a:r>
            <a:br>
              <a:rPr lang="en-IN" sz="1800" dirty="0"/>
            </a:br>
            <a:r>
              <a:rPr lang="en-IN" sz="1800" dirty="0"/>
              <a:t>C) 4</a:t>
            </a:r>
            <a:br>
              <a:rPr lang="en-IN" sz="1800" dirty="0"/>
            </a:br>
            <a:r>
              <a:rPr lang="en-IN" sz="1800" dirty="0"/>
              <a:t>D) 5</a:t>
            </a:r>
          </a:p>
          <a:p>
            <a:br>
              <a:rPr lang="en-IN" sz="1800" dirty="0"/>
            </a:b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  <a:buNone/>
            </a:pPr>
            <a:endParaRPr lang="en-IN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  <a:buNone/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128022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/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 txBox="1">
            <a:spLocks noGrp="1"/>
          </p:cNvSpPr>
          <p:nvPr>
            <p:ph type="title"/>
          </p:nvPr>
        </p:nvSpPr>
        <p:spPr>
          <a:xfrm>
            <a:off x="304800" y="152400"/>
            <a:ext cx="9762956" cy="81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Multiplexers-</a:t>
            </a:r>
            <a:endParaRPr dirty="0">
              <a:solidFill>
                <a:srgbClr val="C5591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4272DC-6BFD-468B-0422-757AB7BF4028}"/>
              </a:ext>
            </a:extLst>
          </p:cNvPr>
          <p:cNvSpPr txBox="1"/>
          <p:nvPr/>
        </p:nvSpPr>
        <p:spPr>
          <a:xfrm>
            <a:off x="152400" y="1322195"/>
            <a:ext cx="5034986" cy="476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4-to-1 multiplexer is used to implement the Boolean function</a:t>
            </a:r>
            <a:b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F(A,B,C)=∑m(1,3,5,7)</a:t>
            </a:r>
            <a:b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Which variables should be connected to the select lines of the MUX?</a:t>
            </a:r>
            <a:b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A) A and B</a:t>
            </a:r>
            <a:b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B) B and C</a:t>
            </a:r>
            <a:b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C) A and C</a:t>
            </a:r>
            <a:b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D) Any two variables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Answer:  D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  <a:buNone/>
            </a:pP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dirty="0"/>
              <a:t>. How many select lines are required for a </a:t>
            </a:r>
            <a:r>
              <a:rPr lang="en-IN" b="1" dirty="0"/>
              <a:t>5:1 multiplexer</a:t>
            </a:r>
            <a:r>
              <a:rPr lang="en-IN" dirty="0"/>
              <a:t>?</a:t>
            </a:r>
          </a:p>
          <a:p>
            <a:r>
              <a:rPr lang="en-IN" dirty="0"/>
              <a:t>A) 2</a:t>
            </a:r>
            <a:br>
              <a:rPr lang="en-IN" dirty="0"/>
            </a:br>
            <a:r>
              <a:rPr lang="en-IN" dirty="0"/>
              <a:t>B) 3</a:t>
            </a:r>
            <a:br>
              <a:rPr lang="en-IN" dirty="0"/>
            </a:br>
            <a:r>
              <a:rPr lang="en-IN" dirty="0"/>
              <a:t>C) 4</a:t>
            </a:r>
            <a:br>
              <a:rPr lang="en-IN" dirty="0"/>
            </a:br>
            <a:r>
              <a:rPr lang="en-IN" dirty="0"/>
              <a:t>D) 5</a:t>
            </a:r>
          </a:p>
          <a:p>
            <a:r>
              <a:rPr lang="en-IN" b="1" dirty="0"/>
              <a:t>Answer:</a:t>
            </a:r>
            <a:r>
              <a:rPr lang="en-IN" dirty="0"/>
              <a:t> </a:t>
            </a:r>
            <a:r>
              <a:rPr lang="en-IN" b="1" dirty="0"/>
              <a:t>B) 3</a:t>
            </a:r>
            <a:br>
              <a:rPr lang="en-IN" dirty="0"/>
            </a:b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  <a:buNone/>
            </a:pP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  <a:buNone/>
            </a:pPr>
            <a:endParaRPr lang="en-IN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9CE2D544-18C4-C6B7-FA3A-024BBE628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>
            <a:extLst>
              <a:ext uri="{FF2B5EF4-FFF2-40B4-BE49-F238E27FC236}">
                <a16:creationId xmlns:a16="http://schemas.microsoft.com/office/drawing/2014/main" id="{92D31401-3AA5-26EE-F652-F7DE55BF2273}"/>
              </a:ext>
            </a:extLst>
          </p:cNvPr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>
            <a:extLst>
              <a:ext uri="{FF2B5EF4-FFF2-40B4-BE49-F238E27FC236}">
                <a16:creationId xmlns:a16="http://schemas.microsoft.com/office/drawing/2014/main" id="{A71FB7C3-8568-FD5B-8748-02FDE6BC59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152400"/>
            <a:ext cx="9762956" cy="81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Multiplexers-</a:t>
            </a:r>
            <a:endParaRPr dirty="0">
              <a:solidFill>
                <a:srgbClr val="C5591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3692A-D536-A245-5F0F-37AAB8BAF977}"/>
              </a:ext>
            </a:extLst>
          </p:cNvPr>
          <p:cNvSpPr txBox="1"/>
          <p:nvPr/>
        </p:nvSpPr>
        <p:spPr>
          <a:xfrm>
            <a:off x="152400" y="1322195"/>
            <a:ext cx="79151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The Boolean function F(</a:t>
            </a:r>
            <a:r>
              <a:rPr lang="en-IN" sz="1800" dirty="0" err="1"/>
              <a:t>x,y,z</a:t>
            </a:r>
            <a:r>
              <a:rPr lang="en-IN" sz="1800" dirty="0"/>
              <a:t>)=∑m(1,2,6,7) is implemented using an 8:1 multiplexer. What should be the values of data inputs D₀ to D₇?</a:t>
            </a:r>
          </a:p>
          <a:p>
            <a:pPr marL="342900" indent="-342900">
              <a:buAutoNum type="alphaUcParenR"/>
            </a:pPr>
            <a:r>
              <a:rPr lang="en-IN" sz="1800" dirty="0"/>
              <a:t>D = {1,1,1,0,0,0,1,1}</a:t>
            </a:r>
            <a:br>
              <a:rPr lang="en-IN" sz="1800" dirty="0"/>
            </a:br>
            <a:r>
              <a:rPr lang="en-IN" sz="1800" dirty="0"/>
              <a:t>B) D = {0,1,0,1,0,1,0,1}</a:t>
            </a:r>
            <a:br>
              <a:rPr lang="en-IN" sz="1800" dirty="0"/>
            </a:br>
            <a:r>
              <a:rPr lang="en-IN" sz="1800" dirty="0"/>
              <a:t>C) D = {1,0,0,1,1,1,0,0}</a:t>
            </a:r>
            <a:br>
              <a:rPr lang="en-IN" sz="1800" dirty="0"/>
            </a:br>
            <a:r>
              <a:rPr lang="en-IN" sz="1800" dirty="0"/>
              <a:t>D) D = {0,1,1,0,0,0,1,1}</a:t>
            </a:r>
          </a:p>
          <a:p>
            <a:pPr marL="342900" indent="-342900">
              <a:buAutoNum type="alphaUcParenR"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659777688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29A3A0A9-1D4A-17C1-E3A3-2D6A42EC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">
            <a:extLst>
              <a:ext uri="{FF2B5EF4-FFF2-40B4-BE49-F238E27FC236}">
                <a16:creationId xmlns:a16="http://schemas.microsoft.com/office/drawing/2014/main" id="{673B51AB-21FD-834A-FC04-4CAE793816AD}"/>
              </a:ext>
            </a:extLst>
          </p:cNvPr>
          <p:cNvSpPr/>
          <p:nvPr/>
        </p:nvSpPr>
        <p:spPr>
          <a:xfrm>
            <a:off x="152400" y="1143000"/>
            <a:ext cx="6217517" cy="0"/>
          </a:xfrm>
          <a:custGeom>
            <a:avLst/>
            <a:gdLst/>
            <a:ahLst/>
            <a:cxnLst/>
            <a:rect l="l" t="t" r="r" b="b"/>
            <a:pathLst>
              <a:path w="3920490" h="120000" extrusionOk="0">
                <a:moveTo>
                  <a:pt x="0" y="0"/>
                </a:moveTo>
                <a:lnTo>
                  <a:pt x="3920450" y="0"/>
                </a:lnTo>
              </a:path>
            </a:pathLst>
          </a:custGeom>
          <a:noFill/>
          <a:ln w="19800" cap="flat" cmpd="sng">
            <a:solidFill>
              <a:srgbClr val="C559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5"/>
              <a:buFont typeface="Arial"/>
              <a:buNone/>
            </a:pPr>
            <a:endParaRPr sz="285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>
            <a:extLst>
              <a:ext uri="{FF2B5EF4-FFF2-40B4-BE49-F238E27FC236}">
                <a16:creationId xmlns:a16="http://schemas.microsoft.com/office/drawing/2014/main" id="{66A1A409-3C60-E42B-C097-80760BBC5F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152400"/>
            <a:ext cx="9762956" cy="81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125" rIns="0" bIns="0" anchor="t" anchorCtr="0">
            <a:spAutoFit/>
          </a:bodyPr>
          <a:lstStyle/>
          <a:p>
            <a:pPr marL="20141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Combinational logic</a:t>
            </a:r>
            <a:br>
              <a:rPr lang="en-US" sz="2458" dirty="0"/>
            </a:br>
            <a:r>
              <a:rPr lang="en-US" sz="2458" dirty="0">
                <a:solidFill>
                  <a:srgbClr val="C55911"/>
                </a:solidFill>
              </a:rPr>
              <a:t>Multiplexers-</a:t>
            </a:r>
            <a:endParaRPr dirty="0">
              <a:solidFill>
                <a:srgbClr val="C5591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5BE54D-5D0B-F739-4562-466E2E8E48DA}"/>
              </a:ext>
            </a:extLst>
          </p:cNvPr>
          <p:cNvSpPr txBox="1"/>
          <p:nvPr/>
        </p:nvSpPr>
        <p:spPr>
          <a:xfrm>
            <a:off x="152400" y="1322195"/>
            <a:ext cx="503498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Boolean function F(</a:t>
            </a:r>
            <a:r>
              <a:rPr lang="en-IN" dirty="0" err="1"/>
              <a:t>x,y,z</a:t>
            </a:r>
            <a:r>
              <a:rPr lang="en-IN" dirty="0"/>
              <a:t>)=∑m(1,2,6,7) is implemented using an 8:1 multiplexer. What should be the values of data inputs D₀ to D₇?</a:t>
            </a:r>
          </a:p>
          <a:p>
            <a:r>
              <a:rPr lang="en-IN" dirty="0"/>
              <a:t>A) D = {1,1,1,0,0,0,1,1}</a:t>
            </a:r>
            <a:br>
              <a:rPr lang="en-IN" dirty="0"/>
            </a:br>
            <a:r>
              <a:rPr lang="en-IN" dirty="0"/>
              <a:t>B) D = {0,1,0,1,0,1,0,1}</a:t>
            </a:r>
            <a:br>
              <a:rPr lang="en-IN" dirty="0"/>
            </a:br>
            <a:r>
              <a:rPr lang="en-IN" dirty="0"/>
              <a:t>C) D = {1,0,0,1,1,1,0,0}</a:t>
            </a:r>
            <a:br>
              <a:rPr lang="en-IN" dirty="0"/>
            </a:br>
            <a:r>
              <a:rPr lang="en-IN" dirty="0"/>
              <a:t>D) D = {0,1,1,0,0,0,1,1}</a:t>
            </a:r>
          </a:p>
          <a:p>
            <a:r>
              <a:rPr lang="en-IN" dirty="0"/>
              <a:t>Answer: D) D = {0,1,1,0,0,0,1,1}</a:t>
            </a:r>
            <a:br>
              <a:rPr lang="en-IN" dirty="0"/>
            </a:br>
            <a:r>
              <a:rPr lang="en-IN" dirty="0"/>
              <a:t>Explanation:</a:t>
            </a:r>
          </a:p>
          <a:p>
            <a:pPr lvl="0"/>
            <a:r>
              <a:rPr lang="en-IN" dirty="0"/>
              <a:t>The </a:t>
            </a:r>
            <a:r>
              <a:rPr lang="en-IN" dirty="0" err="1"/>
              <a:t>minterms</a:t>
            </a:r>
            <a:r>
              <a:rPr lang="en-IN" dirty="0"/>
              <a:t> correspond to the positions where F = 1.</a:t>
            </a:r>
          </a:p>
          <a:p>
            <a:pPr lvl="0"/>
            <a:r>
              <a:rPr lang="en-IN" dirty="0"/>
              <a:t>So, D₁ = D₂ = D₆ = D₇ = 1, rest are 0.</a:t>
            </a:r>
          </a:p>
        </p:txBody>
      </p:sp>
    </p:spTree>
    <p:extLst>
      <p:ext uri="{BB962C8B-B14F-4D97-AF65-F5344CB8AC3E}">
        <p14:creationId xmlns:p14="http://schemas.microsoft.com/office/powerpoint/2010/main" val="1155900327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9" name="Google Shape;349;p14"/>
          <p:cNvCxnSpPr/>
          <p:nvPr/>
        </p:nvCxnSpPr>
        <p:spPr>
          <a:xfrm>
            <a:off x="4086125" y="3022731"/>
            <a:ext cx="3436087" cy="0"/>
          </a:xfrm>
          <a:prstGeom prst="straightConnector1">
            <a:avLst/>
          </a:prstGeom>
          <a:noFill/>
          <a:ln w="38100" cap="flat" cmpd="sng">
            <a:solidFill>
              <a:srgbClr val="95373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50" name="Google Shape;350;p14"/>
          <p:cNvGrpSpPr/>
          <p:nvPr/>
        </p:nvGrpSpPr>
        <p:grpSpPr>
          <a:xfrm>
            <a:off x="235384" y="1119350"/>
            <a:ext cx="8638806" cy="4663790"/>
            <a:chOff x="313844" y="349466"/>
            <a:chExt cx="11518407" cy="6218388"/>
          </a:xfrm>
        </p:grpSpPr>
        <p:sp>
          <p:nvSpPr>
            <p:cNvPr id="351" name="Google Shape;351;p14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solidFill>
              <a:srgbClr val="95373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4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solidFill>
              <a:srgbClr val="95373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4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95373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4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95373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14"/>
          <p:cNvSpPr/>
          <p:nvPr/>
        </p:nvSpPr>
        <p:spPr>
          <a:xfrm>
            <a:off x="4086126" y="2394389"/>
            <a:ext cx="3452855" cy="507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lang="en-US" sz="2699" b="1" i="0" u="none" strike="noStrike" cap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4086128" y="3203431"/>
            <a:ext cx="56229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Team DDCO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4086128" y="3501634"/>
            <a:ext cx="56229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0181" y="2679527"/>
            <a:ext cx="1825944" cy="168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1132</Words>
  <Application>Microsoft Office PowerPoint</Application>
  <PresentationFormat>On-screen Show (4:3)</PresentationFormat>
  <Paragraphs>78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Noto Sans Symbols</vt:lpstr>
      <vt:lpstr>Times</vt:lpstr>
      <vt:lpstr>Times New Roman</vt:lpstr>
      <vt:lpstr>1_Office Theme</vt:lpstr>
      <vt:lpstr>Office Theme</vt:lpstr>
      <vt:lpstr>PowerPoint Presentation</vt:lpstr>
      <vt:lpstr>DIGITAL DESIGN AND  COMPUTER ORGANIZATION</vt:lpstr>
      <vt:lpstr>Combinational logic Multiplexers</vt:lpstr>
      <vt:lpstr>Combinational logic Multiplexers</vt:lpstr>
      <vt:lpstr>Combinational logic Multiplexers</vt:lpstr>
      <vt:lpstr>Combinational logic Multiplexers</vt:lpstr>
      <vt:lpstr>Combinational logic Multiplexers</vt:lpstr>
      <vt:lpstr>Combinational logic Multiplexers-Boolean Function Implementation </vt:lpstr>
      <vt:lpstr>Combinational logic Multiplexers</vt:lpstr>
      <vt:lpstr>Combinational logic Multiplexers- Three State Gates</vt:lpstr>
      <vt:lpstr>Combinational logic Multiplexers- Three State Gates</vt:lpstr>
      <vt:lpstr>Combinational logic Multiplexers- Three State Gates</vt:lpstr>
      <vt:lpstr>Combinational logic Multiplexers- Think about it</vt:lpstr>
      <vt:lpstr>Combinational logic Multiplexers- Think about it</vt:lpstr>
      <vt:lpstr>Combinational logic Multiplexers-</vt:lpstr>
      <vt:lpstr>Combinational logic Multiplexers-</vt:lpstr>
      <vt:lpstr>Combinational logic Multiplexers-</vt:lpstr>
      <vt:lpstr>Combinational logic Multiplexers-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Echo Swinford</dc:creator>
  <cp:lastModifiedBy>prajwala talanki</cp:lastModifiedBy>
  <cp:revision>22</cp:revision>
  <dcterms:created xsi:type="dcterms:W3CDTF">2014-07-14T20:04:21Z</dcterms:created>
  <dcterms:modified xsi:type="dcterms:W3CDTF">2025-08-27T08:00:21Z</dcterms:modified>
</cp:coreProperties>
</file>