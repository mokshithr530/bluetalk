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9" r:id="rId5"/>
    <p:sldId id="280" r:id="rId6"/>
    <p:sldId id="281" r:id="rId7"/>
    <p:sldId id="282" r:id="rId8"/>
    <p:sldId id="283" r:id="rId9"/>
    <p:sldId id="284" r:id="rId10"/>
    <p:sldId id="286" r:id="rId11"/>
    <p:sldId id="285" r:id="rId12"/>
    <p:sldId id="287" r:id="rId13"/>
    <p:sldId id="293" r:id="rId14"/>
    <p:sldId id="292" r:id="rId15"/>
    <p:sldId id="291" r:id="rId16"/>
    <p:sldId id="290" r:id="rId17"/>
    <p:sldId id="289" r:id="rId18"/>
    <p:sldId id="294" r:id="rId19"/>
    <p:sldId id="298" r:id="rId20"/>
    <p:sldId id="297" r:id="rId21"/>
    <p:sldId id="278" r:id="rId22"/>
  </p:sldIdLst>
  <p:sldSz cx="14630400" cy="9144000"/>
  <p:notesSz cx="146304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138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A3BBC-2C27-4542-A2AD-6FC4D420F05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66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4400550"/>
            <a:ext cx="1170305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634047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8685213"/>
            <a:ext cx="634047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4135F-7FC0-4929-8C92-053F22D97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96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834640"/>
            <a:ext cx="1243584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5120640"/>
            <a:ext cx="1024128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C55A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C55A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2103120"/>
            <a:ext cx="6364224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2103120"/>
            <a:ext cx="6364224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C55A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11908" y="2744755"/>
            <a:ext cx="4406583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C55A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1018" y="4117734"/>
            <a:ext cx="13568363" cy="2482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8503920"/>
            <a:ext cx="4681728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8503920"/>
            <a:ext cx="3364992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8503920"/>
            <a:ext cx="3364992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  <p:pic>
        <p:nvPicPr>
          <p:cNvPr id="7" name="Google Shape;60;p2">
            <a:extLst>
              <a:ext uri="{FF2B5EF4-FFF2-40B4-BE49-F238E27FC236}">
                <a16:creationId xmlns:a16="http://schemas.microsoft.com/office/drawing/2014/main" id="{5D76959C-4D4B-B6CE-4ACA-4FAE476993E6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534" y="2884558"/>
            <a:ext cx="863981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Automata</a:t>
            </a:r>
            <a:r>
              <a:rPr spc="-30" dirty="0"/>
              <a:t> </a:t>
            </a:r>
            <a:r>
              <a:rPr spc="-10" dirty="0"/>
              <a:t>Formal</a:t>
            </a:r>
            <a:r>
              <a:rPr spc="-25" dirty="0"/>
              <a:t> </a:t>
            </a:r>
            <a:r>
              <a:rPr spc="-10" dirty="0"/>
              <a:t>Languages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85404" y="4147934"/>
            <a:ext cx="7469505" cy="16254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lang="en-US" sz="3000" b="1" spc="-5" dirty="0">
                <a:latin typeface="Calibri"/>
                <a:cs typeface="Calibri"/>
              </a:rPr>
              <a:t>Prof. Divyaprabha K N</a:t>
            </a:r>
            <a:endParaRPr sz="3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3000" spc="-5" dirty="0">
                <a:latin typeface="Calibri"/>
                <a:cs typeface="Calibri"/>
              </a:rPr>
              <a:t>Department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Computer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Science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&amp;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Engineering</a:t>
            </a:r>
            <a:endParaRPr lang="en-US" sz="3000" spc="-5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lang="en-US" sz="3000" b="1" spc="-5" dirty="0">
                <a:latin typeface="Calibri"/>
                <a:cs typeface="Calibri"/>
              </a:rPr>
              <a:t>ACK: Prof. Kavitha K N</a:t>
            </a:r>
            <a:endParaRPr sz="3000" b="1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6605" y="7319416"/>
            <a:ext cx="1280795" cy="1437640"/>
          </a:xfrm>
          <a:custGeom>
            <a:avLst/>
            <a:gdLst/>
            <a:ahLst/>
            <a:cxnLst/>
            <a:rect l="l" t="t" r="r" b="b"/>
            <a:pathLst>
              <a:path w="1280795" h="1437640">
                <a:moveTo>
                  <a:pt x="1280274" y="1376553"/>
                </a:moveTo>
                <a:lnTo>
                  <a:pt x="54864" y="1376553"/>
                </a:lnTo>
                <a:lnTo>
                  <a:pt x="54864" y="0"/>
                </a:lnTo>
                <a:lnTo>
                  <a:pt x="0" y="0"/>
                </a:lnTo>
                <a:lnTo>
                  <a:pt x="0" y="1376553"/>
                </a:lnTo>
                <a:lnTo>
                  <a:pt x="0" y="1422501"/>
                </a:lnTo>
                <a:lnTo>
                  <a:pt x="0" y="1437513"/>
                </a:lnTo>
                <a:lnTo>
                  <a:pt x="1280274" y="1437513"/>
                </a:lnTo>
                <a:lnTo>
                  <a:pt x="1280274" y="1376553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93329" y="3797100"/>
            <a:ext cx="5497830" cy="0"/>
          </a:xfrm>
          <a:custGeom>
            <a:avLst/>
            <a:gdLst/>
            <a:ahLst/>
            <a:cxnLst/>
            <a:rect l="l" t="t" r="r" b="b"/>
            <a:pathLst>
              <a:path w="5497830">
                <a:moveTo>
                  <a:pt x="0" y="0"/>
                </a:moveTo>
                <a:lnTo>
                  <a:pt x="5497499" y="0"/>
                </a:lnTo>
              </a:path>
            </a:pathLst>
          </a:custGeom>
          <a:ln w="38099">
            <a:solidFill>
              <a:srgbClr val="C55A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26835" y="354977"/>
            <a:ext cx="1280795" cy="1437640"/>
          </a:xfrm>
          <a:custGeom>
            <a:avLst/>
            <a:gdLst/>
            <a:ahLst/>
            <a:cxnLst/>
            <a:rect l="l" t="t" r="r" b="b"/>
            <a:pathLst>
              <a:path w="1280794" h="1437639">
                <a:moveTo>
                  <a:pt x="1280274" y="0"/>
                </a:moveTo>
                <a:lnTo>
                  <a:pt x="0" y="0"/>
                </a:lnTo>
                <a:lnTo>
                  <a:pt x="0" y="60960"/>
                </a:lnTo>
                <a:lnTo>
                  <a:pt x="1225410" y="60960"/>
                </a:lnTo>
                <a:lnTo>
                  <a:pt x="1225410" y="1437513"/>
                </a:lnTo>
                <a:lnTo>
                  <a:pt x="1280274" y="1437513"/>
                </a:lnTo>
                <a:lnTo>
                  <a:pt x="1280274" y="60960"/>
                </a:lnTo>
                <a:lnTo>
                  <a:pt x="1280274" y="15024"/>
                </a:lnTo>
                <a:lnTo>
                  <a:pt x="1280274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oogle Shape;50;p1">
            <a:extLst>
              <a:ext uri="{FF2B5EF4-FFF2-40B4-BE49-F238E27FC236}">
                <a16:creationId xmlns:a16="http://schemas.microsoft.com/office/drawing/2014/main" id="{A29D2AFE-232A-CC3E-7E69-06CFD65F743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05000" y="2404312"/>
            <a:ext cx="3071375" cy="33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0734" y="2414626"/>
            <a:ext cx="863981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0000"/>
                </a:solidFill>
              </a:rPr>
              <a:t>Automata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Formal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Languages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&amp;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734" y="3863769"/>
            <a:ext cx="8257066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1" spc="-10" dirty="0">
                <a:solidFill>
                  <a:srgbClr val="2F5496"/>
                </a:solidFill>
                <a:latin typeface="Calibri"/>
                <a:cs typeface="Calibri"/>
              </a:rPr>
              <a:t>Unit</a:t>
            </a:r>
            <a:r>
              <a:rPr sz="4500" b="1" spc="-95" dirty="0">
                <a:solidFill>
                  <a:srgbClr val="2F5496"/>
                </a:solidFill>
                <a:latin typeface="Calibri"/>
                <a:cs typeface="Calibri"/>
              </a:rPr>
              <a:t> </a:t>
            </a:r>
            <a:r>
              <a:rPr sz="4500" b="1" dirty="0">
                <a:solidFill>
                  <a:srgbClr val="2F5496"/>
                </a:solidFill>
                <a:latin typeface="Calibri"/>
                <a:cs typeface="Calibri"/>
              </a:rPr>
              <a:t>1</a:t>
            </a:r>
            <a:r>
              <a:rPr lang="en-US" sz="4500" b="1" dirty="0">
                <a:solidFill>
                  <a:srgbClr val="2F5496"/>
                </a:solidFill>
                <a:latin typeface="Calibri"/>
                <a:cs typeface="Calibri"/>
              </a:rPr>
              <a:t>- Minimization of DFA</a:t>
            </a:r>
            <a:endParaRPr sz="45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734" y="7248708"/>
            <a:ext cx="6228715" cy="1029969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lang="en-US" sz="3000" b="1" spc="-5" dirty="0">
                <a:latin typeface="Calibri"/>
                <a:cs typeface="Calibri"/>
              </a:rPr>
              <a:t>Divyaprabha K N</a:t>
            </a:r>
            <a:endParaRPr sz="3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500" spc="-5" dirty="0">
                <a:latin typeface="Calibri"/>
                <a:cs typeface="Calibri"/>
              </a:rPr>
              <a:t>Department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of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Computer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Science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&amp;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Engineering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6605" y="7319416"/>
            <a:ext cx="1280795" cy="1437640"/>
          </a:xfrm>
          <a:custGeom>
            <a:avLst/>
            <a:gdLst/>
            <a:ahLst/>
            <a:cxnLst/>
            <a:rect l="l" t="t" r="r" b="b"/>
            <a:pathLst>
              <a:path w="1280795" h="1437640">
                <a:moveTo>
                  <a:pt x="1280274" y="1376553"/>
                </a:moveTo>
                <a:lnTo>
                  <a:pt x="54864" y="1376553"/>
                </a:lnTo>
                <a:lnTo>
                  <a:pt x="54864" y="0"/>
                </a:lnTo>
                <a:lnTo>
                  <a:pt x="0" y="0"/>
                </a:lnTo>
                <a:lnTo>
                  <a:pt x="0" y="1376553"/>
                </a:lnTo>
                <a:lnTo>
                  <a:pt x="0" y="1422501"/>
                </a:lnTo>
                <a:lnTo>
                  <a:pt x="0" y="1437513"/>
                </a:lnTo>
                <a:lnTo>
                  <a:pt x="1280274" y="1437513"/>
                </a:lnTo>
                <a:lnTo>
                  <a:pt x="1280274" y="1376553"/>
                </a:lnTo>
                <a:close/>
              </a:path>
            </a:pathLst>
          </a:custGeom>
          <a:solidFill>
            <a:srgbClr val="F4B0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462311"/>
            <a:ext cx="9484995" cy="92075"/>
          </a:xfrm>
          <a:custGeom>
            <a:avLst/>
            <a:gdLst/>
            <a:ahLst/>
            <a:cxnLst/>
            <a:rect l="l" t="t" r="r" b="b"/>
            <a:pathLst>
              <a:path w="9484995" h="92075">
                <a:moveTo>
                  <a:pt x="0" y="91499"/>
                </a:moveTo>
                <a:lnTo>
                  <a:pt x="9484799" y="0"/>
                </a:lnTo>
              </a:path>
            </a:pathLst>
          </a:custGeom>
          <a:ln w="38099">
            <a:solidFill>
              <a:srgbClr val="DEA2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5B85CE-6DF9-53F5-2D80-BB3851F96E71}"/>
              </a:ext>
            </a:extLst>
          </p:cNvPr>
          <p:cNvSpPr txBox="1"/>
          <p:nvPr/>
        </p:nvSpPr>
        <p:spPr>
          <a:xfrm>
            <a:off x="381000" y="2743200"/>
            <a:ext cx="10591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What is minimization of DFA? </a:t>
            </a:r>
          </a:p>
          <a:p>
            <a:endParaRPr lang="en-US" sz="2800" dirty="0"/>
          </a:p>
          <a:p>
            <a:pPr algn="just"/>
            <a:r>
              <a:rPr lang="en-US" sz="2800" dirty="0"/>
              <a:t>In automata theory (a branch of theoretical computer science ), DFA minimization is the task of transforming a given deterministic finite automaton (DFA) into an equivalent DFA that has a minimum number of states. Here, two DFAs are called equivalent if they recognize the same regular language .(definition from </a:t>
            </a:r>
            <a:r>
              <a:rPr lang="en-US" sz="2800" dirty="0" err="1"/>
              <a:t>wikipedia</a:t>
            </a:r>
            <a:r>
              <a:rPr lang="en-US" sz="2800"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5B85CE-6DF9-53F5-2D80-BB3851F96E71}"/>
              </a:ext>
            </a:extLst>
          </p:cNvPr>
          <p:cNvSpPr txBox="1"/>
          <p:nvPr/>
        </p:nvSpPr>
        <p:spPr>
          <a:xfrm>
            <a:off x="381000" y="2743200"/>
            <a:ext cx="13716000" cy="4409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b="1" dirty="0">
                <a:latin typeface="Cambria"/>
                <a:cs typeface="Cambria"/>
              </a:rPr>
              <a:t>Why</a:t>
            </a:r>
            <a:r>
              <a:rPr lang="en-US" sz="2800" b="1" spc="-35" dirty="0">
                <a:latin typeface="Cambria"/>
                <a:cs typeface="Cambria"/>
              </a:rPr>
              <a:t> </a:t>
            </a:r>
            <a:r>
              <a:rPr lang="en-US" sz="2800" b="1" dirty="0">
                <a:latin typeface="Cambria"/>
                <a:cs typeface="Cambria"/>
              </a:rPr>
              <a:t>one</a:t>
            </a:r>
            <a:r>
              <a:rPr lang="en-US" sz="2800" b="1" spc="-30" dirty="0">
                <a:latin typeface="Cambria"/>
                <a:cs typeface="Cambria"/>
              </a:rPr>
              <a:t> </a:t>
            </a:r>
            <a:r>
              <a:rPr lang="en-US" sz="2800" b="1" dirty="0">
                <a:latin typeface="Cambria"/>
                <a:cs typeface="Cambria"/>
              </a:rPr>
              <a:t>must</a:t>
            </a:r>
            <a:r>
              <a:rPr lang="en-US" sz="2800" b="1" spc="-35" dirty="0">
                <a:latin typeface="Cambria"/>
                <a:cs typeface="Cambria"/>
              </a:rPr>
              <a:t> </a:t>
            </a:r>
            <a:r>
              <a:rPr lang="en-US" sz="2800" b="1" dirty="0">
                <a:latin typeface="Cambria"/>
                <a:cs typeface="Cambria"/>
              </a:rPr>
              <a:t>reduce</a:t>
            </a:r>
            <a:r>
              <a:rPr lang="en-US" sz="2800" b="1" spc="-30" dirty="0">
                <a:latin typeface="Cambria"/>
                <a:cs typeface="Cambria"/>
              </a:rPr>
              <a:t> </a:t>
            </a:r>
            <a:r>
              <a:rPr lang="en-US" sz="2800" b="1" dirty="0">
                <a:latin typeface="Cambria"/>
                <a:cs typeface="Cambria"/>
              </a:rPr>
              <a:t>the</a:t>
            </a:r>
            <a:r>
              <a:rPr lang="en-US" sz="2800" b="1" spc="-30" dirty="0">
                <a:latin typeface="Cambria"/>
                <a:cs typeface="Cambria"/>
              </a:rPr>
              <a:t> </a:t>
            </a:r>
            <a:r>
              <a:rPr lang="en-US" sz="2800" b="1" dirty="0">
                <a:latin typeface="Cambria"/>
                <a:cs typeface="Cambria"/>
              </a:rPr>
              <a:t>number</a:t>
            </a:r>
            <a:r>
              <a:rPr lang="en-US" sz="2800" b="1" spc="-35" dirty="0">
                <a:latin typeface="Cambria"/>
                <a:cs typeface="Cambria"/>
              </a:rPr>
              <a:t> </a:t>
            </a:r>
            <a:r>
              <a:rPr lang="en-US" sz="2800" b="1" dirty="0">
                <a:latin typeface="Cambria"/>
                <a:cs typeface="Cambria"/>
              </a:rPr>
              <a:t>of</a:t>
            </a:r>
            <a:r>
              <a:rPr lang="en-US" sz="2800" b="1" spc="-30" dirty="0">
                <a:latin typeface="Cambria"/>
                <a:cs typeface="Cambria"/>
              </a:rPr>
              <a:t> </a:t>
            </a:r>
            <a:r>
              <a:rPr lang="en-US" sz="2800" b="1" dirty="0">
                <a:latin typeface="Cambria"/>
                <a:cs typeface="Cambria"/>
              </a:rPr>
              <a:t>states</a:t>
            </a:r>
            <a:r>
              <a:rPr lang="en-US" sz="2800" b="1" spc="-30" dirty="0">
                <a:latin typeface="Cambria"/>
                <a:cs typeface="Cambria"/>
              </a:rPr>
              <a:t> </a:t>
            </a:r>
            <a:r>
              <a:rPr lang="en-US" sz="2800" b="1" dirty="0">
                <a:latin typeface="Cambria"/>
                <a:cs typeface="Cambria"/>
              </a:rPr>
              <a:t>in</a:t>
            </a:r>
            <a:r>
              <a:rPr lang="en-US" sz="2800" b="1" spc="-35" dirty="0">
                <a:latin typeface="Cambria"/>
                <a:cs typeface="Cambria"/>
              </a:rPr>
              <a:t> </a:t>
            </a:r>
            <a:r>
              <a:rPr lang="en-US" sz="2800" b="1" spc="-20" dirty="0">
                <a:latin typeface="Cambria"/>
                <a:cs typeface="Cambria"/>
              </a:rPr>
              <a:t>DFA?</a:t>
            </a:r>
            <a:endParaRPr lang="en-US" sz="2800" dirty="0">
              <a:latin typeface="Cambria"/>
              <a:cs typeface="Cambria"/>
            </a:endParaRPr>
          </a:p>
          <a:p>
            <a:pPr marL="12700" marR="5080" indent="457200" algn="just">
              <a:lnSpc>
                <a:spcPct val="113599"/>
              </a:lnSpc>
              <a:spcBef>
                <a:spcPts val="100"/>
              </a:spcBef>
            </a:pPr>
            <a:endParaRPr lang="en-US" sz="2800" dirty="0"/>
          </a:p>
          <a:p>
            <a:pPr marL="12700" marR="5080" indent="457200" algn="just">
              <a:lnSpc>
                <a:spcPct val="113599"/>
              </a:lnSpc>
              <a:spcBef>
                <a:spcPts val="100"/>
              </a:spcBef>
            </a:pPr>
            <a:r>
              <a:rPr lang="en-US" sz="2800" dirty="0">
                <a:latin typeface="Cambria"/>
                <a:cs typeface="Cambria"/>
              </a:rPr>
              <a:t>When</a:t>
            </a:r>
            <a:r>
              <a:rPr lang="en-US" sz="2800" spc="9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constructing</a:t>
            </a:r>
            <a:r>
              <a:rPr lang="en-US" sz="2800" spc="9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NFA</a:t>
            </a:r>
            <a:r>
              <a:rPr lang="en-US" sz="2800" spc="9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from</a:t>
            </a:r>
            <a:r>
              <a:rPr lang="en-US" sz="2800" spc="10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regular</a:t>
            </a:r>
            <a:r>
              <a:rPr lang="en-US" sz="2800" spc="9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expression</a:t>
            </a:r>
            <a:r>
              <a:rPr lang="en-US" sz="2800" spc="9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and</a:t>
            </a:r>
            <a:r>
              <a:rPr lang="en-US" sz="2800" spc="10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converting</a:t>
            </a:r>
            <a:r>
              <a:rPr lang="en-US" sz="2800" spc="3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the</a:t>
            </a:r>
            <a:r>
              <a:rPr lang="en-US" sz="2800" spc="4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resultant</a:t>
            </a:r>
            <a:r>
              <a:rPr lang="en-US" sz="2800" spc="4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NFA</a:t>
            </a:r>
            <a:r>
              <a:rPr lang="en-US" sz="2800" spc="4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to</a:t>
            </a:r>
            <a:r>
              <a:rPr lang="en-US" sz="2800" spc="40" dirty="0">
                <a:latin typeface="Cambria"/>
                <a:cs typeface="Cambria"/>
              </a:rPr>
              <a:t> </a:t>
            </a:r>
            <a:r>
              <a:rPr lang="en-US" sz="2800" spc="-25" dirty="0">
                <a:latin typeface="Cambria"/>
                <a:cs typeface="Cambria"/>
              </a:rPr>
              <a:t>DFA </a:t>
            </a:r>
            <a:r>
              <a:rPr lang="en-US" sz="2800" dirty="0">
                <a:latin typeface="Cambria"/>
                <a:cs typeface="Cambria"/>
              </a:rPr>
              <a:t>using</a:t>
            </a:r>
            <a:r>
              <a:rPr lang="en-US" sz="2800" spc="4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subset</a:t>
            </a:r>
            <a:r>
              <a:rPr lang="en-US" sz="2800" spc="4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construction</a:t>
            </a:r>
            <a:r>
              <a:rPr lang="en-US" sz="2800" spc="4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method,</a:t>
            </a:r>
            <a:r>
              <a:rPr lang="en-US" sz="2800" spc="5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the</a:t>
            </a:r>
            <a:r>
              <a:rPr lang="en-US" sz="2800" spc="4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resulting</a:t>
            </a:r>
            <a:r>
              <a:rPr lang="en-US" sz="2800" spc="4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DFA</a:t>
            </a:r>
            <a:r>
              <a:rPr lang="en-US" sz="2800" spc="4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may</a:t>
            </a:r>
            <a:r>
              <a:rPr lang="en-US" sz="2800" spc="4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not</a:t>
            </a:r>
            <a:r>
              <a:rPr lang="en-US" sz="2800" spc="5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always</a:t>
            </a:r>
            <a:r>
              <a:rPr lang="en-US" sz="2800" spc="4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be</a:t>
            </a:r>
            <a:r>
              <a:rPr lang="en-US" sz="2800" spc="4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the</a:t>
            </a:r>
            <a:r>
              <a:rPr lang="en-US" sz="2800" spc="4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smallest</a:t>
            </a:r>
            <a:r>
              <a:rPr lang="en-US" sz="2800" spc="5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one</a:t>
            </a:r>
            <a:r>
              <a:rPr lang="en-US" sz="2800" spc="4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with</a:t>
            </a:r>
            <a:r>
              <a:rPr lang="en-US" sz="2800" spc="45" dirty="0">
                <a:latin typeface="Cambria"/>
                <a:cs typeface="Cambria"/>
              </a:rPr>
              <a:t> </a:t>
            </a:r>
            <a:r>
              <a:rPr lang="en-US" sz="2800" spc="-20" dirty="0">
                <a:latin typeface="Cambria"/>
                <a:cs typeface="Cambria"/>
              </a:rPr>
              <a:t>less </a:t>
            </a:r>
            <a:r>
              <a:rPr lang="en-US" sz="2800" dirty="0">
                <a:latin typeface="Cambria"/>
                <a:cs typeface="Cambria"/>
              </a:rPr>
              <a:t>number</a:t>
            </a:r>
            <a:r>
              <a:rPr lang="en-US" sz="2800" spc="19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of</a:t>
            </a:r>
            <a:r>
              <a:rPr lang="en-US" sz="2800" spc="19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states</a:t>
            </a:r>
            <a:r>
              <a:rPr lang="en-US" sz="2800" spc="19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accepting</a:t>
            </a:r>
            <a:r>
              <a:rPr lang="en-US" sz="2800" spc="12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the</a:t>
            </a:r>
            <a:r>
              <a:rPr lang="en-US" sz="2800" spc="120" dirty="0">
                <a:latin typeface="Cambria"/>
                <a:cs typeface="Cambria"/>
              </a:rPr>
              <a:t> </a:t>
            </a:r>
            <a:r>
              <a:rPr lang="en-US" sz="2800" dirty="0" err="1">
                <a:latin typeface="Cambria"/>
                <a:cs typeface="Cambria"/>
              </a:rPr>
              <a:t>smme</a:t>
            </a:r>
            <a:r>
              <a:rPr lang="en-US" sz="2800" spc="49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class</a:t>
            </a:r>
            <a:r>
              <a:rPr lang="en-US" sz="2800" spc="12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of</a:t>
            </a:r>
            <a:r>
              <a:rPr lang="en-US" sz="2800" spc="12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languages.</a:t>
            </a:r>
            <a:r>
              <a:rPr lang="en-US" sz="2800" spc="12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It</a:t>
            </a:r>
            <a:r>
              <a:rPr lang="en-US" sz="2800" spc="12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is</a:t>
            </a:r>
            <a:r>
              <a:rPr lang="en-US" sz="2800" spc="12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always</a:t>
            </a:r>
            <a:r>
              <a:rPr lang="en-US" sz="2800" spc="12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desirable</a:t>
            </a:r>
            <a:r>
              <a:rPr lang="en-US" sz="2800" spc="12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to</a:t>
            </a:r>
            <a:r>
              <a:rPr lang="en-US" sz="2800" spc="12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minimize</a:t>
            </a:r>
            <a:r>
              <a:rPr lang="en-US" sz="2800" spc="120" dirty="0">
                <a:latin typeface="Cambria"/>
                <a:cs typeface="Cambria"/>
              </a:rPr>
              <a:t> </a:t>
            </a:r>
            <a:r>
              <a:rPr lang="en-US" sz="2800" spc="-25" dirty="0">
                <a:latin typeface="Cambria"/>
                <a:cs typeface="Cambria"/>
              </a:rPr>
              <a:t>the </a:t>
            </a:r>
            <a:r>
              <a:rPr lang="en-US" sz="2800" dirty="0">
                <a:latin typeface="Cambria"/>
                <a:cs typeface="Cambria"/>
              </a:rPr>
              <a:t>automata</a:t>
            </a:r>
            <a:r>
              <a:rPr lang="en-US" sz="2800" spc="48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where</a:t>
            </a:r>
            <a:r>
              <a:rPr lang="en-US" sz="2800" spc="114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the</a:t>
            </a:r>
            <a:r>
              <a:rPr lang="en-US" sz="2800" spc="114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implementation</a:t>
            </a:r>
            <a:r>
              <a:rPr lang="en-US" sz="2800" spc="114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of</a:t>
            </a:r>
            <a:r>
              <a:rPr lang="en-US" sz="2800" spc="114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the</a:t>
            </a:r>
            <a:r>
              <a:rPr lang="en-US" sz="2800" spc="114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minimized</a:t>
            </a:r>
            <a:r>
              <a:rPr lang="en-US" sz="2800" spc="5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DFA</a:t>
            </a:r>
            <a:r>
              <a:rPr lang="en-US" sz="2800" spc="5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will</a:t>
            </a:r>
            <a:r>
              <a:rPr lang="en-US" sz="2800" spc="5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be</a:t>
            </a:r>
            <a:r>
              <a:rPr lang="en-US" sz="2800" spc="5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more</a:t>
            </a:r>
            <a:r>
              <a:rPr lang="en-US" sz="2800" spc="5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efficient</a:t>
            </a:r>
            <a:r>
              <a:rPr lang="en-US" sz="2800" spc="5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the</a:t>
            </a:r>
            <a:r>
              <a:rPr lang="en-US" sz="2800" spc="5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in</a:t>
            </a:r>
            <a:r>
              <a:rPr lang="en-US" sz="2800" spc="5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terms</a:t>
            </a:r>
            <a:r>
              <a:rPr lang="en-US" sz="2800" spc="55" dirty="0">
                <a:latin typeface="Cambria"/>
                <a:cs typeface="Cambria"/>
              </a:rPr>
              <a:t> </a:t>
            </a:r>
            <a:r>
              <a:rPr lang="en-US" sz="2800" spc="-25" dirty="0">
                <a:latin typeface="Cambria"/>
                <a:cs typeface="Cambria"/>
              </a:rPr>
              <a:t>of </a:t>
            </a:r>
            <a:r>
              <a:rPr lang="en-US" sz="2800" dirty="0">
                <a:latin typeface="Cambria"/>
                <a:cs typeface="Cambria"/>
              </a:rPr>
              <a:t>space</a:t>
            </a:r>
            <a:r>
              <a:rPr lang="en-US" sz="2800" spc="-2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and</a:t>
            </a:r>
            <a:r>
              <a:rPr lang="en-US" sz="2800" spc="-2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speed</a:t>
            </a:r>
            <a:r>
              <a:rPr lang="en-US" sz="2800" spc="-20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of</a:t>
            </a:r>
            <a:r>
              <a:rPr lang="en-US" sz="2800" spc="-25" dirty="0">
                <a:latin typeface="Cambria"/>
                <a:cs typeface="Cambria"/>
              </a:rPr>
              <a:t> </a:t>
            </a:r>
            <a:r>
              <a:rPr lang="en-US" sz="2800" spc="-10" dirty="0">
                <a:latin typeface="Cambria"/>
                <a:cs typeface="Cambria"/>
              </a:rPr>
              <a:t>execution</a:t>
            </a:r>
            <a:endParaRPr lang="en-US" sz="2800" dirty="0">
              <a:latin typeface="Cambria"/>
              <a:cs typeface="Cambria"/>
            </a:endParaRPr>
          </a:p>
          <a:p>
            <a:pPr>
              <a:spcBef>
                <a:spcPts val="390"/>
              </a:spcBef>
            </a:pPr>
            <a:endParaRPr lang="en-US" sz="2800" dirty="0">
              <a:latin typeface="Cambria"/>
              <a:cs typeface="Cambria"/>
            </a:endParaRPr>
          </a:p>
          <a:p>
            <a:pPr marL="12700"/>
            <a:r>
              <a:rPr lang="en-US" sz="2800" dirty="0">
                <a:latin typeface="Cambria"/>
                <a:cs typeface="Cambria"/>
              </a:rPr>
              <a:t>Note:</a:t>
            </a:r>
            <a:r>
              <a:rPr lang="en-US" sz="2800" spc="-1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The</a:t>
            </a:r>
            <a:r>
              <a:rPr lang="en-US" sz="2800" spc="-1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minimal</a:t>
            </a:r>
            <a:r>
              <a:rPr lang="en-US" sz="2800" spc="-15" dirty="0">
                <a:latin typeface="Cambria"/>
                <a:cs typeface="Cambria"/>
              </a:rPr>
              <a:t> </a:t>
            </a:r>
            <a:r>
              <a:rPr lang="en-US" sz="2800" spc="-10" dirty="0">
                <a:latin typeface="Cambria"/>
                <a:cs typeface="Cambria"/>
              </a:rPr>
              <a:t>equivalent</a:t>
            </a:r>
            <a:r>
              <a:rPr lang="en-US" sz="2800" spc="-15" dirty="0">
                <a:latin typeface="Cambria"/>
                <a:cs typeface="Cambria"/>
              </a:rPr>
              <a:t> </a:t>
            </a:r>
            <a:r>
              <a:rPr lang="en-US" sz="2800" spc="-20" dirty="0">
                <a:latin typeface="Cambria"/>
                <a:cs typeface="Cambria"/>
              </a:rPr>
              <a:t>DFA</a:t>
            </a:r>
            <a:r>
              <a:rPr lang="en-US" sz="2800" spc="-1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is</a:t>
            </a:r>
            <a:r>
              <a:rPr lang="en-US" sz="2800" spc="-1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unique</a:t>
            </a:r>
            <a:r>
              <a:rPr lang="en-US" sz="2800" spc="-1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up</a:t>
            </a:r>
            <a:r>
              <a:rPr lang="en-US" sz="2800" spc="-1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to</a:t>
            </a:r>
            <a:r>
              <a:rPr lang="en-US" sz="2800" spc="-1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naming</a:t>
            </a:r>
            <a:r>
              <a:rPr lang="en-US" sz="2800" spc="-1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of</a:t>
            </a:r>
            <a:r>
              <a:rPr lang="en-US" sz="2800" spc="-15" dirty="0">
                <a:latin typeface="Cambria"/>
                <a:cs typeface="Cambria"/>
              </a:rPr>
              <a:t> </a:t>
            </a:r>
            <a:r>
              <a:rPr lang="en-US" sz="2800" dirty="0">
                <a:latin typeface="Cambria"/>
                <a:cs typeface="Cambria"/>
              </a:rPr>
              <a:t>the</a:t>
            </a:r>
            <a:r>
              <a:rPr lang="en-US" sz="2800" spc="-15" dirty="0">
                <a:latin typeface="Cambria"/>
                <a:cs typeface="Cambria"/>
              </a:rPr>
              <a:t> </a:t>
            </a:r>
            <a:r>
              <a:rPr lang="en-US" sz="2800" spc="-10" dirty="0">
                <a:latin typeface="Cambria"/>
                <a:cs typeface="Cambria"/>
              </a:rPr>
              <a:t>states</a:t>
            </a:r>
            <a:endParaRPr lang="en-US" sz="28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242191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5B85CE-6DF9-53F5-2D80-BB3851F96E71}"/>
              </a:ext>
            </a:extLst>
          </p:cNvPr>
          <p:cNvSpPr txBox="1"/>
          <p:nvPr/>
        </p:nvSpPr>
        <p:spPr>
          <a:xfrm>
            <a:off x="685800" y="2362200"/>
            <a:ext cx="13106400" cy="512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" marR="40640">
              <a:lnSpc>
                <a:spcPct val="114599"/>
              </a:lnSpc>
              <a:spcBef>
                <a:spcPts val="100"/>
              </a:spcBef>
              <a:buSzPct val="94444"/>
              <a:tabLst>
                <a:tab pos="238760" algn="l"/>
              </a:tabLst>
            </a:pPr>
            <a:r>
              <a:rPr lang="en-US" sz="2000" b="1" dirty="0">
                <a:latin typeface="Cambria"/>
                <a:cs typeface="Cambria"/>
              </a:rPr>
              <a:t>Algorithm</a:t>
            </a:r>
            <a:r>
              <a:rPr lang="en-US" sz="2000" b="1" spc="105" dirty="0">
                <a:latin typeface="Cambria"/>
                <a:cs typeface="Cambria"/>
              </a:rPr>
              <a:t> </a:t>
            </a:r>
            <a:r>
              <a:rPr lang="en-US" sz="2000" b="1" dirty="0">
                <a:latin typeface="Cambria"/>
                <a:cs typeface="Cambria"/>
              </a:rPr>
              <a:t>to</a:t>
            </a:r>
            <a:r>
              <a:rPr lang="en-US" sz="2000" b="1" spc="110" dirty="0">
                <a:latin typeface="Cambria"/>
                <a:cs typeface="Cambria"/>
              </a:rPr>
              <a:t> </a:t>
            </a:r>
            <a:r>
              <a:rPr lang="en-US" sz="2000" b="1" dirty="0">
                <a:latin typeface="Cambria"/>
                <a:cs typeface="Cambria"/>
              </a:rPr>
              <a:t>Minimize/reduce</a:t>
            </a:r>
            <a:r>
              <a:rPr lang="en-US" sz="2000" b="1" spc="40" dirty="0">
                <a:latin typeface="Cambria"/>
                <a:cs typeface="Cambria"/>
              </a:rPr>
              <a:t> </a:t>
            </a:r>
            <a:r>
              <a:rPr lang="en-US" sz="2000" b="1" dirty="0">
                <a:latin typeface="Cambria"/>
                <a:cs typeface="Cambria"/>
              </a:rPr>
              <a:t>the</a:t>
            </a:r>
            <a:r>
              <a:rPr lang="en-US" sz="2000" b="1" spc="40" dirty="0">
                <a:latin typeface="Cambria"/>
                <a:cs typeface="Cambria"/>
              </a:rPr>
              <a:t> </a:t>
            </a:r>
            <a:r>
              <a:rPr lang="en-US" sz="2000" b="1" dirty="0">
                <a:latin typeface="Cambria"/>
                <a:cs typeface="Cambria"/>
              </a:rPr>
              <a:t>number</a:t>
            </a:r>
            <a:r>
              <a:rPr lang="en-US" sz="2000" b="1" spc="40" dirty="0">
                <a:latin typeface="Cambria"/>
                <a:cs typeface="Cambria"/>
              </a:rPr>
              <a:t> </a:t>
            </a:r>
            <a:r>
              <a:rPr lang="en-US" sz="2000" b="1" dirty="0">
                <a:latin typeface="Cambria"/>
                <a:cs typeface="Cambria"/>
              </a:rPr>
              <a:t>of</a:t>
            </a:r>
            <a:r>
              <a:rPr lang="en-US" sz="2000" b="1" spc="40" dirty="0">
                <a:latin typeface="Cambria"/>
                <a:cs typeface="Cambria"/>
              </a:rPr>
              <a:t> </a:t>
            </a:r>
            <a:r>
              <a:rPr lang="en-US" sz="2000" b="1" dirty="0">
                <a:latin typeface="Cambria"/>
                <a:cs typeface="Cambria"/>
              </a:rPr>
              <a:t>states</a:t>
            </a:r>
            <a:r>
              <a:rPr lang="en-US" sz="2000" b="1" spc="35" dirty="0">
                <a:latin typeface="Cambria"/>
                <a:cs typeface="Cambria"/>
              </a:rPr>
              <a:t> </a:t>
            </a:r>
            <a:r>
              <a:rPr lang="en-US" sz="2000" b="1" spc="-25" dirty="0">
                <a:latin typeface="Cambria"/>
                <a:cs typeface="Cambria"/>
              </a:rPr>
              <a:t>in DFA</a:t>
            </a:r>
            <a:endParaRPr lang="en-US" sz="2000" dirty="0">
              <a:latin typeface="Cambria"/>
              <a:cs typeface="Cambria"/>
            </a:endParaRPr>
          </a:p>
          <a:p>
            <a:pPr marL="50800">
              <a:spcBef>
                <a:spcPts val="1840"/>
              </a:spcBef>
            </a:pPr>
            <a:r>
              <a:rPr lang="en-US" sz="2000" b="1" spc="-20" dirty="0">
                <a:latin typeface="Cambria"/>
                <a:cs typeface="Cambria"/>
              </a:rPr>
              <a:t>Table</a:t>
            </a:r>
            <a:r>
              <a:rPr lang="en-US" sz="2000" b="1" spc="-45" dirty="0">
                <a:latin typeface="Cambria"/>
                <a:cs typeface="Cambria"/>
              </a:rPr>
              <a:t> </a:t>
            </a:r>
            <a:r>
              <a:rPr lang="en-US" sz="2000" b="1" dirty="0">
                <a:latin typeface="Cambria"/>
                <a:cs typeface="Cambria"/>
              </a:rPr>
              <a:t>filling</a:t>
            </a:r>
            <a:r>
              <a:rPr lang="en-US" sz="2000" b="1" spc="-40" dirty="0">
                <a:latin typeface="Cambria"/>
                <a:cs typeface="Cambria"/>
              </a:rPr>
              <a:t> </a:t>
            </a:r>
            <a:r>
              <a:rPr lang="en-US" sz="2000" b="1" spc="-10" dirty="0">
                <a:latin typeface="Cambria"/>
                <a:cs typeface="Cambria"/>
              </a:rPr>
              <a:t>Algorithm:</a:t>
            </a:r>
            <a:endParaRPr lang="en-US" sz="2000" dirty="0">
              <a:latin typeface="Cambria"/>
              <a:cs typeface="Cambria"/>
            </a:endParaRPr>
          </a:p>
          <a:p>
            <a:pPr>
              <a:spcBef>
                <a:spcPts val="550"/>
              </a:spcBef>
            </a:pPr>
            <a:endParaRPr lang="en-US" sz="2000" dirty="0">
              <a:latin typeface="Cambria"/>
              <a:cs typeface="Cambria"/>
            </a:endParaRPr>
          </a:p>
          <a:p>
            <a:pPr marL="50800"/>
            <a:r>
              <a:rPr lang="en-US" sz="2000" dirty="0">
                <a:latin typeface="Cambria"/>
                <a:cs typeface="Cambria"/>
              </a:rPr>
              <a:t>Let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spc="-20" dirty="0">
                <a:latin typeface="Cambria"/>
                <a:cs typeface="Cambria"/>
              </a:rPr>
              <a:t>DFA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be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D=(Q, </a:t>
            </a:r>
            <a:r>
              <a:rPr lang="en-US" sz="2000" dirty="0">
                <a:latin typeface="Times New Roman"/>
                <a:cs typeface="Times New Roman"/>
              </a:rPr>
              <a:t>∑</a:t>
            </a:r>
            <a:r>
              <a:rPr lang="en-US" sz="2000" dirty="0">
                <a:latin typeface="Cambria"/>
                <a:cs typeface="Cambria"/>
              </a:rPr>
              <a:t>,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δ</a:t>
            </a:r>
            <a:r>
              <a:rPr lang="en-US" sz="2000" dirty="0">
                <a:latin typeface="Cambria"/>
                <a:cs typeface="Cambria"/>
              </a:rPr>
              <a:t>, q</a:t>
            </a:r>
            <a:r>
              <a:rPr lang="en-US" sz="2000" baseline="-23809" dirty="0">
                <a:latin typeface="Cambria"/>
                <a:cs typeface="Cambria"/>
              </a:rPr>
              <a:t>0</a:t>
            </a:r>
            <a:r>
              <a:rPr lang="en-US" sz="2000" spc="150" baseline="-23809" dirty="0">
                <a:latin typeface="Cambria"/>
                <a:cs typeface="Cambria"/>
              </a:rPr>
              <a:t> </a:t>
            </a:r>
            <a:r>
              <a:rPr lang="en-US" sz="2000" spc="-25" dirty="0">
                <a:latin typeface="Cambria"/>
                <a:cs typeface="Cambria"/>
              </a:rPr>
              <a:t>F),</a:t>
            </a:r>
            <a:endParaRPr lang="en-US" sz="2000" dirty="0">
              <a:latin typeface="Cambria"/>
              <a:cs typeface="Cambria"/>
            </a:endParaRPr>
          </a:p>
          <a:p>
            <a:pPr marL="50800">
              <a:spcBef>
                <a:spcPts val="210"/>
              </a:spcBef>
            </a:pP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table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filling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algorithm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for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minimizing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given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spc="-30" dirty="0">
                <a:latin typeface="Cambria"/>
                <a:cs typeface="Cambria"/>
              </a:rPr>
              <a:t>DFA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is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as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follows:</a:t>
            </a:r>
            <a:endParaRPr lang="en-US" sz="2000" dirty="0">
              <a:latin typeface="Cambria"/>
              <a:cs typeface="Cambria"/>
            </a:endParaRPr>
          </a:p>
          <a:p>
            <a:pPr marL="506095" marR="43180" lvl="1" indent="-227329">
              <a:lnSpc>
                <a:spcPct val="114599"/>
              </a:lnSpc>
              <a:buAutoNum type="arabicParenR"/>
              <a:tabLst>
                <a:tab pos="507365" algn="l"/>
              </a:tabLst>
            </a:pPr>
            <a:r>
              <a:rPr lang="en-US" sz="2000" dirty="0">
                <a:latin typeface="Cambria"/>
                <a:cs typeface="Cambria"/>
              </a:rPr>
              <a:t>Construct</a:t>
            </a:r>
            <a:r>
              <a:rPr lang="en-US" sz="2000" spc="6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</a:t>
            </a:r>
            <a:r>
              <a:rPr lang="en-US" sz="2000" spc="31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table(triangular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matrix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table)</a:t>
            </a:r>
            <a:r>
              <a:rPr lang="en-US" sz="2000" spc="25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of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pairs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(</a:t>
            </a:r>
            <a:r>
              <a:rPr lang="en-US" sz="2000" dirty="0" err="1">
                <a:latin typeface="Cambria"/>
                <a:cs typeface="Cambria"/>
              </a:rPr>
              <a:t>x,y</a:t>
            </a:r>
            <a:r>
              <a:rPr lang="en-US" sz="2000" dirty="0">
                <a:latin typeface="Cambria"/>
                <a:cs typeface="Cambria"/>
              </a:rPr>
              <a:t>)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where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x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and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y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are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states  </a:t>
            </a:r>
            <a:r>
              <a:rPr lang="en-US" sz="2000" dirty="0">
                <a:latin typeface="Cambria"/>
                <a:cs typeface="Cambria"/>
              </a:rPr>
              <a:t>in</a:t>
            </a:r>
            <a:r>
              <a:rPr lang="en-US" sz="2000" spc="-20" dirty="0">
                <a:latin typeface="Cambria"/>
                <a:cs typeface="Cambria"/>
              </a:rPr>
              <a:t> DFA, </a:t>
            </a:r>
            <a:r>
              <a:rPr lang="en-US" sz="2000" dirty="0" err="1">
                <a:latin typeface="Cambria"/>
                <a:cs typeface="Cambria"/>
              </a:rPr>
              <a:t>x,y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Symbol"/>
                <a:cs typeface="Symbol"/>
              </a:rPr>
              <a:t>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Cambria"/>
                <a:cs typeface="Cambria"/>
              </a:rPr>
              <a:t>Q,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initially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all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entries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in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table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are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unmarked</a:t>
            </a:r>
            <a:endParaRPr lang="en-US" sz="2000" dirty="0">
              <a:latin typeface="Cambria"/>
              <a:cs typeface="Cambria"/>
            </a:endParaRPr>
          </a:p>
          <a:p>
            <a:pPr marL="506095" marR="46355" lvl="1" indent="-227329">
              <a:lnSpc>
                <a:spcPct val="114599"/>
              </a:lnSpc>
              <a:buFont typeface="Times New Roman"/>
              <a:buAutoNum type="arabicParenR"/>
              <a:tabLst>
                <a:tab pos="507365" algn="l"/>
              </a:tabLst>
            </a:pPr>
            <a:r>
              <a:rPr lang="en-US" sz="2000" dirty="0">
                <a:latin typeface="Cambria"/>
                <a:cs typeface="Cambria"/>
              </a:rPr>
              <a:t>Mark</a:t>
            </a:r>
            <a:r>
              <a:rPr lang="en-US" sz="2000" spc="1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1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pair(</a:t>
            </a:r>
            <a:r>
              <a:rPr lang="en-US" sz="2000" dirty="0" err="1">
                <a:latin typeface="Cambria"/>
                <a:cs typeface="Cambria"/>
              </a:rPr>
              <a:t>x,y</a:t>
            </a:r>
            <a:r>
              <a:rPr lang="en-US" sz="2000" dirty="0">
                <a:latin typeface="Cambria"/>
                <a:cs typeface="Cambria"/>
              </a:rPr>
              <a:t>)</a:t>
            </a:r>
            <a:r>
              <a:rPr lang="en-US" sz="2000" spc="1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if</a:t>
            </a:r>
            <a:r>
              <a:rPr lang="en-US" sz="2000" spc="1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x</a:t>
            </a:r>
            <a:r>
              <a:rPr lang="en-US" sz="2000" spc="1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Symbol"/>
                <a:cs typeface="Symbol"/>
              </a:rPr>
              <a:t></a:t>
            </a:r>
            <a:r>
              <a:rPr lang="en-US" sz="2000" spc="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Cambria"/>
                <a:cs typeface="Cambria"/>
              </a:rPr>
              <a:t>F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and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y</a:t>
            </a:r>
            <a:r>
              <a:rPr lang="en-US" sz="2000" spc="5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Symbol"/>
                <a:cs typeface="Symbol"/>
              </a:rPr>
              <a:t></a:t>
            </a:r>
            <a:r>
              <a:rPr lang="en-US" sz="2000" spc="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Cambria"/>
                <a:cs typeface="Cambria"/>
              </a:rPr>
              <a:t>F</a:t>
            </a:r>
            <a:r>
              <a:rPr lang="en-US" sz="2000" spc="5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and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5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other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way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around</a:t>
            </a:r>
            <a:r>
              <a:rPr lang="en-US" sz="2000" spc="5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.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this</a:t>
            </a:r>
            <a:r>
              <a:rPr lang="en-US" sz="2000" spc="5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marked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pairs  </a:t>
            </a:r>
            <a:r>
              <a:rPr lang="en-US" sz="2000" dirty="0">
                <a:latin typeface="Cambria"/>
                <a:cs typeface="Cambria"/>
              </a:rPr>
              <a:t>are</a:t>
            </a:r>
            <a:r>
              <a:rPr lang="en-US" sz="2000" spc="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called</a:t>
            </a:r>
            <a:r>
              <a:rPr lang="en-US" sz="2000" spc="10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distinguishable</a:t>
            </a:r>
            <a:r>
              <a:rPr lang="en-US" sz="2000" spc="10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pairs.</a:t>
            </a:r>
            <a:endParaRPr lang="en-US" sz="2000" dirty="0">
              <a:latin typeface="Cambria"/>
              <a:cs typeface="Cambria"/>
            </a:endParaRPr>
          </a:p>
          <a:p>
            <a:pPr marL="506095" marR="48260" lvl="1" indent="-227329">
              <a:lnSpc>
                <a:spcPct val="114599"/>
              </a:lnSpc>
              <a:buAutoNum type="arabicParenR"/>
              <a:tabLst>
                <a:tab pos="507365" algn="l"/>
              </a:tabLst>
            </a:pPr>
            <a:r>
              <a:rPr lang="en-US" sz="2000" dirty="0">
                <a:latin typeface="Cambria"/>
                <a:cs typeface="Cambria"/>
              </a:rPr>
              <a:t>Repeat</a:t>
            </a:r>
            <a:r>
              <a:rPr lang="en-US" sz="2000" spc="1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13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following</a:t>
            </a:r>
            <a:r>
              <a:rPr lang="en-US" sz="2000" spc="13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step</a:t>
            </a:r>
            <a:r>
              <a:rPr lang="en-US" sz="2000" spc="1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up</a:t>
            </a:r>
            <a:r>
              <a:rPr lang="en-US" sz="2000" spc="13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till</a:t>
            </a:r>
            <a:r>
              <a:rPr lang="en-US" sz="2000" spc="13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you</a:t>
            </a:r>
            <a:r>
              <a:rPr lang="en-US" sz="2000" spc="1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make</a:t>
            </a:r>
            <a:r>
              <a:rPr lang="en-US" sz="2000" spc="13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an</a:t>
            </a:r>
            <a:r>
              <a:rPr lang="en-US" sz="2000" spc="13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entire</a:t>
            </a:r>
            <a:r>
              <a:rPr lang="en-US" sz="2000" spc="1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pass</a:t>
            </a:r>
            <a:r>
              <a:rPr lang="en-US" sz="2000" spc="13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of</a:t>
            </a:r>
            <a:r>
              <a:rPr lang="en-US" sz="2000" spc="13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table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and</a:t>
            </a:r>
            <a:r>
              <a:rPr lang="en-US" sz="2000" spc="6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no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spc="-25" dirty="0">
                <a:latin typeface="Cambria"/>
                <a:cs typeface="Cambria"/>
              </a:rPr>
              <a:t>new 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gets</a:t>
            </a:r>
            <a:r>
              <a:rPr lang="en-US" sz="2000" spc="-10" dirty="0">
                <a:latin typeface="Cambria"/>
                <a:cs typeface="Cambria"/>
              </a:rPr>
              <a:t> marked:</a:t>
            </a:r>
            <a:endParaRPr lang="en-US" sz="2000" dirty="0">
              <a:latin typeface="Cambria"/>
              <a:cs typeface="Cambria"/>
            </a:endParaRPr>
          </a:p>
          <a:p>
            <a:pPr marL="964565">
              <a:spcBef>
                <a:spcPts val="210"/>
              </a:spcBef>
            </a:pPr>
            <a:r>
              <a:rPr lang="en-US" sz="2000" dirty="0">
                <a:latin typeface="Cambria"/>
                <a:cs typeface="Cambria"/>
              </a:rPr>
              <a:t>If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(</a:t>
            </a:r>
            <a:r>
              <a:rPr lang="en-US" sz="2000" dirty="0" err="1">
                <a:latin typeface="Cambria"/>
                <a:cs typeface="Cambria"/>
              </a:rPr>
              <a:t>x,y</a:t>
            </a:r>
            <a:r>
              <a:rPr lang="en-US" sz="2000" dirty="0">
                <a:latin typeface="Cambria"/>
                <a:cs typeface="Cambria"/>
              </a:rPr>
              <a:t>)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is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unmarked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and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there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exists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symbol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‘a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Symbol"/>
                <a:cs typeface="Symbol"/>
              </a:rPr>
              <a:t>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Σ</a:t>
            </a:r>
            <a:r>
              <a:rPr lang="en-US" sz="2000" dirty="0">
                <a:latin typeface="Cambria"/>
                <a:cs typeface="Cambria"/>
              </a:rPr>
              <a:t>’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such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that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10" dirty="0">
                <a:latin typeface="Cambria"/>
                <a:cs typeface="Cambria"/>
              </a:rPr>
              <a:t> {</a:t>
            </a:r>
            <a:r>
              <a:rPr lang="en-US" sz="2000" spc="-10" dirty="0">
                <a:latin typeface="Times New Roman"/>
                <a:cs typeface="Times New Roman"/>
              </a:rPr>
              <a:t>δ</a:t>
            </a:r>
            <a:r>
              <a:rPr lang="en-US" sz="2000" spc="-10" dirty="0">
                <a:latin typeface="Cambria"/>
                <a:cs typeface="Cambria"/>
              </a:rPr>
              <a:t>(</a:t>
            </a:r>
            <a:r>
              <a:rPr lang="en-US" sz="2000" spc="-10" dirty="0" err="1">
                <a:latin typeface="Cambria"/>
                <a:cs typeface="Cambria"/>
              </a:rPr>
              <a:t>x,a</a:t>
            </a:r>
            <a:r>
              <a:rPr lang="en-US" sz="2000" spc="-10" dirty="0">
                <a:latin typeface="Cambria"/>
                <a:cs typeface="Cambria"/>
              </a:rPr>
              <a:t>),</a:t>
            </a:r>
            <a:endParaRPr lang="en-US" sz="2000" dirty="0">
              <a:latin typeface="Cambria"/>
              <a:cs typeface="Cambria"/>
            </a:endParaRPr>
          </a:p>
          <a:p>
            <a:pPr marL="507365">
              <a:spcBef>
                <a:spcPts val="210"/>
              </a:spcBef>
            </a:pPr>
            <a:r>
              <a:rPr lang="en-US" sz="2000" dirty="0">
                <a:latin typeface="Times New Roman"/>
                <a:cs typeface="Times New Roman"/>
              </a:rPr>
              <a:t>δ</a:t>
            </a:r>
            <a:r>
              <a:rPr lang="en-US" sz="2000" dirty="0">
                <a:latin typeface="Cambria"/>
                <a:cs typeface="Cambria"/>
              </a:rPr>
              <a:t>(</a:t>
            </a:r>
            <a:r>
              <a:rPr lang="en-US" sz="2000" dirty="0" err="1">
                <a:latin typeface="Cambria"/>
                <a:cs typeface="Cambria"/>
              </a:rPr>
              <a:t>y,a</a:t>
            </a:r>
            <a:r>
              <a:rPr lang="en-US" sz="2000" dirty="0">
                <a:latin typeface="Cambria"/>
                <a:cs typeface="Cambria"/>
              </a:rPr>
              <a:t>)}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is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marked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then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mark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(</a:t>
            </a:r>
            <a:r>
              <a:rPr lang="en-US" sz="2000" spc="-10" dirty="0" err="1">
                <a:latin typeface="Cambria"/>
                <a:cs typeface="Cambria"/>
              </a:rPr>
              <a:t>x,y</a:t>
            </a:r>
            <a:r>
              <a:rPr lang="en-US" sz="2000" spc="-10" dirty="0">
                <a:latin typeface="Cambria"/>
                <a:cs typeface="Cambria"/>
              </a:rPr>
              <a:t>)</a:t>
            </a:r>
            <a:endParaRPr lang="en-US" sz="2000" dirty="0">
              <a:latin typeface="Cambria"/>
              <a:cs typeface="Cambria"/>
            </a:endParaRPr>
          </a:p>
          <a:p>
            <a:pPr marL="506095" marR="43815" lvl="1" indent="-227329">
              <a:lnSpc>
                <a:spcPct val="114599"/>
              </a:lnSpc>
              <a:buAutoNum type="arabicParenR" startAt="4"/>
              <a:tabLst>
                <a:tab pos="507365" algn="l"/>
              </a:tabLst>
            </a:pPr>
            <a:r>
              <a:rPr lang="en-US" sz="2000" dirty="0">
                <a:latin typeface="Cambria"/>
                <a:cs typeface="Cambria"/>
              </a:rPr>
              <a:t>After</a:t>
            </a:r>
            <a:r>
              <a:rPr lang="en-US" sz="2000" spc="4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completion,</a:t>
            </a:r>
            <a:r>
              <a:rPr lang="en-US" sz="2000" spc="4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x=y,</a:t>
            </a:r>
            <a:r>
              <a:rPr lang="en-US" sz="2000" spc="5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if</a:t>
            </a:r>
            <a:r>
              <a:rPr lang="en-US" sz="2000" spc="4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and</a:t>
            </a:r>
            <a:r>
              <a:rPr lang="en-US" sz="2000" spc="5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only</a:t>
            </a:r>
            <a:r>
              <a:rPr lang="en-US" sz="2000" spc="4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if</a:t>
            </a:r>
            <a:r>
              <a:rPr lang="en-US" sz="2000" spc="5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4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5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(</a:t>
            </a:r>
            <a:r>
              <a:rPr lang="en-US" sz="2000" dirty="0" err="1">
                <a:latin typeface="Cambria"/>
                <a:cs typeface="Cambria"/>
              </a:rPr>
              <a:t>x,y</a:t>
            </a:r>
            <a:r>
              <a:rPr lang="en-US" sz="2000" dirty="0">
                <a:latin typeface="Cambria"/>
                <a:cs typeface="Cambria"/>
              </a:rPr>
              <a:t>)</a:t>
            </a:r>
            <a:r>
              <a:rPr lang="en-US" sz="2000" spc="4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is</a:t>
            </a:r>
            <a:r>
              <a:rPr lang="en-US" sz="2000" spc="5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not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marked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and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that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can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spc="-25" dirty="0">
                <a:latin typeface="Cambria"/>
                <a:cs typeface="Cambria"/>
              </a:rPr>
              <a:t>be  </a:t>
            </a:r>
            <a:r>
              <a:rPr lang="en-US" sz="2000" dirty="0">
                <a:latin typeface="Cambria"/>
                <a:cs typeface="Cambria"/>
              </a:rPr>
              <a:t>merged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as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considered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as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single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state.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And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this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is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called</a:t>
            </a:r>
            <a:r>
              <a:rPr lang="en-US" sz="2000" spc="-10" dirty="0">
                <a:latin typeface="Cambria"/>
                <a:cs typeface="Cambria"/>
              </a:rPr>
              <a:t> indistinguishable </a:t>
            </a:r>
            <a:r>
              <a:rPr lang="en-US" sz="2000" spc="-20" dirty="0">
                <a:latin typeface="Cambria"/>
                <a:cs typeface="Cambria"/>
              </a:rPr>
              <a:t>pair</a:t>
            </a:r>
            <a:endParaRPr lang="en-US" sz="20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07383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5B85CE-6DF9-53F5-2D80-BB3851F96E71}"/>
              </a:ext>
            </a:extLst>
          </p:cNvPr>
          <p:cNvSpPr txBox="1"/>
          <p:nvPr/>
        </p:nvSpPr>
        <p:spPr>
          <a:xfrm>
            <a:off x="381000" y="2105711"/>
            <a:ext cx="1059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815"/>
              </a:spcBef>
            </a:pP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Example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1: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Minimize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following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DFA:</a:t>
            </a:r>
            <a:endParaRPr lang="en-US" sz="2800" dirty="0">
              <a:latin typeface="Cambria"/>
              <a:cs typeface="Cambria"/>
            </a:endParaRPr>
          </a:p>
        </p:txBody>
      </p:sp>
      <p:pic>
        <p:nvPicPr>
          <p:cNvPr id="10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0" y="3175552"/>
            <a:ext cx="4724400" cy="2438400"/>
          </a:xfrm>
          <a:prstGeom prst="rect">
            <a:avLst/>
          </a:prstGeom>
        </p:spPr>
      </p:pic>
      <p:sp>
        <p:nvSpPr>
          <p:cNvPr id="11" name="object 4"/>
          <p:cNvSpPr txBox="1"/>
          <p:nvPr/>
        </p:nvSpPr>
        <p:spPr>
          <a:xfrm>
            <a:off x="9220200" y="2880868"/>
            <a:ext cx="219932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Cambria"/>
                <a:cs typeface="Cambria"/>
              </a:rPr>
              <a:t>Transition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table:</a:t>
            </a:r>
            <a:endParaRPr sz="2000" dirty="0">
              <a:latin typeface="Cambria"/>
              <a:cs typeface="Cambria"/>
            </a:endParaRPr>
          </a:p>
        </p:txBody>
      </p:sp>
      <p:graphicFrame>
        <p:nvGraphicFramePr>
          <p:cNvPr id="12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541664"/>
              </p:ext>
            </p:extLst>
          </p:nvPr>
        </p:nvGraphicFramePr>
        <p:xfrm>
          <a:off x="8387715" y="3458821"/>
          <a:ext cx="3390900" cy="2796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Cambria"/>
                          <a:cs typeface="Cambria"/>
                        </a:rPr>
                        <a:t>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Cambria"/>
                          <a:cs typeface="Cambria"/>
                        </a:rPr>
                        <a:t>1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q4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q4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q4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066800" y="6468556"/>
            <a:ext cx="11506200" cy="1922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spcBef>
                <a:spcPts val="280"/>
              </a:spcBef>
            </a:pPr>
            <a:r>
              <a:rPr lang="en-US" spc="-50" dirty="0">
                <a:latin typeface="Cambria"/>
                <a:cs typeface="Cambria"/>
              </a:rPr>
              <a:t>To</a:t>
            </a:r>
            <a:r>
              <a:rPr lang="en-US" spc="-1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minimize</a:t>
            </a:r>
            <a:r>
              <a:rPr lang="en-US" spc="-1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10" dirty="0">
                <a:latin typeface="Cambria"/>
                <a:cs typeface="Cambria"/>
              </a:rPr>
              <a:t> above</a:t>
            </a:r>
            <a:r>
              <a:rPr lang="en-US" spc="-5" dirty="0">
                <a:latin typeface="Cambria"/>
                <a:cs typeface="Cambria"/>
              </a:rPr>
              <a:t> </a:t>
            </a:r>
            <a:r>
              <a:rPr lang="en-US" spc="-20" dirty="0">
                <a:latin typeface="Cambria"/>
                <a:cs typeface="Cambria"/>
              </a:rPr>
              <a:t>DFA,</a:t>
            </a:r>
            <a:endParaRPr lang="en-US" dirty="0">
              <a:latin typeface="Cambria"/>
              <a:cs typeface="Cambria"/>
            </a:endParaRPr>
          </a:p>
          <a:p>
            <a:pPr marL="12700" marR="5080">
              <a:lnSpc>
                <a:spcPct val="113599"/>
              </a:lnSpc>
            </a:pPr>
            <a:r>
              <a:rPr lang="en-US" dirty="0">
                <a:latin typeface="Cambria"/>
                <a:cs typeface="Cambria"/>
              </a:rPr>
              <a:t>Identify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which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is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not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reachable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from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start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remove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that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state.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In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above</a:t>
            </a:r>
            <a:r>
              <a:rPr lang="en-US" spc="500" dirty="0">
                <a:latin typeface="Cambria"/>
                <a:cs typeface="Cambria"/>
              </a:rPr>
              <a:t>  </a:t>
            </a:r>
            <a:r>
              <a:rPr lang="en-US" spc="-20" dirty="0">
                <a:latin typeface="Cambria"/>
                <a:cs typeface="Cambria"/>
              </a:rPr>
              <a:t>DFA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q5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is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not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reachable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fro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start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should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be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removed.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Then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apply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table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filling </a:t>
            </a:r>
            <a:r>
              <a:rPr lang="en-US" dirty="0">
                <a:latin typeface="Cambria"/>
                <a:cs typeface="Cambria"/>
              </a:rPr>
              <a:t>algorithm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for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spc="-20" dirty="0">
                <a:latin typeface="Cambria"/>
                <a:cs typeface="Cambria"/>
              </a:rPr>
              <a:t>DFA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resultant</a:t>
            </a:r>
            <a:r>
              <a:rPr lang="en-US" spc="-25" dirty="0">
                <a:latin typeface="Cambria"/>
                <a:cs typeface="Cambria"/>
              </a:rPr>
              <a:t> DFA(DFA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after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removing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not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reachable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form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start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state.</a:t>
            </a:r>
            <a:endParaRPr lang="en-US" dirty="0">
              <a:latin typeface="Cambria"/>
              <a:cs typeface="Cambria"/>
            </a:endParaRPr>
          </a:p>
          <a:p>
            <a:pPr>
              <a:spcBef>
                <a:spcPts val="390"/>
              </a:spcBef>
            </a:pPr>
            <a:endParaRPr lang="en-US" dirty="0">
              <a:latin typeface="Cambria"/>
              <a:cs typeface="Cambria"/>
            </a:endParaRPr>
          </a:p>
          <a:p>
            <a:pPr marL="12700"/>
            <a:r>
              <a:rPr lang="en-US" dirty="0">
                <a:latin typeface="Cambria"/>
                <a:cs typeface="Cambria"/>
              </a:rPr>
              <a:t>Construct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table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of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pairs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as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shown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below:</a:t>
            </a:r>
            <a:endParaRPr lang="en-US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472916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5B85CE-6DF9-53F5-2D80-BB3851F96E71}"/>
              </a:ext>
            </a:extLst>
          </p:cNvPr>
          <p:cNvSpPr txBox="1"/>
          <p:nvPr/>
        </p:nvSpPr>
        <p:spPr>
          <a:xfrm>
            <a:off x="381000" y="2105711"/>
            <a:ext cx="1059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815"/>
              </a:spcBef>
            </a:pP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Example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1: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Minimize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following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DFA:</a:t>
            </a:r>
            <a:endParaRPr lang="en-US" sz="2800" dirty="0">
              <a:latin typeface="Cambria"/>
              <a:cs typeface="Cambr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800" y="3252555"/>
            <a:ext cx="11430000" cy="1960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just">
              <a:lnSpc>
                <a:spcPct val="113599"/>
              </a:lnSpc>
              <a:spcBef>
                <a:spcPts val="100"/>
              </a:spcBef>
            </a:pPr>
            <a:r>
              <a:rPr lang="en-US" dirty="0">
                <a:latin typeface="Cambria"/>
                <a:cs typeface="Cambria"/>
              </a:rPr>
              <a:t>While</a:t>
            </a:r>
            <a:r>
              <a:rPr lang="en-US" spc="1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constructing</a:t>
            </a:r>
            <a:r>
              <a:rPr lang="en-US" spc="1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1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table</a:t>
            </a:r>
            <a:r>
              <a:rPr lang="en-US" spc="1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,</a:t>
            </a:r>
            <a:r>
              <a:rPr lang="en-US" spc="1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start</a:t>
            </a:r>
            <a:r>
              <a:rPr lang="en-US" spc="1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1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horizontal</a:t>
            </a:r>
            <a:r>
              <a:rPr lang="en-US" spc="1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cells</a:t>
            </a:r>
            <a:r>
              <a:rPr lang="en-US" spc="1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from</a:t>
            </a:r>
            <a:r>
              <a:rPr lang="en-US" spc="1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1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0</a:t>
            </a:r>
            <a:r>
              <a:rPr lang="en-US" spc="1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to</a:t>
            </a:r>
            <a:r>
              <a:rPr lang="en-US" spc="1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last</a:t>
            </a:r>
            <a:r>
              <a:rPr lang="en-US" spc="6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but</a:t>
            </a:r>
            <a:r>
              <a:rPr lang="en-US" spc="6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one</a:t>
            </a:r>
            <a:r>
              <a:rPr lang="en-US" spc="6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6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,</a:t>
            </a:r>
            <a:r>
              <a:rPr lang="en-US" spc="6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in</a:t>
            </a:r>
            <a:r>
              <a:rPr lang="en-US" spc="60" dirty="0">
                <a:latin typeface="Cambria"/>
                <a:cs typeface="Cambria"/>
              </a:rPr>
              <a:t> </a:t>
            </a:r>
            <a:r>
              <a:rPr lang="en-US" spc="-20" dirty="0">
                <a:latin typeface="Cambria"/>
                <a:cs typeface="Cambria"/>
              </a:rPr>
              <a:t>this </a:t>
            </a:r>
            <a:r>
              <a:rPr lang="en-US" dirty="0">
                <a:latin typeface="Cambria"/>
                <a:cs typeface="Cambria"/>
              </a:rPr>
              <a:t>example</a:t>
            </a:r>
            <a:r>
              <a:rPr lang="en-US" spc="4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you</a:t>
            </a:r>
            <a:r>
              <a:rPr lang="en-US" spc="5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can</a:t>
            </a:r>
            <a:r>
              <a:rPr lang="en-US" spc="5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start</a:t>
            </a:r>
            <a:r>
              <a:rPr lang="en-US" spc="5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form</a:t>
            </a:r>
            <a:r>
              <a:rPr lang="en-US" spc="5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5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q0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end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with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q3,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Start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vertical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cells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from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second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state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end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with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last</a:t>
            </a:r>
            <a:r>
              <a:rPr lang="en-US" spc="-1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,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in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this</a:t>
            </a:r>
            <a:r>
              <a:rPr lang="en-US" spc="-10" dirty="0">
                <a:latin typeface="Cambria"/>
                <a:cs typeface="Cambria"/>
              </a:rPr>
              <a:t> example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start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with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-1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q1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end</a:t>
            </a:r>
            <a:r>
              <a:rPr lang="en-US" spc="-1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with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q5.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you</a:t>
            </a:r>
            <a:r>
              <a:rPr lang="en-US" spc="-1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can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follow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spc="-25" dirty="0">
                <a:latin typeface="Cambria"/>
                <a:cs typeface="Cambria"/>
              </a:rPr>
              <a:t>any </a:t>
            </a:r>
            <a:r>
              <a:rPr lang="en-US" dirty="0">
                <a:latin typeface="Cambria"/>
                <a:cs typeface="Cambria"/>
              </a:rPr>
              <a:t>order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but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it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is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advisable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to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go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in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increasing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order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for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easier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understanding.</a:t>
            </a:r>
            <a:endParaRPr lang="en-US" dirty="0">
              <a:latin typeface="Cambria"/>
              <a:cs typeface="Cambria"/>
            </a:endParaRPr>
          </a:p>
          <a:p>
            <a:pPr>
              <a:spcBef>
                <a:spcPts val="390"/>
              </a:spcBef>
            </a:pPr>
            <a:endParaRPr lang="en-US" dirty="0">
              <a:latin typeface="Cambria"/>
              <a:cs typeface="Cambria"/>
            </a:endParaRPr>
          </a:p>
          <a:p>
            <a:pPr marL="12700" algn="just"/>
            <a:r>
              <a:rPr lang="en-US" dirty="0">
                <a:latin typeface="Cambria"/>
                <a:cs typeface="Cambria"/>
              </a:rPr>
              <a:t>Step</a:t>
            </a:r>
            <a:r>
              <a:rPr lang="en-US" spc="-40" dirty="0">
                <a:latin typeface="Cambria"/>
                <a:cs typeface="Cambria"/>
              </a:rPr>
              <a:t> </a:t>
            </a:r>
            <a:r>
              <a:rPr lang="en-US" spc="-25" dirty="0">
                <a:latin typeface="Cambria"/>
                <a:cs typeface="Cambria"/>
              </a:rPr>
              <a:t>1:</a:t>
            </a:r>
            <a:endParaRPr lang="en-US" dirty="0">
              <a:latin typeface="Cambria"/>
              <a:cs typeface="Cambria"/>
            </a:endParaRPr>
          </a:p>
        </p:txBody>
      </p:sp>
      <p:graphicFrame>
        <p:nvGraphicFramePr>
          <p:cNvPr id="1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873272"/>
              </p:ext>
            </p:extLst>
          </p:nvPr>
        </p:nvGraphicFramePr>
        <p:xfrm>
          <a:off x="2362200" y="5715000"/>
          <a:ext cx="4038600" cy="2362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2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5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*q3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*q4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*</a:t>
                      </a:r>
                      <a:r>
                        <a:rPr sz="1100" b="1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q3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459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5B85CE-6DF9-53F5-2D80-BB3851F96E71}"/>
              </a:ext>
            </a:extLst>
          </p:cNvPr>
          <p:cNvSpPr txBox="1"/>
          <p:nvPr/>
        </p:nvSpPr>
        <p:spPr>
          <a:xfrm>
            <a:off x="381000" y="2105711"/>
            <a:ext cx="1059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815"/>
              </a:spcBef>
            </a:pP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Example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1: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Minimize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following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DFA:</a:t>
            </a:r>
            <a:endParaRPr lang="en-US" sz="2800" dirty="0">
              <a:latin typeface="Cambria"/>
              <a:cs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90730" y="3124200"/>
            <a:ext cx="11120269" cy="1303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pc="-20" dirty="0">
                <a:latin typeface="Cambria"/>
                <a:cs typeface="Cambria"/>
              </a:rPr>
              <a:t>Table </a:t>
            </a:r>
            <a:r>
              <a:rPr lang="en-US" dirty="0">
                <a:latin typeface="Cambria"/>
                <a:cs typeface="Cambria"/>
              </a:rPr>
              <a:t>after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1st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iteration:</a:t>
            </a:r>
            <a:endParaRPr lang="en-US" dirty="0">
              <a:latin typeface="Cambria"/>
              <a:cs typeface="Cambria"/>
            </a:endParaRPr>
          </a:p>
          <a:p>
            <a:pPr>
              <a:spcBef>
                <a:spcPts val="210"/>
              </a:spcBef>
            </a:pPr>
            <a:endParaRPr lang="en-US" dirty="0">
              <a:latin typeface="Cambria"/>
              <a:cs typeface="Cambria"/>
            </a:endParaRPr>
          </a:p>
          <a:p>
            <a:pPr marL="12700" marR="5080">
              <a:lnSpc>
                <a:spcPct val="113599"/>
              </a:lnSpc>
            </a:pPr>
            <a:r>
              <a:rPr lang="en-US" dirty="0">
                <a:latin typeface="Cambria"/>
                <a:cs typeface="Cambria"/>
              </a:rPr>
              <a:t>Mark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all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distinguishable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pairs: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 err="1">
                <a:latin typeface="Cambria"/>
                <a:cs typeface="Cambria"/>
              </a:rPr>
              <a:t>i.e</a:t>
            </a:r>
            <a:r>
              <a:rPr lang="en-US" dirty="0">
                <a:latin typeface="Cambria"/>
                <a:cs typeface="Cambria"/>
              </a:rPr>
              <a:t>,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Mark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all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final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non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final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states(step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2:)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since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q0,q1,q2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are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spc="-25" dirty="0">
                <a:latin typeface="Cambria"/>
                <a:cs typeface="Cambria"/>
              </a:rPr>
              <a:t>non </a:t>
            </a:r>
            <a:r>
              <a:rPr lang="en-US" dirty="0">
                <a:latin typeface="Cambria"/>
                <a:cs typeface="Cambria"/>
              </a:rPr>
              <a:t>final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states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q3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q4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are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final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states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we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can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quickly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enter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‘X’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in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6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cells.</a:t>
            </a:r>
            <a:endParaRPr lang="en-US" dirty="0">
              <a:latin typeface="Cambria"/>
              <a:cs typeface="Cambria"/>
            </a:endParaRPr>
          </a:p>
        </p:txBody>
      </p:sp>
      <p:graphicFrame>
        <p:nvGraphicFramePr>
          <p:cNvPr id="9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812398"/>
              </p:ext>
            </p:extLst>
          </p:nvPr>
        </p:nvGraphicFramePr>
        <p:xfrm>
          <a:off x="3810001" y="5067298"/>
          <a:ext cx="4368799" cy="2933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3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8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9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7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*q3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*q4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*</a:t>
                      </a:r>
                      <a:r>
                        <a:rPr sz="1100" b="1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q3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522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5B85CE-6DF9-53F5-2D80-BB3851F96E71}"/>
              </a:ext>
            </a:extLst>
          </p:cNvPr>
          <p:cNvSpPr txBox="1"/>
          <p:nvPr/>
        </p:nvSpPr>
        <p:spPr>
          <a:xfrm>
            <a:off x="381000" y="2105711"/>
            <a:ext cx="1059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815"/>
              </a:spcBef>
            </a:pP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Example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1: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Minimize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following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DFA:</a:t>
            </a:r>
            <a:endParaRPr lang="en-US" sz="2800" dirty="0">
              <a:latin typeface="Cambria"/>
              <a:cs typeface="Cambr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2044" y="2819400"/>
            <a:ext cx="13030200" cy="571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spcBef>
                <a:spcPts val="280"/>
              </a:spcBef>
            </a:pPr>
            <a:r>
              <a:rPr lang="en-US" dirty="0">
                <a:latin typeface="Cambria"/>
                <a:cs typeface="Cambria"/>
              </a:rPr>
              <a:t>Next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apply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3rd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rule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try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see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whether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remaining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cells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can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be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marked,</a:t>
            </a:r>
            <a:endParaRPr lang="en-US" dirty="0">
              <a:latin typeface="Cambria"/>
              <a:cs typeface="Cambria"/>
            </a:endParaRPr>
          </a:p>
          <a:p>
            <a:pPr marL="12700">
              <a:spcBef>
                <a:spcPts val="180"/>
              </a:spcBef>
            </a:pPr>
            <a:r>
              <a:rPr lang="en-US" spc="-10" dirty="0">
                <a:latin typeface="Cambria"/>
                <a:cs typeface="Cambria"/>
              </a:rPr>
              <a:t>{q0,q1}:</a:t>
            </a:r>
            <a:endParaRPr lang="en-US" dirty="0">
              <a:latin typeface="Cambria"/>
              <a:cs typeface="Cambria"/>
            </a:endParaRPr>
          </a:p>
          <a:p>
            <a:pPr marL="469265">
              <a:spcBef>
                <a:spcPts val="155"/>
              </a:spcBef>
            </a:pPr>
            <a:r>
              <a:rPr lang="en-US" sz="2000" dirty="0">
                <a:latin typeface="Cambria"/>
                <a:cs typeface="Cambria"/>
              </a:rPr>
              <a:t>{</a:t>
            </a:r>
            <a:r>
              <a:rPr lang="en-US" sz="2000" dirty="0">
                <a:latin typeface="Times New Roman"/>
                <a:cs typeface="Times New Roman"/>
              </a:rPr>
              <a:t>δ</a:t>
            </a:r>
            <a:r>
              <a:rPr lang="en-US" sz="2000" dirty="0">
                <a:latin typeface="Cambria"/>
                <a:cs typeface="Cambria"/>
              </a:rPr>
              <a:t>(q0,0),</a:t>
            </a:r>
            <a:r>
              <a:rPr lang="en-US" sz="2000" spc="3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δ</a:t>
            </a:r>
            <a:r>
              <a:rPr lang="en-US" sz="2000" dirty="0">
                <a:latin typeface="Cambria"/>
                <a:cs typeface="Cambria"/>
              </a:rPr>
              <a:t>(q1,0)}=</a:t>
            </a:r>
            <a:r>
              <a:rPr lang="en-US" sz="2000" spc="3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{q1,</a:t>
            </a:r>
            <a:r>
              <a:rPr lang="en-US" sz="2000" spc="35" dirty="0">
                <a:latin typeface="Cambria"/>
                <a:cs typeface="Cambria"/>
              </a:rPr>
              <a:t> </a:t>
            </a:r>
            <a:r>
              <a:rPr lang="en-US" sz="2000" spc="-25" dirty="0">
                <a:latin typeface="Cambria"/>
                <a:cs typeface="Cambria"/>
              </a:rPr>
              <a:t>q2}</a:t>
            </a:r>
            <a:endParaRPr lang="en-US" sz="2000" dirty="0">
              <a:latin typeface="Cambria"/>
              <a:cs typeface="Cambria"/>
            </a:endParaRPr>
          </a:p>
          <a:p>
            <a:pPr marL="502920">
              <a:spcBef>
                <a:spcPts val="210"/>
              </a:spcBef>
            </a:pP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resulting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is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not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marked.</a:t>
            </a:r>
            <a:endParaRPr lang="en-US" sz="2000" dirty="0">
              <a:latin typeface="Cambria"/>
              <a:cs typeface="Cambria"/>
            </a:endParaRPr>
          </a:p>
          <a:p>
            <a:pPr marL="469265">
              <a:spcBef>
                <a:spcPts val="210"/>
              </a:spcBef>
            </a:pPr>
            <a:r>
              <a:rPr lang="en-US" sz="2000" dirty="0">
                <a:latin typeface="Cambria"/>
                <a:cs typeface="Cambria"/>
              </a:rPr>
              <a:t>{</a:t>
            </a:r>
            <a:r>
              <a:rPr lang="en-US" sz="2000" dirty="0">
                <a:latin typeface="Times New Roman"/>
                <a:cs typeface="Times New Roman"/>
              </a:rPr>
              <a:t>δ</a:t>
            </a:r>
            <a:r>
              <a:rPr lang="en-US" sz="2000" dirty="0">
                <a:latin typeface="Cambria"/>
                <a:cs typeface="Cambria"/>
              </a:rPr>
              <a:t>(q0,1),</a:t>
            </a:r>
            <a:r>
              <a:rPr lang="en-US" sz="2000" spc="6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δ</a:t>
            </a:r>
            <a:r>
              <a:rPr lang="en-US" sz="2000" spc="-10" dirty="0">
                <a:latin typeface="Cambria"/>
                <a:cs typeface="Cambria"/>
              </a:rPr>
              <a:t>(q1,1)}={q2,q3}</a:t>
            </a:r>
            <a:endParaRPr lang="en-US" sz="2000" dirty="0">
              <a:latin typeface="Cambria"/>
              <a:cs typeface="Cambria"/>
            </a:endParaRPr>
          </a:p>
          <a:p>
            <a:pPr marL="469265" marR="5080">
              <a:lnSpc>
                <a:spcPct val="114599"/>
              </a:lnSpc>
            </a:pP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resulting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pair{q2,q3}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is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marked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,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so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we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can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mark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{q1.q2}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as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spc="-50" dirty="0">
                <a:latin typeface="Cambria"/>
                <a:cs typeface="Cambria"/>
              </a:rPr>
              <a:t>a </a:t>
            </a:r>
            <a:r>
              <a:rPr lang="en-US" sz="2000" dirty="0">
                <a:latin typeface="Cambria"/>
                <a:cs typeface="Cambria"/>
              </a:rPr>
              <a:t>distinguished </a:t>
            </a:r>
            <a:r>
              <a:rPr lang="en-US" sz="2000" spc="-20" dirty="0">
                <a:latin typeface="Cambria"/>
                <a:cs typeface="Cambria"/>
              </a:rPr>
              <a:t>pair.</a:t>
            </a:r>
            <a:endParaRPr lang="en-US" sz="2000" dirty="0">
              <a:latin typeface="Cambria"/>
              <a:cs typeface="Cambria"/>
            </a:endParaRPr>
          </a:p>
          <a:p>
            <a:pPr>
              <a:spcBef>
                <a:spcPts val="450"/>
              </a:spcBef>
            </a:pPr>
            <a:endParaRPr lang="en-US" sz="2000" dirty="0">
              <a:latin typeface="Cambria"/>
              <a:cs typeface="Cambria"/>
            </a:endParaRPr>
          </a:p>
          <a:p>
            <a:pPr marL="12700"/>
            <a:r>
              <a:rPr lang="en-US" sz="2000" spc="-10" dirty="0">
                <a:latin typeface="Cambria"/>
                <a:cs typeface="Cambria"/>
              </a:rPr>
              <a:t>{q0,q2}:</a:t>
            </a:r>
          </a:p>
          <a:p>
            <a:pPr marL="12700"/>
            <a:endParaRPr lang="en-US" sz="2000" spc="-10" dirty="0">
              <a:latin typeface="Cambria"/>
              <a:cs typeface="Cambria"/>
            </a:endParaRPr>
          </a:p>
          <a:p>
            <a:pPr marL="469265">
              <a:spcBef>
                <a:spcPts val="310"/>
              </a:spcBef>
            </a:pPr>
            <a:r>
              <a:rPr lang="el-GR" sz="2000" dirty="0">
                <a:latin typeface="Cambria"/>
                <a:cs typeface="Cambria"/>
              </a:rPr>
              <a:t>{</a:t>
            </a: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</a:t>
            </a:r>
            <a:r>
              <a:rPr lang="en-US" sz="2000" dirty="0">
                <a:latin typeface="Cambria"/>
                <a:cs typeface="Cambria"/>
              </a:rPr>
              <a:t>q0,0),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</a:t>
            </a:r>
            <a:r>
              <a:rPr lang="en-US" sz="2000" dirty="0">
                <a:latin typeface="Cambria"/>
                <a:cs typeface="Cambria"/>
              </a:rPr>
              <a:t>q2,0)}=</a:t>
            </a:r>
            <a:r>
              <a:rPr lang="en-US" sz="2000" spc="6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{q1,q2}</a:t>
            </a:r>
            <a:endParaRPr lang="en-US" sz="2000" dirty="0">
              <a:latin typeface="Cambria"/>
              <a:cs typeface="Cambria"/>
            </a:endParaRPr>
          </a:p>
          <a:p>
            <a:pPr marL="469265">
              <a:spcBef>
                <a:spcPts val="210"/>
              </a:spcBef>
            </a:pP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resulting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is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not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marked</a:t>
            </a:r>
            <a:endParaRPr lang="en-US" sz="2000" dirty="0">
              <a:latin typeface="Cambria"/>
              <a:cs typeface="Cambria"/>
            </a:endParaRPr>
          </a:p>
          <a:p>
            <a:pPr marL="469265">
              <a:spcBef>
                <a:spcPts val="210"/>
              </a:spcBef>
            </a:pPr>
            <a:r>
              <a:rPr lang="en-US" sz="2000" dirty="0">
                <a:latin typeface="Cambria"/>
                <a:cs typeface="Cambria"/>
              </a:rPr>
              <a:t>{</a:t>
            </a: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</a:t>
            </a:r>
            <a:r>
              <a:rPr lang="en-US" sz="2000" dirty="0">
                <a:latin typeface="Cambria"/>
                <a:cs typeface="Cambria"/>
              </a:rPr>
              <a:t>q0,1),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</a:t>
            </a:r>
            <a:r>
              <a:rPr lang="en-US" sz="2000" dirty="0">
                <a:latin typeface="Cambria"/>
                <a:cs typeface="Cambria"/>
              </a:rPr>
              <a:t>q2,1)}=</a:t>
            </a:r>
            <a:r>
              <a:rPr lang="en-US" sz="2000" spc="6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{q2,q4}</a:t>
            </a:r>
            <a:endParaRPr lang="en-US" sz="2000" dirty="0">
              <a:latin typeface="Cambria"/>
              <a:cs typeface="Cambria"/>
            </a:endParaRPr>
          </a:p>
          <a:p>
            <a:pPr marL="469265" marR="438150">
              <a:lnSpc>
                <a:spcPct val="114599"/>
              </a:lnSpc>
            </a:pP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resulting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{q2,q4}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is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marked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,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so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we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can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mark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2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{q0,q2}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as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spc="-50" dirty="0">
                <a:latin typeface="Cambria"/>
                <a:cs typeface="Cambria"/>
              </a:rPr>
              <a:t>a </a:t>
            </a:r>
            <a:r>
              <a:rPr lang="en-US" sz="2000" dirty="0">
                <a:latin typeface="Cambria"/>
                <a:cs typeface="Cambria"/>
              </a:rPr>
              <a:t>distinguished </a:t>
            </a:r>
            <a:r>
              <a:rPr lang="en-US" sz="2000" spc="-20" dirty="0">
                <a:latin typeface="Cambria"/>
                <a:cs typeface="Cambria"/>
              </a:rPr>
              <a:t>pair.</a:t>
            </a:r>
            <a:endParaRPr lang="en-US" sz="2000" dirty="0">
              <a:latin typeface="Cambria"/>
              <a:cs typeface="Cambria"/>
            </a:endParaRPr>
          </a:p>
          <a:p>
            <a:pPr marL="469265">
              <a:spcBef>
                <a:spcPts val="209"/>
              </a:spcBef>
            </a:pPr>
            <a:r>
              <a:rPr lang="en-US" sz="2000" spc="-10" dirty="0">
                <a:latin typeface="Cambria"/>
                <a:cs typeface="Cambria"/>
              </a:rPr>
              <a:t>{q1,q2}:</a:t>
            </a:r>
            <a:endParaRPr lang="en-US" sz="2000" dirty="0">
              <a:latin typeface="Cambria"/>
              <a:cs typeface="Cambria"/>
            </a:endParaRPr>
          </a:p>
          <a:p>
            <a:pPr marL="469265">
              <a:spcBef>
                <a:spcPts val="209"/>
              </a:spcBef>
            </a:pPr>
            <a:r>
              <a:rPr lang="en-US" sz="2000" dirty="0">
                <a:latin typeface="Cambria"/>
                <a:cs typeface="Cambria"/>
              </a:rPr>
              <a:t>{</a:t>
            </a: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</a:t>
            </a:r>
            <a:r>
              <a:rPr lang="en-US" sz="2000" dirty="0">
                <a:latin typeface="Cambria"/>
                <a:cs typeface="Cambria"/>
              </a:rPr>
              <a:t>q1,0),</a:t>
            </a:r>
            <a:r>
              <a:rPr lang="en-US" sz="2000" spc="15" dirty="0">
                <a:latin typeface="Cambria"/>
                <a:cs typeface="Cambria"/>
              </a:rPr>
              <a:t> </a:t>
            </a: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</a:t>
            </a:r>
            <a:r>
              <a:rPr lang="en-US" sz="2000" dirty="0">
                <a:latin typeface="Cambria"/>
                <a:cs typeface="Cambria"/>
              </a:rPr>
              <a:t>q2,0)}={q2}</a:t>
            </a:r>
            <a:r>
              <a:rPr lang="en-US" sz="2000" spc="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can't</a:t>
            </a:r>
            <a:r>
              <a:rPr lang="en-US" sz="2000" spc="15" dirty="0">
                <a:latin typeface="Cambria"/>
                <a:cs typeface="Cambria"/>
              </a:rPr>
              <a:t> </a:t>
            </a:r>
            <a:r>
              <a:rPr lang="en-US" sz="2000" spc="-20" dirty="0">
                <a:latin typeface="Cambria"/>
                <a:cs typeface="Cambria"/>
              </a:rPr>
              <a:t>mark</a:t>
            </a:r>
            <a:endParaRPr lang="en-US" sz="2000" dirty="0">
              <a:latin typeface="Cambria"/>
              <a:cs typeface="Cambria"/>
            </a:endParaRPr>
          </a:p>
          <a:p>
            <a:pPr marL="469265">
              <a:spcBef>
                <a:spcPts val="209"/>
              </a:spcBef>
            </a:pPr>
            <a:r>
              <a:rPr lang="en-US" sz="2000" dirty="0">
                <a:latin typeface="Cambria"/>
                <a:cs typeface="Cambria"/>
              </a:rPr>
              <a:t>{</a:t>
            </a: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</a:t>
            </a:r>
            <a:r>
              <a:rPr lang="en-US" sz="2000" dirty="0">
                <a:latin typeface="Cambria"/>
                <a:cs typeface="Cambria"/>
              </a:rPr>
              <a:t>q1,1),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</a:t>
            </a:r>
            <a:r>
              <a:rPr lang="en-US" sz="2000" dirty="0">
                <a:latin typeface="Cambria"/>
                <a:cs typeface="Cambria"/>
              </a:rPr>
              <a:t>q2,1)}={q3,q4}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cant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mark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as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 resulting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is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both</a:t>
            </a:r>
            <a:r>
              <a:rPr lang="en-US" sz="2000" spc="-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final </a:t>
            </a:r>
            <a:r>
              <a:rPr lang="en-US" sz="2000" spc="-10" dirty="0">
                <a:latin typeface="Cambria"/>
                <a:cs typeface="Cambria"/>
              </a:rPr>
              <a:t>state.</a:t>
            </a:r>
            <a:endParaRPr lang="en-US" sz="2000" dirty="0">
              <a:latin typeface="Cambria"/>
              <a:cs typeface="Cambria"/>
            </a:endParaRPr>
          </a:p>
          <a:p>
            <a:pPr marL="502920">
              <a:spcBef>
                <a:spcPts val="209"/>
              </a:spcBef>
            </a:pPr>
            <a:r>
              <a:rPr lang="en-US" sz="2000" dirty="0">
                <a:latin typeface="Cambria"/>
                <a:cs typeface="Cambria"/>
              </a:rPr>
              <a:t>{q3,q3}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can't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be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marked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as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distinguishable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as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both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states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are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final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states</a:t>
            </a:r>
            <a:endParaRPr lang="en-US" sz="20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72407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5B85CE-6DF9-53F5-2D80-BB3851F96E71}"/>
              </a:ext>
            </a:extLst>
          </p:cNvPr>
          <p:cNvSpPr txBox="1"/>
          <p:nvPr/>
        </p:nvSpPr>
        <p:spPr>
          <a:xfrm>
            <a:off x="381000" y="2105711"/>
            <a:ext cx="1059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815"/>
              </a:spcBef>
            </a:pP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Example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1: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Minimize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following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DFA:</a:t>
            </a:r>
            <a:endParaRPr lang="en-US" sz="2800" dirty="0">
              <a:latin typeface="Cambria"/>
              <a:cs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90600" y="2954137"/>
            <a:ext cx="1262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/>
            <a:r>
              <a:rPr lang="en-US">
                <a:latin typeface="Cambria"/>
                <a:cs typeface="Cambria"/>
              </a:rPr>
              <a:t>Final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 spc="-10">
                <a:latin typeface="Cambria"/>
                <a:cs typeface="Cambria"/>
              </a:rPr>
              <a:t>Table</a:t>
            </a:r>
            <a:endParaRPr lang="en-US" dirty="0">
              <a:latin typeface="Cambria"/>
              <a:cs typeface="Cambria"/>
            </a:endParaRPr>
          </a:p>
        </p:txBody>
      </p:sp>
      <p:graphicFrame>
        <p:nvGraphicFramePr>
          <p:cNvPr id="8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604333"/>
              </p:ext>
            </p:extLst>
          </p:nvPr>
        </p:nvGraphicFramePr>
        <p:xfrm>
          <a:off x="3124200" y="3733800"/>
          <a:ext cx="3759200" cy="3009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7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1981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1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1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*q3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1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*q4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*</a:t>
                      </a:r>
                      <a:r>
                        <a:rPr sz="1100" b="1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q3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4827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5B85CE-6DF9-53F5-2D80-BB3851F96E71}"/>
              </a:ext>
            </a:extLst>
          </p:cNvPr>
          <p:cNvSpPr txBox="1"/>
          <p:nvPr/>
        </p:nvSpPr>
        <p:spPr>
          <a:xfrm>
            <a:off x="381000" y="2105711"/>
            <a:ext cx="1059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815"/>
              </a:spcBef>
            </a:pP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Example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1: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Minimize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following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DFA:</a:t>
            </a:r>
            <a:endParaRPr lang="en-US" sz="2800" dirty="0">
              <a:latin typeface="Cambria"/>
              <a:cs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8331" y="2819400"/>
            <a:ext cx="12877800" cy="5513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spcBef>
                <a:spcPts val="280"/>
              </a:spcBef>
            </a:pP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cell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corresponding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to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pairs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which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are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not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marked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are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indistinguishable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pairs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of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final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state</a:t>
            </a:r>
            <a:endParaRPr lang="en-US" dirty="0">
              <a:latin typeface="Cambria"/>
              <a:cs typeface="Cambria"/>
            </a:endParaRPr>
          </a:p>
          <a:p>
            <a:pPr marL="12700" marR="5080">
              <a:lnSpc>
                <a:spcPct val="113599"/>
              </a:lnSpc>
            </a:pP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non-</a:t>
            </a:r>
            <a:r>
              <a:rPr lang="en-US" dirty="0">
                <a:latin typeface="Cambria"/>
                <a:cs typeface="Cambria"/>
              </a:rPr>
              <a:t>final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states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can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be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merged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as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single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final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single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non-</a:t>
            </a:r>
            <a:r>
              <a:rPr lang="en-US" dirty="0">
                <a:latin typeface="Cambria"/>
                <a:cs typeface="Cambria"/>
              </a:rPr>
              <a:t>final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state.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Pair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{q1,q2} </a:t>
            </a:r>
            <a:r>
              <a:rPr lang="en-US" dirty="0">
                <a:latin typeface="Cambria"/>
                <a:cs typeface="Cambria"/>
              </a:rPr>
              <a:t>can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be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merged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as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</a:t>
            </a:r>
            <a:r>
              <a:rPr lang="en-US" spc="-1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single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non-</a:t>
            </a:r>
            <a:r>
              <a:rPr lang="en-US" dirty="0">
                <a:latin typeface="Cambria"/>
                <a:cs typeface="Cambria"/>
              </a:rPr>
              <a:t>final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pair</a:t>
            </a:r>
            <a:r>
              <a:rPr lang="en-US" spc="-1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{q3,q4}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can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be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merged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as</a:t>
            </a:r>
            <a:r>
              <a:rPr lang="en-US" spc="-1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single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final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state</a:t>
            </a:r>
            <a:endParaRPr lang="en-US" dirty="0">
              <a:latin typeface="Cambria"/>
              <a:cs typeface="Cambria"/>
            </a:endParaRPr>
          </a:p>
          <a:p>
            <a:pPr marL="12700" marR="1229995">
              <a:lnSpc>
                <a:spcPct val="227300"/>
              </a:lnSpc>
            </a:pP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resulting</a:t>
            </a:r>
            <a:r>
              <a:rPr lang="en-US" spc="-20" dirty="0">
                <a:latin typeface="Cambria"/>
                <a:cs typeface="Cambria"/>
              </a:rPr>
              <a:t> DFA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will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have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3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states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after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merging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they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are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{q1,q2}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,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{q3q4},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spc="-25" dirty="0">
                <a:latin typeface="Cambria"/>
                <a:cs typeface="Cambria"/>
              </a:rPr>
              <a:t>q0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transition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table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of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minimized</a:t>
            </a:r>
            <a:r>
              <a:rPr lang="en-US" spc="-20" dirty="0">
                <a:latin typeface="Cambria"/>
                <a:cs typeface="Cambria"/>
              </a:rPr>
              <a:t> DFA </a:t>
            </a:r>
            <a:r>
              <a:rPr lang="en-US" spc="-50" dirty="0">
                <a:latin typeface="Cambria"/>
                <a:cs typeface="Cambria"/>
              </a:rPr>
              <a:t>:</a:t>
            </a:r>
            <a:endParaRPr lang="en-US" dirty="0">
              <a:latin typeface="Cambria"/>
              <a:cs typeface="Cambria"/>
            </a:endParaRPr>
          </a:p>
          <a:p>
            <a:pPr>
              <a:spcBef>
                <a:spcPts val="365"/>
              </a:spcBef>
            </a:pPr>
            <a:endParaRPr lang="en-US" dirty="0">
              <a:latin typeface="Cambria"/>
              <a:cs typeface="Cambria"/>
            </a:endParaRPr>
          </a:p>
          <a:p>
            <a:pPr marL="469265"/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</a:t>
            </a:r>
            <a:r>
              <a:rPr lang="en-US" sz="2000" dirty="0">
                <a:latin typeface="Cambria"/>
                <a:cs typeface="Cambria"/>
              </a:rPr>
              <a:t>q0,0)=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n-US" sz="2000" spc="-25" dirty="0">
                <a:latin typeface="Cambria"/>
                <a:cs typeface="Cambria"/>
              </a:rPr>
              <a:t>q1</a:t>
            </a:r>
            <a:endParaRPr lang="en-US" sz="2000" dirty="0">
              <a:latin typeface="Cambria"/>
              <a:cs typeface="Cambria"/>
            </a:endParaRPr>
          </a:p>
          <a:p>
            <a:pPr marL="469265">
              <a:spcBef>
                <a:spcPts val="210"/>
              </a:spcBef>
            </a:pPr>
            <a:r>
              <a:rPr lang="el-GR" sz="2000" spc="-10" dirty="0">
                <a:latin typeface="Times New Roman"/>
                <a:cs typeface="Times New Roman"/>
              </a:rPr>
              <a:t>δ</a:t>
            </a:r>
            <a:r>
              <a:rPr lang="el-GR" sz="2000" spc="-10" dirty="0">
                <a:latin typeface="Cambria"/>
                <a:cs typeface="Cambria"/>
              </a:rPr>
              <a:t>(</a:t>
            </a:r>
            <a:r>
              <a:rPr lang="en-US" sz="2000" spc="-10" dirty="0">
                <a:latin typeface="Cambria"/>
                <a:cs typeface="Cambria"/>
              </a:rPr>
              <a:t>q0,1)=q2</a:t>
            </a:r>
            <a:endParaRPr lang="en-US" sz="2000" dirty="0">
              <a:latin typeface="Cambria"/>
              <a:cs typeface="Cambria"/>
            </a:endParaRPr>
          </a:p>
          <a:p>
            <a:pPr marL="469265">
              <a:spcBef>
                <a:spcPts val="235"/>
              </a:spcBef>
            </a:pPr>
            <a:r>
              <a:rPr lang="en-US" spc="-10" dirty="0">
                <a:latin typeface="Cambria"/>
                <a:cs typeface="Cambria"/>
              </a:rPr>
              <a:t>={q1,q2}</a:t>
            </a:r>
            <a:endParaRPr lang="en-US" dirty="0">
              <a:latin typeface="Cambria"/>
              <a:cs typeface="Cambria"/>
            </a:endParaRPr>
          </a:p>
          <a:p>
            <a:pPr>
              <a:spcBef>
                <a:spcPts val="365"/>
              </a:spcBef>
            </a:pPr>
            <a:endParaRPr lang="en-US" dirty="0">
              <a:latin typeface="Cambria"/>
              <a:cs typeface="Cambria"/>
            </a:endParaRPr>
          </a:p>
          <a:p>
            <a:pPr marL="469265"/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({</a:t>
            </a:r>
            <a:r>
              <a:rPr lang="en-US" sz="2000" dirty="0">
                <a:latin typeface="Cambria"/>
                <a:cs typeface="Cambria"/>
              </a:rPr>
              <a:t>q1q2},0)=</a:t>
            </a:r>
            <a:r>
              <a:rPr lang="en-US" sz="2000" spc="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q2</a:t>
            </a:r>
            <a:r>
              <a:rPr lang="en-US" sz="2000" spc="1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(q1q2)</a:t>
            </a:r>
            <a:endParaRPr lang="en-US" sz="2000" dirty="0">
              <a:latin typeface="Cambria"/>
              <a:cs typeface="Cambria"/>
            </a:endParaRPr>
          </a:p>
          <a:p>
            <a:pPr marL="469265">
              <a:spcBef>
                <a:spcPts val="210"/>
              </a:spcBef>
            </a:pP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({</a:t>
            </a:r>
            <a:r>
              <a:rPr lang="en-US" sz="2000" dirty="0">
                <a:latin typeface="Cambria"/>
                <a:cs typeface="Cambria"/>
              </a:rPr>
              <a:t>q1q2},1)=</a:t>
            </a:r>
            <a:r>
              <a:rPr lang="en-US" sz="2000" spc="40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{q3q4}</a:t>
            </a:r>
            <a:endParaRPr lang="en-US" sz="2000" dirty="0">
              <a:latin typeface="Cambria"/>
              <a:cs typeface="Cambria"/>
            </a:endParaRPr>
          </a:p>
          <a:p>
            <a:pPr>
              <a:spcBef>
                <a:spcPts val="450"/>
              </a:spcBef>
            </a:pPr>
            <a:endParaRPr lang="en-US" sz="2000" dirty="0">
              <a:latin typeface="Cambria"/>
              <a:cs typeface="Cambria"/>
            </a:endParaRPr>
          </a:p>
          <a:p>
            <a:pPr marL="469265">
              <a:spcBef>
                <a:spcPts val="5"/>
              </a:spcBef>
            </a:pP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({</a:t>
            </a:r>
            <a:r>
              <a:rPr lang="en-US" sz="2000" dirty="0">
                <a:latin typeface="Cambria"/>
                <a:cs typeface="Cambria"/>
              </a:rPr>
              <a:t>q3q4},0)=</a:t>
            </a:r>
            <a:r>
              <a:rPr lang="en-US" sz="2000" spc="40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{q3q4}</a:t>
            </a:r>
            <a:endParaRPr lang="en-US" sz="2000" dirty="0">
              <a:latin typeface="Cambria"/>
              <a:cs typeface="Cambria"/>
            </a:endParaRPr>
          </a:p>
          <a:p>
            <a:pPr marL="469265">
              <a:spcBef>
                <a:spcPts val="209"/>
              </a:spcBef>
            </a:pP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({</a:t>
            </a:r>
            <a:r>
              <a:rPr lang="en-US" sz="2000" dirty="0">
                <a:latin typeface="Cambria"/>
                <a:cs typeface="Cambria"/>
              </a:rPr>
              <a:t>q3q4},0)=</a:t>
            </a:r>
            <a:r>
              <a:rPr lang="en-US" sz="2000" spc="40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{q3q4}</a:t>
            </a:r>
            <a:endParaRPr lang="en-US" sz="20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574690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5B85CE-6DF9-53F5-2D80-BB3851F96E71}"/>
              </a:ext>
            </a:extLst>
          </p:cNvPr>
          <p:cNvSpPr txBox="1"/>
          <p:nvPr/>
        </p:nvSpPr>
        <p:spPr>
          <a:xfrm>
            <a:off x="381000" y="2105711"/>
            <a:ext cx="1059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815"/>
              </a:spcBef>
            </a:pP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Example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1: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Minimize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following</a:t>
            </a:r>
            <a:r>
              <a:rPr lang="en-US" sz="2800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sz="2800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DFA:</a:t>
            </a:r>
            <a:endParaRPr lang="en-US" sz="2800" dirty="0">
              <a:latin typeface="Cambria"/>
              <a:cs typeface="Cambria"/>
            </a:endParaRPr>
          </a:p>
        </p:txBody>
      </p:sp>
      <p:graphicFrame>
        <p:nvGraphicFramePr>
          <p:cNvPr id="8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889391"/>
              </p:ext>
            </p:extLst>
          </p:nvPr>
        </p:nvGraphicFramePr>
        <p:xfrm>
          <a:off x="914401" y="2927364"/>
          <a:ext cx="3657601" cy="2406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72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Cambria"/>
                          <a:cs typeface="Cambria"/>
                        </a:rPr>
                        <a:t>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Cambria"/>
                          <a:cs typeface="Cambria"/>
                        </a:rPr>
                        <a:t>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213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10" dirty="0">
                          <a:latin typeface="Cambria"/>
                          <a:cs typeface="Cambria"/>
                        </a:rPr>
                        <a:t>{q1,q2}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10" dirty="0">
                          <a:latin typeface="Cambria"/>
                          <a:cs typeface="Cambria"/>
                        </a:rPr>
                        <a:t>{q1,q2}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105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10" dirty="0">
                          <a:latin typeface="Cambria"/>
                          <a:cs typeface="Cambria"/>
                        </a:rPr>
                        <a:t>{q1,q2}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10" dirty="0">
                          <a:latin typeface="Cambria"/>
                          <a:cs typeface="Cambria"/>
                        </a:rPr>
                        <a:t>{q1,q2}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{q3q4}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615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105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10" dirty="0">
                          <a:latin typeface="Cambria"/>
                          <a:cs typeface="Cambria"/>
                        </a:rPr>
                        <a:t>{q3,q4}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{q3q4}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615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{q3q4}</a:t>
                      </a:r>
                      <a:endParaRPr sz="1200" dirty="0">
                        <a:latin typeface="Cambria"/>
                        <a:cs typeface="Cambria"/>
                      </a:endParaRPr>
                    </a:p>
                  </a:txBody>
                  <a:tcPr marL="0" marR="0" marT="615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57752" y="2615253"/>
            <a:ext cx="40430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final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minimized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spc="-20" dirty="0">
                <a:latin typeface="Cambria"/>
                <a:cs typeface="Cambria"/>
              </a:rPr>
              <a:t>DFA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diagram:</a:t>
            </a:r>
            <a:endParaRPr lang="en-US" dirty="0">
              <a:latin typeface="Cambria"/>
              <a:cs typeface="Cambria"/>
            </a:endParaRPr>
          </a:p>
        </p:txBody>
      </p:sp>
      <p:pic>
        <p:nvPicPr>
          <p:cNvPr id="9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3275" y="3493283"/>
            <a:ext cx="6332049" cy="283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74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object 5"/>
          <p:cNvSpPr txBox="1"/>
          <p:nvPr/>
        </p:nvSpPr>
        <p:spPr>
          <a:xfrm>
            <a:off x="891747" y="2276335"/>
            <a:ext cx="416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Example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2: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Minimize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following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DFA:</a:t>
            </a:r>
            <a:endParaRPr dirty="0">
              <a:latin typeface="Cambria"/>
              <a:cs typeface="Cambria"/>
            </a:endParaRPr>
          </a:p>
        </p:txBody>
      </p:sp>
      <p:pic>
        <p:nvPicPr>
          <p:cNvPr id="7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3498" y="3084241"/>
            <a:ext cx="7839502" cy="4573859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037812"/>
              </p:ext>
            </p:extLst>
          </p:nvPr>
        </p:nvGraphicFramePr>
        <p:xfrm>
          <a:off x="9341755" y="4065727"/>
          <a:ext cx="3536045" cy="13989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94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Cambria"/>
                          <a:cs typeface="Cambria"/>
                        </a:rPr>
                        <a:t>a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Cambria"/>
                          <a:cs typeface="Cambria"/>
                        </a:rPr>
                        <a:t>b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451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q0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7"/>
          <p:cNvSpPr txBox="1"/>
          <p:nvPr/>
        </p:nvSpPr>
        <p:spPr>
          <a:xfrm>
            <a:off x="9791833" y="3352800"/>
            <a:ext cx="207300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latin typeface="Cambria"/>
                <a:cs typeface="Cambria"/>
              </a:rPr>
              <a:t>TRANSITION</a:t>
            </a:r>
            <a:r>
              <a:rPr lang="en-US" spc="-3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TABLE:</a:t>
            </a:r>
            <a:endParaRPr lang="en-US" dirty="0">
              <a:latin typeface="Cambria"/>
              <a:cs typeface="Cambria"/>
            </a:endParaRPr>
          </a:p>
        </p:txBody>
      </p:sp>
      <p:graphicFrame>
        <p:nvGraphicFramePr>
          <p:cNvPr id="11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315988"/>
              </p:ext>
            </p:extLst>
          </p:nvPr>
        </p:nvGraphicFramePr>
        <p:xfrm>
          <a:off x="9341755" y="5486400"/>
          <a:ext cx="3503570" cy="2819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8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5032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646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429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12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646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q5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646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q5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q5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q0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633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object 5"/>
          <p:cNvSpPr txBox="1"/>
          <p:nvPr/>
        </p:nvSpPr>
        <p:spPr>
          <a:xfrm>
            <a:off x="891747" y="2276335"/>
            <a:ext cx="416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Example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2: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Minimize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following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DFA: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91747" y="3078063"/>
            <a:ext cx="10081053" cy="1908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latin typeface="Cambria"/>
                <a:cs typeface="Cambria"/>
              </a:rPr>
              <a:t>Final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table:</a:t>
            </a:r>
            <a:endParaRPr lang="en-US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mbria"/>
              <a:cs typeface="Cambria"/>
            </a:endParaRPr>
          </a:p>
          <a:p>
            <a:pPr>
              <a:spcBef>
                <a:spcPts val="420"/>
              </a:spcBef>
            </a:pPr>
            <a:endParaRPr lang="en-US" dirty="0">
              <a:latin typeface="Cambria"/>
              <a:cs typeface="Cambria"/>
            </a:endParaRPr>
          </a:p>
          <a:p>
            <a:pPr marL="12700" marR="781685">
              <a:lnSpc>
                <a:spcPct val="113599"/>
              </a:lnSpc>
            </a:pPr>
            <a:r>
              <a:rPr lang="en-US" dirty="0">
                <a:latin typeface="Cambria"/>
                <a:cs typeface="Cambria"/>
              </a:rPr>
              <a:t>All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states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are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reachable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from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start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state. </a:t>
            </a:r>
            <a:r>
              <a:rPr lang="en-US" dirty="0">
                <a:latin typeface="Cambria"/>
                <a:cs typeface="Cambria"/>
              </a:rPr>
              <a:t>Construct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table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using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table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filling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algorithm</a:t>
            </a:r>
            <a:endParaRPr lang="en-US" dirty="0">
              <a:latin typeface="Cambria"/>
              <a:cs typeface="Cambria"/>
            </a:endParaRPr>
          </a:p>
          <a:p>
            <a:pPr marL="12700">
              <a:spcBef>
                <a:spcPts val="180"/>
              </a:spcBef>
            </a:pPr>
            <a:r>
              <a:rPr lang="en-US" spc="-20" dirty="0">
                <a:latin typeface="Cambria"/>
                <a:cs typeface="Cambria"/>
              </a:rPr>
              <a:t>Table </a:t>
            </a:r>
            <a:r>
              <a:rPr lang="en-US" dirty="0">
                <a:latin typeface="Cambria"/>
                <a:cs typeface="Cambria"/>
              </a:rPr>
              <a:t>after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filling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final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non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final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pairs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is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given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below:</a:t>
            </a:r>
            <a:endParaRPr lang="en-US" dirty="0">
              <a:latin typeface="Cambria"/>
              <a:cs typeface="Cambria"/>
            </a:endParaRPr>
          </a:p>
        </p:txBody>
      </p:sp>
      <p:graphicFrame>
        <p:nvGraphicFramePr>
          <p:cNvPr id="7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455961"/>
              </p:ext>
            </p:extLst>
          </p:nvPr>
        </p:nvGraphicFramePr>
        <p:xfrm>
          <a:off x="3200400" y="5410200"/>
          <a:ext cx="3892978" cy="28956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8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8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3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2601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*q1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1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1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*q3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1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1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*q5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50" dirty="0">
                          <a:latin typeface="Cambria"/>
                          <a:cs typeface="Cambria"/>
                        </a:rPr>
                        <a:t>X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*q1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*q3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b="1" spc="-25" dirty="0">
                          <a:latin typeface="Cambria"/>
                          <a:cs typeface="Cambria"/>
                        </a:rPr>
                        <a:t>q4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8171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object 5"/>
          <p:cNvSpPr txBox="1"/>
          <p:nvPr/>
        </p:nvSpPr>
        <p:spPr>
          <a:xfrm>
            <a:off x="891747" y="2276335"/>
            <a:ext cx="416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Example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2: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Minimize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following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DFA: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3131" y="2895600"/>
            <a:ext cx="12002194" cy="5683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latin typeface="Cambria"/>
                <a:cs typeface="Cambria"/>
              </a:rPr>
              <a:t>Next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apply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3rd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rule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try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see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whether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remaining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cells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can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be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marked,</a:t>
            </a:r>
            <a:endParaRPr lang="en-US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mbria"/>
              <a:cs typeface="Cambria"/>
            </a:endParaRPr>
          </a:p>
          <a:p>
            <a:pPr>
              <a:spcBef>
                <a:spcPts val="600"/>
              </a:spcBef>
            </a:pPr>
            <a:endParaRPr lang="en-US" dirty="0">
              <a:latin typeface="Cambria"/>
              <a:cs typeface="Cambria"/>
            </a:endParaRPr>
          </a:p>
          <a:p>
            <a:pPr marL="12700"/>
            <a:r>
              <a:rPr lang="en-US" spc="-10" dirty="0">
                <a:latin typeface="Cambria"/>
                <a:cs typeface="Cambria"/>
              </a:rPr>
              <a:t>{q0,q2}:</a:t>
            </a:r>
            <a:endParaRPr lang="en-US" dirty="0">
              <a:latin typeface="Cambria"/>
              <a:cs typeface="Cambria"/>
            </a:endParaRPr>
          </a:p>
          <a:p>
            <a:pPr marL="469265">
              <a:spcBef>
                <a:spcPts val="155"/>
              </a:spcBef>
            </a:pPr>
            <a:r>
              <a:rPr lang="en-US" sz="2000" dirty="0">
                <a:latin typeface="Cambria"/>
                <a:cs typeface="Cambria"/>
              </a:rPr>
              <a:t>{</a:t>
            </a: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</a:t>
            </a:r>
            <a:r>
              <a:rPr lang="en-US" sz="2000" dirty="0">
                <a:latin typeface="Cambria"/>
                <a:cs typeface="Cambria"/>
              </a:rPr>
              <a:t>q0,a),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</a:t>
            </a:r>
            <a:r>
              <a:rPr lang="en-US" sz="2000" dirty="0">
                <a:latin typeface="Cambria"/>
                <a:cs typeface="Cambria"/>
              </a:rPr>
              <a:t>q2,a)}=</a:t>
            </a:r>
            <a:r>
              <a:rPr lang="en-US" sz="2000" spc="6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{q1,q3}</a:t>
            </a:r>
            <a:endParaRPr lang="en-US" sz="2000" dirty="0">
              <a:latin typeface="Cambria"/>
              <a:cs typeface="Cambria"/>
            </a:endParaRPr>
          </a:p>
          <a:p>
            <a:pPr marL="469265">
              <a:spcBef>
                <a:spcPts val="210"/>
              </a:spcBef>
            </a:pP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resultant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is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not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marked</a:t>
            </a:r>
            <a:endParaRPr lang="en-US" sz="2000" dirty="0">
              <a:latin typeface="Cambria"/>
              <a:cs typeface="Cambria"/>
            </a:endParaRPr>
          </a:p>
          <a:p>
            <a:pPr marL="469265">
              <a:spcBef>
                <a:spcPts val="210"/>
              </a:spcBef>
            </a:pPr>
            <a:r>
              <a:rPr lang="en-US" sz="2000" dirty="0">
                <a:latin typeface="Cambria"/>
                <a:cs typeface="Cambria"/>
              </a:rPr>
              <a:t>{</a:t>
            </a: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</a:t>
            </a:r>
            <a:r>
              <a:rPr lang="en-US" sz="2000" dirty="0">
                <a:latin typeface="Cambria"/>
                <a:cs typeface="Cambria"/>
              </a:rPr>
              <a:t>q0,b),</a:t>
            </a:r>
            <a:r>
              <a:rPr lang="en-US" sz="2000" spc="60" dirty="0">
                <a:latin typeface="Cambria"/>
                <a:cs typeface="Cambria"/>
              </a:rPr>
              <a:t> </a:t>
            </a: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</a:t>
            </a:r>
            <a:r>
              <a:rPr lang="en-US" sz="2000" dirty="0">
                <a:latin typeface="Cambria"/>
                <a:cs typeface="Cambria"/>
              </a:rPr>
              <a:t>q2,b)}=</a:t>
            </a:r>
            <a:r>
              <a:rPr lang="en-US" sz="2000" spc="6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{q0q2}</a:t>
            </a:r>
            <a:endParaRPr lang="en-US" sz="2000" dirty="0">
              <a:latin typeface="Cambria"/>
              <a:cs typeface="Cambria"/>
            </a:endParaRPr>
          </a:p>
          <a:p>
            <a:pPr marL="469265">
              <a:spcBef>
                <a:spcPts val="210"/>
              </a:spcBef>
            </a:pP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resultant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is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not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marked</a:t>
            </a:r>
            <a:endParaRPr lang="en-US" sz="2000" dirty="0">
              <a:latin typeface="Cambria"/>
              <a:cs typeface="Cambria"/>
            </a:endParaRPr>
          </a:p>
          <a:p>
            <a:pPr marL="12700">
              <a:spcBef>
                <a:spcPts val="210"/>
              </a:spcBef>
            </a:pPr>
            <a:r>
              <a:rPr lang="en-US" sz="2000" dirty="0">
                <a:latin typeface="Cambria"/>
                <a:cs typeface="Cambria"/>
              </a:rPr>
              <a:t>So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{q0,q2}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can't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be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marked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as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distinguishable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spc="-20" dirty="0">
                <a:latin typeface="Cambria"/>
                <a:cs typeface="Cambria"/>
              </a:rPr>
              <a:t>pair</a:t>
            </a:r>
          </a:p>
          <a:p>
            <a:pPr marL="12700">
              <a:spcBef>
                <a:spcPts val="210"/>
              </a:spcBef>
            </a:pPr>
            <a:endParaRPr lang="en-US" sz="2000" dirty="0">
              <a:latin typeface="Cambria"/>
              <a:cs typeface="Cambria"/>
            </a:endParaRPr>
          </a:p>
          <a:p>
            <a:pPr marL="12700">
              <a:spcBef>
                <a:spcPts val="210"/>
              </a:spcBef>
            </a:pPr>
            <a:r>
              <a:rPr lang="en-US" sz="2000" spc="-10" dirty="0">
                <a:latin typeface="Cambria"/>
                <a:cs typeface="Cambria"/>
              </a:rPr>
              <a:t>{q0,q4}:</a:t>
            </a:r>
            <a:endParaRPr lang="en-US" sz="2000" dirty="0">
              <a:latin typeface="Cambria"/>
              <a:cs typeface="Cambria"/>
            </a:endParaRPr>
          </a:p>
          <a:p>
            <a:pPr marL="469265" marR="2419350">
              <a:lnSpc>
                <a:spcPct val="114599"/>
              </a:lnSpc>
            </a:pPr>
            <a:r>
              <a:rPr lang="en-US" sz="2000" dirty="0">
                <a:latin typeface="Cambria"/>
                <a:cs typeface="Cambria"/>
              </a:rPr>
              <a:t>{</a:t>
            </a: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</a:t>
            </a:r>
            <a:r>
              <a:rPr lang="en-US" sz="2000" dirty="0">
                <a:latin typeface="Cambria"/>
                <a:cs typeface="Cambria"/>
              </a:rPr>
              <a:t>q0,a),</a:t>
            </a:r>
            <a:r>
              <a:rPr lang="en-US" sz="2000" spc="65" dirty="0">
                <a:latin typeface="Cambria"/>
                <a:cs typeface="Cambria"/>
              </a:rPr>
              <a:t> </a:t>
            </a:r>
            <a:r>
              <a:rPr lang="el-GR" sz="2000" spc="-10" dirty="0">
                <a:latin typeface="Times New Roman"/>
                <a:cs typeface="Times New Roman"/>
              </a:rPr>
              <a:t>δ</a:t>
            </a:r>
            <a:r>
              <a:rPr lang="el-GR" sz="2000" spc="-10" dirty="0">
                <a:latin typeface="Cambria"/>
                <a:cs typeface="Cambria"/>
              </a:rPr>
              <a:t>(</a:t>
            </a:r>
            <a:r>
              <a:rPr lang="en-US" sz="2000" spc="-10" dirty="0">
                <a:latin typeface="Cambria"/>
                <a:cs typeface="Cambria"/>
              </a:rPr>
              <a:t>q4,a)}={q1,q5} </a:t>
            </a:r>
            <a:r>
              <a:rPr lang="en-US" sz="2000" dirty="0">
                <a:latin typeface="Cambria"/>
                <a:cs typeface="Cambria"/>
              </a:rPr>
              <a:t>Resultant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is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not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marked</a:t>
            </a:r>
            <a:endParaRPr lang="en-US" sz="2000" dirty="0">
              <a:latin typeface="Cambria"/>
              <a:cs typeface="Cambria"/>
            </a:endParaRPr>
          </a:p>
          <a:p>
            <a:pPr marL="469265">
              <a:spcBef>
                <a:spcPts val="210"/>
              </a:spcBef>
            </a:pPr>
            <a:r>
              <a:rPr lang="en-US" sz="2000" dirty="0">
                <a:latin typeface="Cambria"/>
                <a:cs typeface="Cambria"/>
              </a:rPr>
              <a:t>{</a:t>
            </a:r>
            <a:r>
              <a:rPr lang="el-GR" sz="2000" dirty="0">
                <a:latin typeface="Times New Roman"/>
                <a:cs typeface="Times New Roman"/>
              </a:rPr>
              <a:t>δ</a:t>
            </a:r>
            <a:r>
              <a:rPr lang="el-GR" sz="2000" dirty="0">
                <a:latin typeface="Cambria"/>
                <a:cs typeface="Cambria"/>
              </a:rPr>
              <a:t>(</a:t>
            </a:r>
            <a:r>
              <a:rPr lang="en-US" sz="2000" dirty="0">
                <a:latin typeface="Cambria"/>
                <a:cs typeface="Cambria"/>
              </a:rPr>
              <a:t>q0,b),</a:t>
            </a:r>
            <a:r>
              <a:rPr lang="en-US" sz="2000" spc="65" dirty="0">
                <a:latin typeface="Cambria"/>
                <a:cs typeface="Cambria"/>
              </a:rPr>
              <a:t> </a:t>
            </a:r>
            <a:r>
              <a:rPr lang="el-GR" sz="2000" spc="-10" dirty="0">
                <a:latin typeface="Times New Roman"/>
                <a:cs typeface="Times New Roman"/>
              </a:rPr>
              <a:t>δ</a:t>
            </a:r>
            <a:r>
              <a:rPr lang="el-GR" sz="2000" spc="-10" dirty="0">
                <a:latin typeface="Cambria"/>
                <a:cs typeface="Cambria"/>
              </a:rPr>
              <a:t>(</a:t>
            </a:r>
            <a:r>
              <a:rPr lang="en-US" sz="2000" spc="-10" dirty="0">
                <a:latin typeface="Cambria"/>
                <a:cs typeface="Cambria"/>
              </a:rPr>
              <a:t>q4,b)}={q0,q4}</a:t>
            </a:r>
          </a:p>
          <a:p>
            <a:pPr marL="469265">
              <a:spcBef>
                <a:spcPts val="310"/>
              </a:spcBef>
            </a:pPr>
            <a:r>
              <a:rPr lang="en-US" sz="2000" dirty="0">
                <a:latin typeface="Cambria"/>
                <a:cs typeface="Cambria"/>
              </a:rPr>
              <a:t>Resultant</a:t>
            </a:r>
            <a:r>
              <a:rPr lang="en-US" sz="2000" spc="-2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is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not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marked</a:t>
            </a:r>
            <a:endParaRPr lang="en-US" sz="2000" dirty="0">
              <a:latin typeface="Cambria"/>
              <a:cs typeface="Cambria"/>
            </a:endParaRPr>
          </a:p>
          <a:p>
            <a:pPr marL="12700">
              <a:spcBef>
                <a:spcPts val="210"/>
              </a:spcBef>
            </a:pPr>
            <a:r>
              <a:rPr lang="en-US" sz="2000" dirty="0">
                <a:latin typeface="Cambria"/>
                <a:cs typeface="Cambria"/>
              </a:rPr>
              <a:t>So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the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pair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{q0,q4}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can't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be</a:t>
            </a:r>
            <a:r>
              <a:rPr lang="en-US" sz="2000" spc="-10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marked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dirty="0">
                <a:latin typeface="Cambria"/>
                <a:cs typeface="Cambria"/>
              </a:rPr>
              <a:t>as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spc="-10" dirty="0">
                <a:latin typeface="Cambria"/>
                <a:cs typeface="Cambria"/>
              </a:rPr>
              <a:t>distinguishable</a:t>
            </a:r>
            <a:r>
              <a:rPr lang="en-US" sz="2000" spc="-15" dirty="0">
                <a:latin typeface="Cambria"/>
                <a:cs typeface="Cambria"/>
              </a:rPr>
              <a:t> </a:t>
            </a:r>
            <a:r>
              <a:rPr lang="en-US" sz="2000" spc="-20" dirty="0">
                <a:latin typeface="Cambria"/>
                <a:cs typeface="Cambria"/>
              </a:rPr>
              <a:t>pair</a:t>
            </a:r>
            <a:endParaRPr lang="en-US" sz="2000" dirty="0">
              <a:latin typeface="Cambria"/>
              <a:cs typeface="Cambria"/>
            </a:endParaRPr>
          </a:p>
          <a:p>
            <a:pPr>
              <a:spcBef>
                <a:spcPts val="450"/>
              </a:spcBef>
            </a:pPr>
            <a:endParaRPr lang="en-US" sz="2000" dirty="0">
              <a:latin typeface="Cambria"/>
              <a:cs typeface="Cambria"/>
            </a:endParaRPr>
          </a:p>
          <a:p>
            <a:pPr marL="469265">
              <a:spcBef>
                <a:spcPts val="210"/>
              </a:spcBef>
            </a:pPr>
            <a:endParaRPr lang="en-US" sz="20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837916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object 5"/>
          <p:cNvSpPr txBox="1"/>
          <p:nvPr/>
        </p:nvSpPr>
        <p:spPr>
          <a:xfrm>
            <a:off x="891747" y="2276335"/>
            <a:ext cx="416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Example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2: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Minimize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following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DFA: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06163" y="2895600"/>
            <a:ext cx="9601200" cy="2866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/>
            <a:r>
              <a:rPr lang="en-US" spc="-10">
                <a:latin typeface="Cambria"/>
                <a:cs typeface="Cambria"/>
              </a:rPr>
              <a:t>{q1,q5}:</a:t>
            </a:r>
            <a:endParaRPr lang="en-US">
              <a:latin typeface="Cambria"/>
              <a:cs typeface="Cambria"/>
            </a:endParaRPr>
          </a:p>
          <a:p>
            <a:pPr marL="469265" marR="3458210">
              <a:lnSpc>
                <a:spcPct val="114599"/>
              </a:lnSpc>
            </a:pPr>
            <a:r>
              <a:rPr lang="en-US">
                <a:latin typeface="Cambria"/>
                <a:cs typeface="Cambria"/>
              </a:rPr>
              <a:t>{</a:t>
            </a:r>
            <a:r>
              <a:rPr lang="el-GR">
                <a:latin typeface="Times New Roman"/>
                <a:cs typeface="Times New Roman"/>
              </a:rPr>
              <a:t>δ</a:t>
            </a:r>
            <a:r>
              <a:rPr lang="el-GR">
                <a:latin typeface="Cambria"/>
                <a:cs typeface="Cambria"/>
              </a:rPr>
              <a:t>(</a:t>
            </a:r>
            <a:r>
              <a:rPr lang="en-US">
                <a:latin typeface="Cambria"/>
                <a:cs typeface="Cambria"/>
              </a:rPr>
              <a:t>q1,a),</a:t>
            </a:r>
            <a:r>
              <a:rPr lang="en-US" spc="65">
                <a:latin typeface="Cambria"/>
                <a:cs typeface="Cambria"/>
              </a:rPr>
              <a:t> </a:t>
            </a:r>
            <a:r>
              <a:rPr lang="el-GR" spc="-10">
                <a:latin typeface="Times New Roman"/>
                <a:cs typeface="Times New Roman"/>
              </a:rPr>
              <a:t>δ</a:t>
            </a:r>
            <a:r>
              <a:rPr lang="el-GR" spc="-10">
                <a:latin typeface="Cambria"/>
                <a:cs typeface="Cambria"/>
              </a:rPr>
              <a:t>(</a:t>
            </a:r>
            <a:r>
              <a:rPr lang="en-US" spc="-10">
                <a:latin typeface="Cambria"/>
                <a:cs typeface="Cambria"/>
              </a:rPr>
              <a:t>q5,a)}={q1,q5} </a:t>
            </a:r>
            <a:r>
              <a:rPr lang="en-US">
                <a:latin typeface="Cambria"/>
                <a:cs typeface="Cambria"/>
              </a:rPr>
              <a:t>Resultant</a:t>
            </a:r>
            <a:r>
              <a:rPr lang="en-US" spc="-20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pair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is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not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 spc="-10">
                <a:latin typeface="Cambria"/>
                <a:cs typeface="Cambria"/>
              </a:rPr>
              <a:t>marked</a:t>
            </a:r>
            <a:endParaRPr lang="en-US">
              <a:latin typeface="Cambria"/>
              <a:cs typeface="Cambria"/>
            </a:endParaRPr>
          </a:p>
          <a:p>
            <a:pPr marL="469265" marR="3458210">
              <a:lnSpc>
                <a:spcPct val="114599"/>
              </a:lnSpc>
            </a:pPr>
            <a:r>
              <a:rPr lang="en-US">
                <a:latin typeface="Cambria"/>
                <a:cs typeface="Cambria"/>
              </a:rPr>
              <a:t>{</a:t>
            </a:r>
            <a:r>
              <a:rPr lang="el-GR">
                <a:latin typeface="Times New Roman"/>
                <a:cs typeface="Times New Roman"/>
              </a:rPr>
              <a:t>δ</a:t>
            </a:r>
            <a:r>
              <a:rPr lang="el-GR">
                <a:latin typeface="Cambria"/>
                <a:cs typeface="Cambria"/>
              </a:rPr>
              <a:t>(</a:t>
            </a:r>
            <a:r>
              <a:rPr lang="en-US">
                <a:latin typeface="Cambria"/>
                <a:cs typeface="Cambria"/>
              </a:rPr>
              <a:t>q1,b),</a:t>
            </a:r>
            <a:r>
              <a:rPr lang="en-US" spc="65">
                <a:latin typeface="Cambria"/>
                <a:cs typeface="Cambria"/>
              </a:rPr>
              <a:t> </a:t>
            </a:r>
            <a:r>
              <a:rPr lang="el-GR" spc="-10">
                <a:latin typeface="Times New Roman"/>
                <a:cs typeface="Times New Roman"/>
              </a:rPr>
              <a:t>δ</a:t>
            </a:r>
            <a:r>
              <a:rPr lang="el-GR" spc="-10">
                <a:latin typeface="Cambria"/>
                <a:cs typeface="Cambria"/>
              </a:rPr>
              <a:t>(</a:t>
            </a:r>
            <a:r>
              <a:rPr lang="en-US" spc="-10">
                <a:latin typeface="Cambria"/>
                <a:cs typeface="Cambria"/>
              </a:rPr>
              <a:t>q5,b)}={q2,q0} </a:t>
            </a:r>
            <a:r>
              <a:rPr lang="en-US">
                <a:latin typeface="Cambria"/>
                <a:cs typeface="Cambria"/>
              </a:rPr>
              <a:t>Resultant</a:t>
            </a:r>
            <a:r>
              <a:rPr lang="en-US" spc="-20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pair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is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not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 spc="-10">
                <a:latin typeface="Cambria"/>
                <a:cs typeface="Cambria"/>
              </a:rPr>
              <a:t>marked</a:t>
            </a:r>
            <a:endParaRPr lang="en-US">
              <a:latin typeface="Cambria"/>
              <a:cs typeface="Cambria"/>
            </a:endParaRPr>
          </a:p>
          <a:p>
            <a:pPr marL="12700">
              <a:spcBef>
                <a:spcPts val="210"/>
              </a:spcBef>
            </a:pPr>
            <a:r>
              <a:rPr lang="en-US">
                <a:latin typeface="Cambria"/>
                <a:cs typeface="Cambria"/>
              </a:rPr>
              <a:t>So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the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pair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{q1,q5}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can't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be</a:t>
            </a:r>
            <a:r>
              <a:rPr lang="en-US" spc="-10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marked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as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 spc="-10">
                <a:latin typeface="Cambria"/>
                <a:cs typeface="Cambria"/>
              </a:rPr>
              <a:t>distinguishable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 spc="-20">
                <a:latin typeface="Cambria"/>
                <a:cs typeface="Cambria"/>
              </a:rPr>
              <a:t>pair</a:t>
            </a:r>
            <a:endParaRPr lang="en-US">
              <a:latin typeface="Cambria"/>
              <a:cs typeface="Cambria"/>
            </a:endParaRPr>
          </a:p>
          <a:p>
            <a:pPr>
              <a:spcBef>
                <a:spcPts val="455"/>
              </a:spcBef>
            </a:pPr>
            <a:endParaRPr lang="en-US">
              <a:latin typeface="Cambria"/>
              <a:cs typeface="Cambria"/>
            </a:endParaRPr>
          </a:p>
          <a:p>
            <a:pPr marL="12700"/>
            <a:r>
              <a:rPr lang="en-US" spc="-10">
                <a:latin typeface="Cambria"/>
                <a:cs typeface="Cambria"/>
              </a:rPr>
              <a:t>{q1,q3}:</a:t>
            </a:r>
            <a:endParaRPr lang="en-US">
              <a:latin typeface="Cambria"/>
              <a:cs typeface="Cambria"/>
            </a:endParaRPr>
          </a:p>
          <a:p>
            <a:pPr marL="469265" marR="3458210">
              <a:lnSpc>
                <a:spcPct val="114599"/>
              </a:lnSpc>
            </a:pPr>
            <a:r>
              <a:rPr lang="en-US">
                <a:latin typeface="Cambria"/>
                <a:cs typeface="Cambria"/>
              </a:rPr>
              <a:t>{</a:t>
            </a:r>
            <a:r>
              <a:rPr lang="el-GR">
                <a:latin typeface="Times New Roman"/>
                <a:cs typeface="Times New Roman"/>
              </a:rPr>
              <a:t>δ</a:t>
            </a:r>
            <a:r>
              <a:rPr lang="el-GR">
                <a:latin typeface="Cambria"/>
                <a:cs typeface="Cambria"/>
              </a:rPr>
              <a:t>(</a:t>
            </a:r>
            <a:r>
              <a:rPr lang="en-US">
                <a:latin typeface="Cambria"/>
                <a:cs typeface="Cambria"/>
              </a:rPr>
              <a:t>q1,a),</a:t>
            </a:r>
            <a:r>
              <a:rPr lang="en-US" spc="65">
                <a:latin typeface="Cambria"/>
                <a:cs typeface="Cambria"/>
              </a:rPr>
              <a:t> </a:t>
            </a:r>
            <a:r>
              <a:rPr lang="el-GR" spc="-10">
                <a:latin typeface="Times New Roman"/>
                <a:cs typeface="Times New Roman"/>
              </a:rPr>
              <a:t>δ</a:t>
            </a:r>
            <a:r>
              <a:rPr lang="el-GR" spc="-10">
                <a:latin typeface="Cambria"/>
                <a:cs typeface="Cambria"/>
              </a:rPr>
              <a:t>(</a:t>
            </a:r>
            <a:r>
              <a:rPr lang="en-US" spc="-10">
                <a:latin typeface="Cambria"/>
                <a:cs typeface="Cambria"/>
              </a:rPr>
              <a:t>q3,a)}={q1,q3} </a:t>
            </a:r>
            <a:r>
              <a:rPr lang="en-US">
                <a:latin typeface="Cambria"/>
                <a:cs typeface="Cambria"/>
              </a:rPr>
              <a:t>Resultant</a:t>
            </a:r>
            <a:r>
              <a:rPr lang="en-US" spc="-20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pair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is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not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 spc="-10">
                <a:latin typeface="Cambria"/>
                <a:cs typeface="Cambria"/>
              </a:rPr>
              <a:t>marked</a:t>
            </a:r>
            <a:endParaRPr lang="en-US">
              <a:latin typeface="Cambria"/>
              <a:cs typeface="Cambria"/>
            </a:endParaRPr>
          </a:p>
          <a:p>
            <a:pPr marL="469265" marR="3458210">
              <a:lnSpc>
                <a:spcPct val="114599"/>
              </a:lnSpc>
            </a:pPr>
            <a:r>
              <a:rPr lang="en-US">
                <a:latin typeface="Cambria"/>
                <a:cs typeface="Cambria"/>
              </a:rPr>
              <a:t>{</a:t>
            </a:r>
            <a:r>
              <a:rPr lang="el-GR">
                <a:latin typeface="Times New Roman"/>
                <a:cs typeface="Times New Roman"/>
              </a:rPr>
              <a:t>δ</a:t>
            </a:r>
            <a:r>
              <a:rPr lang="el-GR">
                <a:latin typeface="Cambria"/>
                <a:cs typeface="Cambria"/>
              </a:rPr>
              <a:t>(</a:t>
            </a:r>
            <a:r>
              <a:rPr lang="en-US">
                <a:latin typeface="Cambria"/>
                <a:cs typeface="Cambria"/>
              </a:rPr>
              <a:t>q1,b),</a:t>
            </a:r>
            <a:r>
              <a:rPr lang="en-US" spc="65">
                <a:latin typeface="Cambria"/>
                <a:cs typeface="Cambria"/>
              </a:rPr>
              <a:t> </a:t>
            </a:r>
            <a:r>
              <a:rPr lang="el-GR" spc="-10">
                <a:latin typeface="Times New Roman"/>
                <a:cs typeface="Times New Roman"/>
              </a:rPr>
              <a:t>δ</a:t>
            </a:r>
            <a:r>
              <a:rPr lang="el-GR" spc="-10">
                <a:latin typeface="Cambria"/>
                <a:cs typeface="Cambria"/>
              </a:rPr>
              <a:t>(</a:t>
            </a:r>
            <a:r>
              <a:rPr lang="en-US" spc="-10">
                <a:latin typeface="Cambria"/>
                <a:cs typeface="Cambria"/>
              </a:rPr>
              <a:t>q3,b)}={q2,q4} </a:t>
            </a:r>
            <a:r>
              <a:rPr lang="en-US">
                <a:latin typeface="Cambria"/>
                <a:cs typeface="Cambria"/>
              </a:rPr>
              <a:t>Resultant</a:t>
            </a:r>
            <a:r>
              <a:rPr lang="en-US" spc="-20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pair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is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not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 spc="-10">
                <a:latin typeface="Cambria"/>
                <a:cs typeface="Cambria"/>
              </a:rPr>
              <a:t>marked</a:t>
            </a:r>
            <a:endParaRPr lang="en-US">
              <a:latin typeface="Cambria"/>
              <a:cs typeface="Cambria"/>
            </a:endParaRPr>
          </a:p>
          <a:p>
            <a:pPr marL="12700">
              <a:spcBef>
                <a:spcPts val="210"/>
              </a:spcBef>
            </a:pPr>
            <a:r>
              <a:rPr lang="en-US">
                <a:latin typeface="Cambria"/>
                <a:cs typeface="Cambria"/>
              </a:rPr>
              <a:t>So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the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pair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{q1,q3}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can't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be</a:t>
            </a:r>
            <a:r>
              <a:rPr lang="en-US" spc="-10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marked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>
                <a:latin typeface="Cambria"/>
                <a:cs typeface="Cambria"/>
              </a:rPr>
              <a:t>as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 spc="-10">
                <a:latin typeface="Cambria"/>
                <a:cs typeface="Cambria"/>
              </a:rPr>
              <a:t>distinguishable</a:t>
            </a:r>
            <a:r>
              <a:rPr lang="en-US" spc="-15">
                <a:latin typeface="Cambria"/>
                <a:cs typeface="Cambria"/>
              </a:rPr>
              <a:t> </a:t>
            </a:r>
            <a:r>
              <a:rPr lang="en-US" spc="-20">
                <a:latin typeface="Cambria"/>
                <a:cs typeface="Cambria"/>
              </a:rPr>
              <a:t>pair</a:t>
            </a:r>
            <a:endParaRPr lang="en-US" dirty="0">
              <a:latin typeface="Cambria"/>
              <a:cs typeface="Cambr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91746" y="6248400"/>
            <a:ext cx="10766853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14599"/>
              </a:lnSpc>
            </a:pPr>
            <a:r>
              <a:rPr lang="en-US" dirty="0">
                <a:latin typeface="Cambria"/>
                <a:cs typeface="Cambria"/>
              </a:rPr>
              <a:t>So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states,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{q0,q4,q2}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can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be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merged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into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single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{q1,q3,q5)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can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be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merged</a:t>
            </a:r>
            <a:r>
              <a:rPr lang="en-US" spc="-25" dirty="0">
                <a:latin typeface="Cambria"/>
                <a:cs typeface="Cambria"/>
              </a:rPr>
              <a:t> as </a:t>
            </a:r>
            <a:r>
              <a:rPr lang="en-US" dirty="0">
                <a:latin typeface="Cambria"/>
                <a:cs typeface="Cambria"/>
              </a:rPr>
              <a:t>another</a:t>
            </a:r>
            <a:r>
              <a:rPr lang="en-US" spc="-4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state.</a:t>
            </a:r>
            <a:endParaRPr lang="en-US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431590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object 5"/>
          <p:cNvSpPr txBox="1"/>
          <p:nvPr/>
        </p:nvSpPr>
        <p:spPr>
          <a:xfrm>
            <a:off x="891747" y="2276335"/>
            <a:ext cx="416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Example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2: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Minimize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following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DFA: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7" name="object 2"/>
          <p:cNvSpPr txBox="1"/>
          <p:nvPr/>
        </p:nvSpPr>
        <p:spPr>
          <a:xfrm>
            <a:off x="891746" y="3078063"/>
            <a:ext cx="573765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The</a:t>
            </a:r>
            <a:r>
              <a:rPr spc="-2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transition</a:t>
            </a:r>
            <a:r>
              <a:rPr spc="-1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table</a:t>
            </a:r>
            <a:r>
              <a:rPr spc="-1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for</a:t>
            </a:r>
            <a:r>
              <a:rPr spc="-1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spc="-1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minimized</a:t>
            </a:r>
            <a:r>
              <a:rPr spc="-15" dirty="0">
                <a:latin typeface="Cambria"/>
                <a:cs typeface="Cambria"/>
              </a:rPr>
              <a:t> </a:t>
            </a:r>
            <a:r>
              <a:rPr spc="-20" dirty="0">
                <a:latin typeface="Cambria"/>
                <a:cs typeface="Cambria"/>
              </a:rPr>
              <a:t>DFA:</a:t>
            </a:r>
            <a:endParaRPr dirty="0">
              <a:latin typeface="Cambria"/>
              <a:cs typeface="Cambria"/>
            </a:endParaRPr>
          </a:p>
        </p:txBody>
      </p:sp>
      <p:graphicFrame>
        <p:nvGraphicFramePr>
          <p:cNvPr id="8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114005"/>
              </p:ext>
            </p:extLst>
          </p:nvPr>
        </p:nvGraphicFramePr>
        <p:xfrm>
          <a:off x="891746" y="3869894"/>
          <a:ext cx="3527853" cy="1311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6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7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50" dirty="0">
                          <a:latin typeface="Cambria"/>
                          <a:cs typeface="Cambria"/>
                        </a:rPr>
                        <a:t>a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615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50" dirty="0">
                          <a:latin typeface="Cambria"/>
                          <a:cs typeface="Cambria"/>
                        </a:rPr>
                        <a:t>b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615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235">
                <a:tc>
                  <a:txBody>
                    <a:bodyPr/>
                    <a:lstStyle/>
                    <a:p>
                      <a:pPr marR="3746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{q0q2q4}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615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{q1q3q5}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615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{q0q2q4}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615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235">
                <a:tc>
                  <a:txBody>
                    <a:bodyPr/>
                    <a:lstStyle/>
                    <a:p>
                      <a:pPr marR="3746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{q1q3q5}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615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{q1q3q5}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615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{q0q2q4}</a:t>
                      </a:r>
                      <a:endParaRPr sz="1200" dirty="0">
                        <a:latin typeface="Cambria"/>
                        <a:cs typeface="Cambria"/>
                      </a:endParaRPr>
                    </a:p>
                  </a:txBody>
                  <a:tcPr marL="0" marR="0" marT="615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91746" y="5683607"/>
            <a:ext cx="31261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latin typeface="Cambria"/>
                <a:cs typeface="Cambria"/>
              </a:rPr>
              <a:t>Minimized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spc="-20" dirty="0">
                <a:latin typeface="Cambria"/>
                <a:cs typeface="Cambria"/>
              </a:rPr>
              <a:t>DFA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diagram:</a:t>
            </a:r>
            <a:endParaRPr lang="en-US" dirty="0">
              <a:latin typeface="Cambria"/>
              <a:cs typeface="Cambria"/>
            </a:endParaRPr>
          </a:p>
        </p:txBody>
      </p:sp>
      <p:pic>
        <p:nvPicPr>
          <p:cNvPr id="9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1746" y="6705600"/>
            <a:ext cx="3428999" cy="97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561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891746" y="2306296"/>
            <a:ext cx="4335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Example</a:t>
            </a:r>
            <a:r>
              <a:rPr lang="en-US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3</a:t>
            </a:r>
            <a:r>
              <a:rPr lang="en-US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:</a:t>
            </a:r>
            <a:r>
              <a:rPr lang="en-US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Minimize</a:t>
            </a:r>
            <a:r>
              <a:rPr lang="en-US" b="1" u="sng" spc="-1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lang="en-US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following</a:t>
            </a:r>
            <a:r>
              <a:rPr lang="en-US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DFA</a:t>
            </a:r>
            <a:endParaRPr lang="en-US" dirty="0">
              <a:latin typeface="Cambria"/>
              <a:cs typeface="Cambria"/>
            </a:endParaRPr>
          </a:p>
        </p:txBody>
      </p:sp>
      <p:pic>
        <p:nvPicPr>
          <p:cNvPr id="11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2819398"/>
            <a:ext cx="5578794" cy="2971801"/>
          </a:xfrm>
          <a:prstGeom prst="rect">
            <a:avLst/>
          </a:prstGeom>
        </p:spPr>
      </p:pic>
      <p:graphicFrame>
        <p:nvGraphicFramePr>
          <p:cNvPr id="12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568579"/>
              </p:ext>
            </p:extLst>
          </p:nvPr>
        </p:nvGraphicFramePr>
        <p:xfrm>
          <a:off x="8629650" y="3230250"/>
          <a:ext cx="2641599" cy="30099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8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9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005" algn="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Cambria"/>
                          <a:cs typeface="Cambria"/>
                        </a:rPr>
                        <a:t>a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Cambria"/>
                          <a:cs typeface="Cambria"/>
                        </a:rPr>
                        <a:t>b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986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100" spc="-20" dirty="0">
                          <a:latin typeface="Cambria"/>
                          <a:cs typeface="Cambria"/>
                        </a:rPr>
                        <a:t>&gt;*q0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6530" algn="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986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6530" algn="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986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*q2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6530" algn="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q5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986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6530" algn="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986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6530" algn="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986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q5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6530" algn="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q4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9049241" y="2675628"/>
            <a:ext cx="18024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pc="-10">
                <a:latin typeface="Cambria"/>
                <a:cs typeface="Cambria"/>
              </a:rPr>
              <a:t>Transition</a:t>
            </a:r>
            <a:r>
              <a:rPr lang="en-US" spc="30">
                <a:latin typeface="Cambria"/>
                <a:cs typeface="Cambria"/>
              </a:rPr>
              <a:t> </a:t>
            </a:r>
            <a:r>
              <a:rPr lang="en-US" spc="-10">
                <a:latin typeface="Cambria"/>
                <a:cs typeface="Cambria"/>
              </a:rPr>
              <a:t>table:</a:t>
            </a:r>
            <a:endParaRPr lang="en-US" dirty="0">
              <a:latin typeface="Cambria"/>
              <a:cs typeface="Cambria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70445" y="6138501"/>
            <a:ext cx="46878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table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after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applying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table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filling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algorithm</a:t>
            </a:r>
            <a:endParaRPr lang="en-US" dirty="0">
              <a:latin typeface="Cambria"/>
              <a:cs typeface="Cambria"/>
            </a:endParaRPr>
          </a:p>
        </p:txBody>
      </p:sp>
      <p:grpSp>
        <p:nvGrpSpPr>
          <p:cNvPr id="15" name="object 5"/>
          <p:cNvGrpSpPr/>
          <p:nvPr/>
        </p:nvGrpSpPr>
        <p:grpSpPr>
          <a:xfrm>
            <a:off x="3470445" y="6873670"/>
            <a:ext cx="5578796" cy="1660730"/>
            <a:chOff x="933450" y="4476750"/>
            <a:chExt cx="3667125" cy="1152525"/>
          </a:xfrm>
        </p:grpSpPr>
        <p:pic>
          <p:nvPicPr>
            <p:cNvPr id="1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3450" y="4476750"/>
              <a:ext cx="3667124" cy="1152524"/>
            </a:xfrm>
            <a:prstGeom prst="rect">
              <a:avLst/>
            </a:prstGeom>
          </p:spPr>
        </p:pic>
        <p:pic>
          <p:nvPicPr>
            <p:cNvPr id="1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69436" y="5092513"/>
              <a:ext cx="656615" cy="1758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6319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891746" y="2306296"/>
            <a:ext cx="4335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Example</a:t>
            </a:r>
            <a:r>
              <a:rPr lang="en-US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3</a:t>
            </a:r>
            <a:r>
              <a:rPr lang="en-US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:</a:t>
            </a:r>
            <a:r>
              <a:rPr lang="en-US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Minimize</a:t>
            </a:r>
            <a:r>
              <a:rPr lang="en-US" b="1" u="sng" spc="-1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lang="en-US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following</a:t>
            </a:r>
            <a:r>
              <a:rPr lang="en-US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DFA</a:t>
            </a:r>
            <a:endParaRPr lang="en-US" dirty="0">
              <a:latin typeface="Cambria"/>
              <a:cs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8816" y="2971800"/>
            <a:ext cx="7315200" cy="194764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4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states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after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applying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table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filling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algorithm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are: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{q0q2},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{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q3,q5},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q1,q4 </a:t>
            </a: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minimized</a:t>
            </a:r>
            <a:r>
              <a:rPr lang="en-US" spc="-20" dirty="0">
                <a:latin typeface="Cambria"/>
                <a:cs typeface="Cambria"/>
              </a:rPr>
              <a:t> DFA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transition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table:</a:t>
            </a:r>
            <a:endParaRPr lang="en-US" dirty="0">
              <a:latin typeface="Cambria"/>
              <a:cs typeface="Cambria"/>
            </a:endParaRPr>
          </a:p>
          <a:p>
            <a:pPr marL="12700">
              <a:spcBef>
                <a:spcPts val="180"/>
              </a:spcBef>
            </a:pP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3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states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are</a:t>
            </a:r>
            <a:r>
              <a:rPr lang="en-US" spc="-3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renamed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spc="-25" dirty="0">
                <a:latin typeface="Cambria"/>
                <a:cs typeface="Cambria"/>
              </a:rPr>
              <a:t>as:</a:t>
            </a:r>
            <a:endParaRPr lang="en-US" dirty="0">
              <a:latin typeface="Cambria"/>
              <a:cs typeface="Cambria"/>
            </a:endParaRPr>
          </a:p>
          <a:p>
            <a:pPr marL="12700">
              <a:spcBef>
                <a:spcPts val="180"/>
              </a:spcBef>
            </a:pPr>
            <a:r>
              <a:rPr lang="en-US" spc="-10" dirty="0">
                <a:latin typeface="Cambria"/>
                <a:cs typeface="Cambria"/>
              </a:rPr>
              <a:t>{q0q2}=q3</a:t>
            </a:r>
            <a:endParaRPr lang="en-US" dirty="0">
              <a:latin typeface="Cambria"/>
              <a:cs typeface="Cambria"/>
            </a:endParaRPr>
          </a:p>
          <a:p>
            <a:pPr marL="12700" marR="3856990">
              <a:lnSpc>
                <a:spcPct val="113599"/>
              </a:lnSpc>
            </a:pPr>
            <a:r>
              <a:rPr lang="en-US" dirty="0">
                <a:latin typeface="Cambria"/>
                <a:cs typeface="Cambria"/>
              </a:rPr>
              <a:t>{q3q5}=</a:t>
            </a:r>
            <a:r>
              <a:rPr lang="en-US" spc="-25" dirty="0">
                <a:latin typeface="Cambria"/>
                <a:cs typeface="Cambria"/>
              </a:rPr>
              <a:t> q1 </a:t>
            </a:r>
            <a:r>
              <a:rPr lang="en-US" dirty="0" err="1">
                <a:latin typeface="Cambria"/>
                <a:cs typeface="Cambria"/>
              </a:rPr>
              <a:t>Q1</a:t>
            </a:r>
            <a:r>
              <a:rPr lang="en-US" spc="-1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=</a:t>
            </a:r>
            <a:r>
              <a:rPr lang="en-US" spc="-10" dirty="0">
                <a:latin typeface="Cambria"/>
                <a:cs typeface="Cambria"/>
              </a:rPr>
              <a:t> </a:t>
            </a:r>
            <a:r>
              <a:rPr lang="en-US" spc="-35" dirty="0">
                <a:latin typeface="Cambria"/>
                <a:cs typeface="Cambria"/>
              </a:rPr>
              <a:t>q1</a:t>
            </a:r>
            <a:endParaRPr lang="en-US" dirty="0">
              <a:latin typeface="Cambria"/>
              <a:cs typeface="Cambria"/>
            </a:endParaRPr>
          </a:p>
          <a:p>
            <a:pPr marL="12700">
              <a:spcBef>
                <a:spcPts val="180"/>
              </a:spcBef>
            </a:pPr>
            <a:r>
              <a:rPr lang="en-US" spc="-10" dirty="0">
                <a:latin typeface="Cambria"/>
                <a:cs typeface="Cambria"/>
              </a:rPr>
              <a:t>q0=q4</a:t>
            </a:r>
            <a:endParaRPr lang="en-US" dirty="0">
              <a:latin typeface="Cambria"/>
              <a:cs typeface="Cambria"/>
            </a:endParaRPr>
          </a:p>
        </p:txBody>
      </p:sp>
      <p:graphicFrame>
        <p:nvGraphicFramePr>
          <p:cNvPr id="7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337257"/>
              </p:ext>
            </p:extLst>
          </p:nvPr>
        </p:nvGraphicFramePr>
        <p:xfrm>
          <a:off x="1066800" y="5215619"/>
          <a:ext cx="4267200" cy="2556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1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9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13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Cambria"/>
                          <a:cs typeface="Cambria"/>
                        </a:rPr>
                        <a:t>a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50" dirty="0">
                          <a:latin typeface="Cambria"/>
                          <a:cs typeface="Cambria"/>
                        </a:rPr>
                        <a:t>b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356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100" spc="-20" dirty="0">
                          <a:latin typeface="Cambria"/>
                          <a:cs typeface="Cambria"/>
                        </a:rPr>
                        <a:t>&gt;*q3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356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356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356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spc="-25" dirty="0">
                          <a:latin typeface="Cambria"/>
                          <a:cs typeface="Cambria"/>
                        </a:rPr>
                        <a:t>q0</a:t>
                      </a:r>
                      <a:endParaRPr sz="1100" dirty="0">
                        <a:latin typeface="Cambria"/>
                        <a:cs typeface="Cambria"/>
                      </a:endParaRPr>
                    </a:p>
                  </a:txBody>
                  <a:tcPr marL="0" marR="0" marT="647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7964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31" y="280327"/>
            <a:ext cx="7620000" cy="10915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00" spc="-10" dirty="0">
                <a:solidFill>
                  <a:srgbClr val="2F5496"/>
                </a:solidFill>
              </a:rPr>
              <a:t>Automata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Formal</a:t>
            </a:r>
            <a:r>
              <a:rPr sz="3000" spc="-20" dirty="0">
                <a:solidFill>
                  <a:srgbClr val="2F5496"/>
                </a:solidFill>
              </a:rPr>
              <a:t> </a:t>
            </a:r>
            <a:r>
              <a:rPr sz="3000" spc="-10" dirty="0">
                <a:solidFill>
                  <a:srgbClr val="2F5496"/>
                </a:solidFill>
              </a:rPr>
              <a:t>Languages</a:t>
            </a:r>
            <a:r>
              <a:rPr sz="3000" spc="-2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and</a:t>
            </a:r>
            <a:r>
              <a:rPr sz="3000" spc="-15" dirty="0">
                <a:solidFill>
                  <a:srgbClr val="2F5496"/>
                </a:solidFill>
              </a:rPr>
              <a:t> </a:t>
            </a:r>
            <a:r>
              <a:rPr sz="3000" spc="-5" dirty="0">
                <a:solidFill>
                  <a:srgbClr val="2F5496"/>
                </a:solidFill>
              </a:rPr>
              <a:t>Logic</a:t>
            </a:r>
            <a:endParaRPr sz="3000"/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3000" spc="-5" dirty="0"/>
              <a:t>Unit</a:t>
            </a:r>
            <a:r>
              <a:rPr sz="3000" spc="-25" dirty="0"/>
              <a:t> </a:t>
            </a:r>
            <a:r>
              <a:rPr sz="3000" dirty="0"/>
              <a:t>1</a:t>
            </a:r>
            <a:r>
              <a:rPr sz="3000" spc="-25" dirty="0"/>
              <a:t> </a:t>
            </a:r>
            <a:r>
              <a:rPr sz="3000" dirty="0"/>
              <a:t>-</a:t>
            </a:r>
            <a:r>
              <a:rPr sz="3000" spc="-25" dirty="0"/>
              <a:t> </a:t>
            </a:r>
            <a:r>
              <a:rPr sz="3000" spc="-5" dirty="0"/>
              <a:t>Deterministic</a:t>
            </a:r>
            <a:r>
              <a:rPr sz="3000" spc="-20" dirty="0"/>
              <a:t> </a:t>
            </a:r>
            <a:r>
              <a:rPr sz="3000" spc="-10" dirty="0"/>
              <a:t>Finite</a:t>
            </a:r>
            <a:r>
              <a:rPr sz="3000" spc="-25" dirty="0"/>
              <a:t> </a:t>
            </a:r>
            <a:r>
              <a:rPr sz="3000" spc="-5" dirty="0"/>
              <a:t>Acceptor/Automata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1736227"/>
            <a:ext cx="9950450" cy="38100"/>
          </a:xfrm>
          <a:custGeom>
            <a:avLst/>
            <a:gdLst/>
            <a:ahLst/>
            <a:cxnLst/>
            <a:rect l="l" t="t" r="r" b="b"/>
            <a:pathLst>
              <a:path w="9950450" h="38100">
                <a:moveTo>
                  <a:pt x="9950030" y="38099"/>
                </a:moveTo>
                <a:lnTo>
                  <a:pt x="0" y="38099"/>
                </a:lnTo>
                <a:lnTo>
                  <a:pt x="0" y="0"/>
                </a:lnTo>
                <a:lnTo>
                  <a:pt x="9950030" y="0"/>
                </a:lnTo>
                <a:lnTo>
                  <a:pt x="9950030" y="3809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Google Shape;60;p2">
            <a:extLst>
              <a:ext uri="{FF2B5EF4-FFF2-40B4-BE49-F238E27FC236}">
                <a16:creationId xmlns:a16="http://schemas.microsoft.com/office/drawing/2014/main" id="{DAC82542-E31D-1097-9486-F899E8FFD1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45325" y="117951"/>
            <a:ext cx="1654025" cy="8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891746" y="2306296"/>
            <a:ext cx="4335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Example</a:t>
            </a:r>
            <a:r>
              <a:rPr lang="en-US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3</a:t>
            </a:r>
            <a:r>
              <a:rPr lang="en-US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:</a:t>
            </a:r>
            <a:r>
              <a:rPr lang="en-US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Minimize</a:t>
            </a:r>
            <a:r>
              <a:rPr lang="en-US" b="1" u="sng" spc="-1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lang="en-US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following</a:t>
            </a:r>
            <a:r>
              <a:rPr lang="en-US" b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lang="en-US" b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DFA</a:t>
            </a:r>
            <a:endParaRPr lang="en-US" dirty="0">
              <a:latin typeface="Cambria"/>
              <a:cs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6460" y="3022931"/>
            <a:ext cx="41056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latin typeface="Cambria"/>
                <a:cs typeface="Cambria"/>
              </a:rPr>
              <a:t>The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minimized</a:t>
            </a:r>
            <a:r>
              <a:rPr lang="en-US" spc="-20" dirty="0">
                <a:latin typeface="Cambria"/>
                <a:cs typeface="Cambria"/>
              </a:rPr>
              <a:t> DFA</a:t>
            </a:r>
            <a:r>
              <a:rPr lang="en-US" spc="-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transition</a:t>
            </a:r>
            <a:r>
              <a:rPr lang="en-US" spc="-2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diagram::</a:t>
            </a:r>
            <a:endParaRPr lang="en-US" dirty="0">
              <a:latin typeface="Cambria"/>
              <a:cs typeface="Cambria"/>
            </a:endParaRPr>
          </a:p>
        </p:txBody>
      </p:sp>
      <p:pic>
        <p:nvPicPr>
          <p:cNvPr id="7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5552" y="3739566"/>
            <a:ext cx="9251448" cy="487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927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37801" y="3849744"/>
            <a:ext cx="5497830" cy="0"/>
          </a:xfrm>
          <a:custGeom>
            <a:avLst/>
            <a:gdLst/>
            <a:ahLst/>
            <a:cxnLst/>
            <a:rect l="l" t="t" r="r" b="b"/>
            <a:pathLst>
              <a:path w="5497830">
                <a:moveTo>
                  <a:pt x="0" y="0"/>
                </a:moveTo>
                <a:lnTo>
                  <a:pt x="5497799" y="0"/>
                </a:lnTo>
              </a:path>
            </a:pathLst>
          </a:custGeom>
          <a:ln w="38099">
            <a:solidFill>
              <a:srgbClr val="C55A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1018" y="4117734"/>
            <a:ext cx="13568363" cy="16254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6111240">
              <a:lnSpc>
                <a:spcPct val="100000"/>
              </a:lnSpc>
              <a:spcBef>
                <a:spcPts val="675"/>
              </a:spcBef>
            </a:pPr>
            <a:r>
              <a:rPr lang="en-US" spc="-5" dirty="0"/>
              <a:t>Divyaprabha K N</a:t>
            </a:r>
            <a:endParaRPr spc="-5" dirty="0"/>
          </a:p>
          <a:p>
            <a:pPr marL="6111240">
              <a:lnSpc>
                <a:spcPct val="100000"/>
              </a:lnSpc>
              <a:spcBef>
                <a:spcPts val="570"/>
              </a:spcBef>
            </a:pPr>
            <a:r>
              <a:rPr b="0" spc="-5" dirty="0">
                <a:latin typeface="Calibri"/>
                <a:cs typeface="Calibri"/>
              </a:rPr>
              <a:t>Department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of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Computer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Science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&amp;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Engineering</a:t>
            </a:r>
            <a:endParaRPr lang="en-US" b="0" spc="-5" dirty="0">
              <a:latin typeface="Calibri"/>
              <a:cs typeface="Calibri"/>
            </a:endParaRPr>
          </a:p>
          <a:p>
            <a:pPr marL="6111240">
              <a:lnSpc>
                <a:spcPct val="100000"/>
              </a:lnSpc>
              <a:spcBef>
                <a:spcPts val="570"/>
              </a:spcBef>
            </a:pPr>
            <a:r>
              <a:rPr lang="en-US" b="0" spc="-5" dirty="0"/>
              <a:t>divyaprabha@pes.edu</a:t>
            </a:r>
            <a:endParaRPr b="0" spc="-5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18415" y="465949"/>
            <a:ext cx="1280795" cy="1437640"/>
          </a:xfrm>
          <a:custGeom>
            <a:avLst/>
            <a:gdLst/>
            <a:ahLst/>
            <a:cxnLst/>
            <a:rect l="l" t="t" r="r" b="b"/>
            <a:pathLst>
              <a:path w="1280794" h="1437639">
                <a:moveTo>
                  <a:pt x="1280287" y="0"/>
                </a:moveTo>
                <a:lnTo>
                  <a:pt x="0" y="0"/>
                </a:lnTo>
                <a:lnTo>
                  <a:pt x="0" y="60960"/>
                </a:lnTo>
                <a:lnTo>
                  <a:pt x="1225423" y="60960"/>
                </a:lnTo>
                <a:lnTo>
                  <a:pt x="1225423" y="1437500"/>
                </a:lnTo>
                <a:lnTo>
                  <a:pt x="1280287" y="1437500"/>
                </a:lnTo>
                <a:lnTo>
                  <a:pt x="1280287" y="60960"/>
                </a:lnTo>
                <a:lnTo>
                  <a:pt x="1280287" y="15011"/>
                </a:lnTo>
                <a:lnTo>
                  <a:pt x="1280287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6605" y="7319416"/>
            <a:ext cx="1280795" cy="1437640"/>
          </a:xfrm>
          <a:custGeom>
            <a:avLst/>
            <a:gdLst/>
            <a:ahLst/>
            <a:cxnLst/>
            <a:rect l="l" t="t" r="r" b="b"/>
            <a:pathLst>
              <a:path w="1280795" h="1437640">
                <a:moveTo>
                  <a:pt x="1280274" y="1376553"/>
                </a:moveTo>
                <a:lnTo>
                  <a:pt x="54864" y="1376553"/>
                </a:lnTo>
                <a:lnTo>
                  <a:pt x="54864" y="0"/>
                </a:lnTo>
                <a:lnTo>
                  <a:pt x="0" y="0"/>
                </a:lnTo>
                <a:lnTo>
                  <a:pt x="0" y="1376553"/>
                </a:lnTo>
                <a:lnTo>
                  <a:pt x="0" y="1422501"/>
                </a:lnTo>
                <a:lnTo>
                  <a:pt x="0" y="1437513"/>
                </a:lnTo>
                <a:lnTo>
                  <a:pt x="1280274" y="1437513"/>
                </a:lnTo>
                <a:lnTo>
                  <a:pt x="1280274" y="1376553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THANK</a:t>
            </a:r>
            <a:r>
              <a:rPr spc="-90" dirty="0"/>
              <a:t> </a:t>
            </a:r>
            <a:r>
              <a:rPr spc="-5" dirty="0"/>
              <a:t>YOU</a:t>
            </a:r>
          </a:p>
        </p:txBody>
      </p:sp>
      <p:pic>
        <p:nvPicPr>
          <p:cNvPr id="8" name="Google Shape;50;p1">
            <a:extLst>
              <a:ext uri="{FF2B5EF4-FFF2-40B4-BE49-F238E27FC236}">
                <a16:creationId xmlns:a16="http://schemas.microsoft.com/office/drawing/2014/main" id="{01FB7E2B-8D3E-4D8F-D3AD-21CD83AB7A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57400" y="1903590"/>
            <a:ext cx="3498325" cy="4351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1970</Words>
  <Application>Microsoft Office PowerPoint</Application>
  <PresentationFormat>Custom</PresentationFormat>
  <Paragraphs>314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Calibri</vt:lpstr>
      <vt:lpstr>Cambria</vt:lpstr>
      <vt:lpstr>Symbol</vt:lpstr>
      <vt:lpstr>Times New Roman</vt:lpstr>
      <vt:lpstr>Office Theme</vt:lpstr>
      <vt:lpstr>Automata Formal Languages &amp; Logic</vt:lpstr>
      <vt:lpstr>Automata Formal Languages &amp; Logic</vt:lpstr>
      <vt:lpstr>Automata Formal Languages and Logic Unit 1 - Deterministic Finite Acceptor/Automata</vt:lpstr>
      <vt:lpstr>Automata Formal Languages and Logic Unit 1 - Deterministic Finite Acceptor/Automata</vt:lpstr>
      <vt:lpstr>Automata Formal Languages and Logic Unit 1 - Deterministic Finite Acceptor/Automata</vt:lpstr>
      <vt:lpstr>Automata Formal Languages and Logic Unit 1 - Deterministic Finite Acceptor/Automata</vt:lpstr>
      <vt:lpstr>Automata Formal Languages and Logic Unit 1 - Deterministic Finite Acceptor/Automata</vt:lpstr>
      <vt:lpstr>Automata Formal Languages and Logic Unit 1 - Deterministic Finite Acceptor/Automata</vt:lpstr>
      <vt:lpstr>Automata Formal Languages and Logic Unit 1 - Deterministic Finite Acceptor/Automata</vt:lpstr>
      <vt:lpstr>Automata Formal Languages and Logic Unit 1 - Deterministic Finite Acceptor/Automata</vt:lpstr>
      <vt:lpstr>Automata Formal Languages and Logic Unit 1 - Deterministic Finite Acceptor/Automata</vt:lpstr>
      <vt:lpstr>Automata Formal Languages and Logic Unit 1 - Deterministic Finite Acceptor/Automata</vt:lpstr>
      <vt:lpstr>Automata Formal Languages and Logic Unit 1 - Deterministic Finite Acceptor/Automata</vt:lpstr>
      <vt:lpstr>Automata Formal Languages and Logic Unit 1 - Deterministic Finite Acceptor/Automata</vt:lpstr>
      <vt:lpstr>Automata Formal Languages and Logic Unit 1 - Deterministic Finite Acceptor/Automata</vt:lpstr>
      <vt:lpstr>Automata Formal Languages and Logic Unit 1 - Deterministic Finite Acceptor/Automata</vt:lpstr>
      <vt:lpstr>Automata Formal Languages and Logic Unit 1 - Deterministic Finite Acceptor/Automata</vt:lpstr>
      <vt:lpstr>Automata Formal Languages and Logic Unit 1 - Deterministic Finite Acceptor/Automata</vt:lpstr>
      <vt:lpstr>Automata Formal Languages and Logic Unit 1 - Deterministic Finite Acceptor/Automata</vt:lpstr>
      <vt:lpstr>Automata Formal Languages and Logic Unit 1 - Deterministic Finite Acceptor/Automata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Automata Formal Languages &amp; Logic</dc:title>
  <dc:creator>Divyaprabha Madhu</dc:creator>
  <cp:lastModifiedBy>Divyaprabha Madhu</cp:lastModifiedBy>
  <cp:revision>12</cp:revision>
  <dcterms:created xsi:type="dcterms:W3CDTF">2022-08-08T03:50:11Z</dcterms:created>
  <dcterms:modified xsi:type="dcterms:W3CDTF">2025-08-25T09:48:20Z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